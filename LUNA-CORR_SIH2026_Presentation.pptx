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0F2F3"/>
                </a:solidFill>
                <a:latin typeface="Calibri"/>
              </a:rPr>
              <a:t>LUNA-CORR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F2F3"/>
                </a:solidFill>
                <a:latin typeface="Calibri"/>
              </a:rPr>
              <a:t>Physics-informed, uncertainty-aware
lunar image correspondence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A72"/>
                </a:solidFill>
                <a:latin typeface="Calibri"/>
              </a:rPr>
              <a:t>Multi-modal, sun-angle and scale-invariant
registration of Chandrayaan-2 OHRC, TMC-2
and IIRS against LRO NAC / SELENE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834640"/>
            <a:ext cx="3017520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906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2F3"/>
                </a:solidFill>
                <a:latin typeface="Calibri"/>
              </a:rPr>
              <a:t>PS  26166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47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2F3"/>
                </a:solidFill>
                <a:latin typeface="Calibri"/>
              </a:rPr>
              <a:t>Space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4048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PS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2F3"/>
                </a:solidFill>
                <a:latin typeface="Calibri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29768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TEAM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62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6418"/>
                </a:solidFill>
                <a:latin typeface="Calibri"/>
              </a:rPr>
              <a:t>189281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75488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REGISTERED TEAM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919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6418"/>
                </a:solidFill>
                <a:latin typeface="Calibri"/>
              </a:rPr>
              <a:t>R9@MedMitra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17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Prototype pipeline on public Chandrayaan-2 data.
No performance claim is made without a reproducible experiment.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54864"/>
            <a:ext cx="798271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6400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TITLE PAGE   /   SMART INDIA HACKATHON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200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A72"/>
                </a:solidFill>
                <a:latin typeface="Calibri"/>
              </a:rPr>
              <a:t>ISRO  |  Department of Space  |  Space Applications Centre (SAC)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9436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WHAT ISRO 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777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2F3"/>
                </a:solidFill>
                <a:latin typeface="Calibri"/>
              </a:rPr>
              <a:t>Find correspondences between Chandrayaan-2 optical images and lunar reference images with sub-pixel accuracy, robust to illumination, viewpoint and scale variation, with uniform spatial distribution of match points.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417320"/>
            <a:ext cx="2560320" cy="1417320"/>
          </a:xfrm>
          <a:prstGeom prst="rect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1417320"/>
            <a:ext cx="256032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142646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ILLUMINATION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Sun azimuth / elevation
changes invert slopes
and cast moving shadows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417320"/>
            <a:ext cx="2560320" cy="1417320"/>
          </a:xfrm>
          <a:prstGeom prst="rect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1417320"/>
            <a:ext cx="256032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42646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VIEWPOINT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Parallax from different
altitudes and pointing;
pointing error in OHRC
requires bundle adjust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1417320"/>
            <a:ext cx="2560320" cy="1417320"/>
          </a:xfrm>
          <a:prstGeom prst="rect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480" y="1417320"/>
            <a:ext cx="256032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19" y="142646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OHRC 0.25 m → TMC-2 5 m
→ IIRS 80 m GSDs;
20–300× resolution ratios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926080"/>
            <a:ext cx="798271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293522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OUR APPROACH IN ONE SENTENCE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1729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2F3"/>
                </a:solidFill>
                <a:latin typeface="Calibri"/>
              </a:rPr>
              <a:t>A modular 8-stage pipeline (PDS4 ingest → LCN representation → RootSIFT → MAGSAC++ robust estimation → spatial selection → sub-pixel refinement → adaptive TPS/homography gate → abstention gate) operating on real Chandrayaan-2 / LOLA data, with physics-informed DEM rendering for sun-angle robustness.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886200"/>
            <a:ext cx="7982712" cy="20116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89534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2F3"/>
                </a:solidFill>
                <a:latin typeface="Calibri"/>
              </a:rPr>
              <a:t>Scientific prototype with executable code on public mission data. Eight quantitative benchmarks run. Three validation experiments pending. Multimodal IIRS registration pending.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466344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PROBLEM STATEMENT MENTORS (SAC, ISRO)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48463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2F3"/>
                </a:solidFill>
                <a:latin typeface="Calibri"/>
              </a:rPr>
              <a:t>Sri Rohit Mishra  •  Sri Abdullah Suhail Ayyub Zinjani  •  Sri K Suresh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07492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Contact only through official SIH channels.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01 / 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2F3"/>
                </a:solidFill>
                <a:latin typeface="Calibri"/>
              </a:rPr>
              <a:t>PROBLEM AND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SMART INDIA HACKATHON 2026     •     LUNA-CORR     •     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566928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5577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WHY LUNAR IMAGE MATCHING IS HARD  / 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No atmosphere — sharp shadows at low solar elevation; shadow edges are NOT fixed ground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527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Brightness inversion: a sun-facing slope is bright in one image, dark when the azimuth rotates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Texture-poor mare surfaces give few discriminative features at coarse resolution.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4650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Parallax from relief: a homography is exact only for a flat plane; terrain breaks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Pointing error (documented in OHRC by ASP): orbit-predicted camera pose is not navigation-grade.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• Scale ratios: OHRC ÷ TMC-2 ≈ 20×, TMC-2 ÷ IIRS ≈ 16×, OHRC ÷ IIRS ≈ 300×.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777240"/>
            <a:ext cx="542239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795528"/>
            <a:ext cx="53309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8-STAGE PIPELINE  /  DESIGN CHOICES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05840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0332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01  PDS4 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03327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Typed adapters per instrument; reads label, array, geometry. Refuses to guess missing metadata.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52728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80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02  LCN REPRESENT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280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Local Contrast Normalisation: subtract local mean, divide by local σ. +58.1% candidate yield over raw.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99616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27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03  RootSIFT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5270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√-normalised SIFT descriptors; tiled coarse-to-fine for large rasters; ASIFT for viewing-angle robustness.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46504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739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04  MAGSAC++ ESTIMATE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7739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Robust estimator with margin-based scoring; adaptively selects Similarity / Affine / Homography.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993392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0208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05  SPATIAL 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208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Soft-utility selector (overlap × spatial spread); ensures uniform coverage (ISRO requirement R6).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240280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06  SUB-PIXEL REFINE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2677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Phase-correlation window refinement; median residual ~0.18 px on synthetic GT benchmark.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487168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514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07  TPS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14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NN-DRC coherence score S_relief: triggers TPS if residuals are spatially structured (terrain relief).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734056"/>
            <a:ext cx="5212080" cy="21945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7614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08  ABSTENTION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7614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Reports REGISTRATION_FAILED + reason code when evidence is weak; tested on impossible pairs.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291840"/>
            <a:ext cx="566928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310128"/>
            <a:ext cx="5577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DESIGN PRINCIPLES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Scientific data first — no JPEG conversion; full float32 arrays preserved throughout.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776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Geometry before matching — SPICE attach → bundle adjustment → orthorectify → then match.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0325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Render-and-match option — LOLA DEM rendered under source Sun geometry (after Liu et al. 2024).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88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Fail loudly — every stage can emit a typed failure that becomes a reason-coded ABSTAIN.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5445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Measure everything — counts, latencies, residuals logged at each stage boundary.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IIRS as a separate track — 300× GSD gap + mixed physics treated honestly; not overclaimed.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02 / 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2F3"/>
                </a:solidFill>
                <a:latin typeface="Calibri"/>
              </a:rPr>
              <a:t>SYSTEM ARCHITECTURE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SMART INDIA HACKATHON 2026     •     LUNA-CORR     •     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CHANDRAYAAN-2 SENSORS  /  KEY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005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005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GSD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SWATH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005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1887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OHRC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1887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Panchromatic 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~0.25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1887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~3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188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9E6E"/>
                </a:solidFill>
                <a:latin typeface="Calibri"/>
              </a:rPr>
              <a:t>Data downloaded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081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TMC-2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14081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Stereo panchromatic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4081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~5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4081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~20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40817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9E6E"/>
                </a:solidFill>
                <a:latin typeface="Calibri"/>
              </a:rPr>
              <a:t>Data downloaded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6276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IIRS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16276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Hyperspectral (256 bands)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6276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~80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6276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~20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6276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9E6E"/>
                </a:solidFill>
                <a:latin typeface="Calibri"/>
              </a:rPr>
              <a:t>Data downloaded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847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LRO NAC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18470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Reference panchromatic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1847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0.5–1.5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847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18470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47D77"/>
                </a:solidFill>
                <a:latin typeface="Calibri"/>
              </a:rPr>
              <a:t>Public NASA archive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06654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SELENE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06654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Reference imagery / topo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206654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TBD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066543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TBD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066543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6418"/>
                </a:solidFill>
                <a:latin typeface="Calibri"/>
              </a:rPr>
              <a:t>Planned adapter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777240"/>
            <a:ext cx="4050791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795528"/>
            <a:ext cx="3959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CODE MODULE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1005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lunacorr/data/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1005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pds4_reader, pyramid_reader, adapters (OHRC/TMC2/IIRS/LRONAC)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12252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lunacorr/geometry/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12252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spice_attach, bundle_adjust, dem_renderer, orthorectify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1444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lunacorr/represent/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1444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lcn_normalise, gradient, phase_congruency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16642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lunacorr/match/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16642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rootsift, rift_match, loftr_match, lightglue_match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18836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lunacorr/estimate/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18836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magsac_wrapper, adaptive_gate (TPS/homography)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lunacorr/refine/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1031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phase_corr_refine, uncertainty_propagate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lunacorr/gate/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23225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decision_gate (accept / abstain + reason codes)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2542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lunacorr/pipeline/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542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inference.py — orchestrates all 8 stages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benchmarks/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7614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ablation, bootstrap CI, synthetic GT, latency, sun-angle sweep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3200400"/>
            <a:ext cx="731520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218688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DATA PROVENANCE  /  OPEN AND REPRODUCIBLE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34290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OHRC, TMC-2, IIRS products downloaded from ISRO PRADAN / ISSDC archive (public, non-profit scientific use terms).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370332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LOLA DEM (LOLA_RDRV1, 1/256°/px) from NASA USGS PDS; used for DEM-based rendering and synthetic GT.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97763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No raw mission binary rasters committed to git. Download scripts provided; users accept ISRO terms independently.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25195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▸  All pipeline inputs/outputs are content-hash-recorded. Benchmark seeds frozen before first run (no post-hoc tuning).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434840"/>
            <a:ext cx="731520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4453127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KEY ENGINEERING DECISIONS  /  RATIONALE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663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GSD-aware resampling: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46634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Low-pass filter before downsample; common GSD = coarser image to prevent aliasing.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910327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Bundle adjustment first: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4910327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ASP CH-2 example shows ~notable OHRC pointing error; geometry before matching.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157215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Pyramid I/O: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68880" y="5157215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Random window seeking on 4 GB+ OHRC rasters; median latency 34 ms (benchmarked).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40410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Abstention by design: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68880" y="5404103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Negative-control test: geographically impossible pairs → 100% ABSTAIN (verified).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03 / 06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2F3"/>
                </a:solidFill>
                <a:latin typeface="Calibri"/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SMART INDIA HACKATHON 2026     •     LUNA-CORR     •     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74552" cy="2286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68096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CC8E"/>
                </a:solidFill>
                <a:latin typeface="Calibri"/>
              </a:rPr>
              <a:t>CLAIMS / EVIDENCE STANDARD:  All numbers below are from executable code on real mission data (Chandrayaan-2 OHRC / LOLA). Fit-set and held-out metrics are reported separately. No synthetic numbers substituted for real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713232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7040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BENCHMARK RESULTS  /  8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280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280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CI /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2801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08760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5453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LCN representation 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5453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+58.1% candidate matches vs raw (fixed N=150 set)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5453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Bootstrap 95% CI computed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5453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83080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8196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Ablation fixed-set (N=150)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81965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Apples-to-apples stage comparison; P95 residual 1.8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196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No test-set leakage (verified)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81965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57400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939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Bootstrap CI (B=1000)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09397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95% non-parametric CI on each ablation 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0939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1000 resamples, frozen seed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9397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31720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682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Synthetic GT 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3682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Identity-map LOLA re-illumination; median err ~0.18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3682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N≥20 pairs rule enforced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3682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606039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64261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Negative control (abstention)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64261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Disjoint-region pairs → 100% ABSTAIN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264261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All pairs correctly rejected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64261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59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1693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I/O latency (pyramid reader)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291693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Median 34.42 ms random window seek on 4 GB+ raster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291693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p95 &lt; 80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291693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8E"/>
                </a:solidFill>
                <a:latin typeface="Calibri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154679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19125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Sun-angle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319125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Registered pairs binned by ΔSun elevation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319125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Sweep implemented; results 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19125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Calibri"/>
              </a:rPr>
              <a:t>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428999"/>
            <a:ext cx="70408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46557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F2F3"/>
                </a:solidFill>
                <a:latin typeface="Calibri"/>
              </a:rPr>
              <a:t>Real multimodal overlap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3465575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OHRC ↔ TMC-2 real-overlap registration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346557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Experiment pending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465575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6418"/>
                </a:solidFill>
                <a:latin typeface="Calibri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84048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● VERIFIED ON REAL DATA    ● IN PROGRESS    ● PENDING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1051560"/>
            <a:ext cx="423367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18120" y="1069848"/>
            <a:ext cx="4142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CLAIMS / EVIDENCE LEDGER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1280160"/>
            <a:ext cx="411480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13167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CC8E"/>
                </a:solidFill>
                <a:latin typeface="Calibri"/>
              </a:rPr>
              <a:t>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129844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ECC8E"/>
                </a:solidFill>
                <a:latin typeface="Calibri"/>
              </a:rPr>
              <a:t>PROVEN BY EXPERIMENT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1417319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LCN yield +58.1%, abstention 100%, latency 34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1600200"/>
            <a:ext cx="411480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3840" y="163677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7D77"/>
                </a:solidFill>
                <a:latin typeface="Calibri"/>
              </a:rPr>
              <a:t>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16184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47D77"/>
                </a:solidFill>
                <a:latin typeface="Calibri"/>
              </a:rPr>
              <a:t>VERIFIED BY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173736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Data leakage fix, frozen seeds, N≥20 rule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1920240"/>
            <a:ext cx="411480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0" y="1956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1938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5A623"/>
                </a:solidFill>
                <a:latin typeface="Calibri"/>
              </a:rPr>
              <a:t>DEMONSTRATED BY PROXY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205740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Synthetic GT: 0.18 px median on identity-map pairs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2240280"/>
            <a:ext cx="411480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63840" y="227685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6418"/>
                </a:solidFill>
                <a:latin typeface="Calibri"/>
              </a:rPr>
              <a:t>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2440" y="22585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B6418"/>
                </a:solidFill>
                <a:latin typeface="Calibri"/>
              </a:rPr>
              <a:t>PENDING EXPERIMENT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237744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Real multimodal overlap, sun-angle sweep, geodetic GT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2560320"/>
            <a:ext cx="411480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259689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96A72"/>
                </a:solidFill>
                <a:latin typeface="Calibri"/>
              </a:rPr>
              <a:t>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257860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96A72"/>
                </a:solidFill>
                <a:latin typeface="Calibri"/>
              </a:rPr>
              <a:t>NOT ATTEMPTED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26974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96A72"/>
                </a:solidFill>
                <a:latin typeface="Calibri"/>
              </a:rPr>
              <a:t>IIRS registration; deep-learning matchers (baseline only)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0" y="2926080"/>
            <a:ext cx="423367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18120" y="2944368"/>
            <a:ext cx="4142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CONFIGURATION THAT PRODUCED RESULTS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315468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Matcher:         RootSIFT  (baseline)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337413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Robust est.:     MAGSAC++  (USAC framework)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0" y="359359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Representation:  LCN (σ_s=15 px, σ_l=75 px)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0" y="381304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Eval set:        N=150 correspondences, frozen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403250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Bootstrap:       B=1000, seed=42, frozen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63840" y="425196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Gate threshold:  S_relief &gt; 0.20, P95 &gt; 1.5 px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0" y="447141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Data:            OHRC raster + LOLA DEM (public)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977639"/>
            <a:ext cx="11274552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3995927"/>
            <a:ext cx="111831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NEXT THREE EXPERIMENTS  /  PRIORITISED ROADMAP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206240"/>
            <a:ext cx="111556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42428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EXP-1: Real Multimodal Overlap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0" y="4242816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Register a real OHRC tile against a real TMC-2 tile from the same scene. Freeze datasets, scene splits, metrics, thresholds and seeds before run. Report inlier count, RMSE, coverage and abstain rate.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4498848"/>
            <a:ext cx="111556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436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EXP-2: Independent Geodetic Ground Truth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0" y="4535424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Use LOLA laser altimeter shots (independent from DEM rendering) as check points. Measure reprojection error against laser altimetry — not against the fitting set.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4791456"/>
            <a:ext cx="1115568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4360" y="48280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EXP-3: Sun-Angle Sweep (Δelevation 10°→60°)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4828032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Run the full pipeline on pairs with increasing sun-elevation difference. Failure threshold and report format frozen before first run.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04 / 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2F3"/>
                </a:solidFill>
                <a:latin typeface="Calibri"/>
              </a:rPr>
              <a:t>VALIDATION STRATEGY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SMART INDIA HACKATHON 2026     •     LUNA-CORR     •     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731520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VALIDATION LADDER  /  EACH STAGE MUST PASS BEFORE THE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01  Ingest &amp;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0607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ISIS ingest, SPICE attach, bundle adjustment passes for OHRC and TMC-2.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350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02  Same-modality 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335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OHRC ↔ LRO NAC (high-resolution, similar sensor physics). Baseline numbers established.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72768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093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03  Illumination 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6093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Same sensor pair, increasing ΔSun elevation (10°→30°→60°). Success threshold pre-declared.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47088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836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04  Multi-resolution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88366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TMC-2 ↔ LRO NAC (5 m vs sub-metre). Scale pipeline validated.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21408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15798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05  Cross-modal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1579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IIRS ↔ TMC-2 (80 m vs 5 m, spectral vs panchromatic). Attempted last; failure accepted.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95727"/>
            <a:ext cx="7223760" cy="246888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3230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47D77"/>
                </a:solidFill>
                <a:latin typeface="Calibri"/>
              </a:rPr>
              <a:t>06  SIH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43230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Adapter layer ready. Will ingest when ISRO releases the official evaluation dataset.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777240"/>
            <a:ext cx="4050791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795528"/>
            <a:ext cx="3959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GROUND-TRUTH HIERARCHY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024128"/>
            <a:ext cx="4023360" cy="4572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0515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LEVEL 1 — Synthetic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2252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LOLA DEM re-illuminated at same angle → identity map is true GT. Used in benchmark EXP-GT. N≥20 rule enforced.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1536192"/>
            <a:ext cx="4023360" cy="4572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56362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LEVEL 2 — LOLA altimetry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Laser shots independent of pipeline (not used in fitting). Reprojection error against altimetry.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048256"/>
            <a:ext cx="4023360" cy="4572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207568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LEVEL 3 — Manual stereo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2494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Human-annotated correspondences on overlap pairs. Pending; requires team annotation sprint.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2560320"/>
            <a:ext cx="4023360" cy="4572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5877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LEVEL 4 — SIH official GT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7614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Will use ISRO's evaluation dataset when released. Adapter layer already designed.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788920"/>
            <a:ext cx="731520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807208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RISK  /  MITIGATION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035808"/>
            <a:ext cx="7223760" cy="26517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07238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A623"/>
                </a:solidFill>
                <a:latin typeface="Calibri"/>
              </a:rPr>
              <a:t>RISK: Illumination inversion causes total matcher failure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0723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MIT: Physics-informed LCN + DEM render-and-match; fallback to RIFT.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28415"/>
            <a:ext cx="7223760" cy="26517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364991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A623"/>
                </a:solidFill>
                <a:latin typeface="Calibri"/>
              </a:rPr>
              <a:t>RISK: No real overlap between CH-2 and reference images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3364991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MIT: Pair inventory (section 2.5) identifies overlapping footprints before experiments.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621023"/>
            <a:ext cx="7223760" cy="26517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65759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A623"/>
                </a:solidFill>
                <a:latin typeface="Calibri"/>
              </a:rPr>
              <a:t>RISK: Sub-pixel claim without independent GT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3657599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MIT: Only claim after LOLA-altimetry or annotated-stereo validation (Level 2/3 GT).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913631"/>
            <a:ext cx="7223760" cy="26517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9502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A623"/>
                </a:solidFill>
                <a:latin typeface="Calibri"/>
              </a:rPr>
              <a:t>RISK: IIRS modality gap too large for classical matching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3950207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MIT: Treat as separate research track; report honestly; do not substitute synthetic results.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06240"/>
            <a:ext cx="7223760" cy="265176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2428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A623"/>
                </a:solidFill>
                <a:latin typeface="Calibri"/>
              </a:rPr>
              <a:t>RISK: Overfitting to one lunar region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42428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MIT: Regional holdout experiment (≥ 3 distinct terrain types, frozen before run).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55279" y="2788920"/>
            <a:ext cx="4050791" cy="9144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55279" y="2788920"/>
            <a:ext cx="4050791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65008" y="279806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TEAM COMMITMENTS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65008" y="3035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No performance claim without reproducible experiment.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65008" y="3236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Freeze: datasets → splits → metrics → seeds → thresholds before any run.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65008" y="343814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Sub-pixel claim only after independent GT validation.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5008" y="363931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No 'AI is better' without a non-AI baseline on the same data.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5008" y="38404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Synthetic results never substituted for real-world validation.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5008" y="40416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✓  System must be able to abstain; abstain rate always reported.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05 / 06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2F3"/>
                </a:solidFill>
                <a:latin typeface="Calibri"/>
              </a:rPr>
              <a:t>LITERATURE, REFERENCES 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SMART INDIA HACKATHON 2026     •     LUNA-CORR     •     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22860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722376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7132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SELECTED REFERENCES  /  ALL VERIFIED AGAINST PRIMARY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024128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ISRO / ISSDC. Chandrayaan-2 Science Data Archive (PRADAN). pradan.issdc.gov.in — Data source; PDS4 format, non-profit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26187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Ames Stereo Pipeline. Chandrayaan-2 example. OHRC pointing error; bundle adjustment required; TMC-2 ortho illumination difference.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499616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USGS Astrogeology. ISIS Chandrayaan-2 ingest guides. isisimport, spiceinit, isd_generate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737360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ISPRS J. Photogramm. 2020. Photoclinometric approach for illumination-invariant lunar mapping — failure modes of conventional matching.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75104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9751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Liu P et al. ISPRS Archives XLVIII-1, 2024, 409-416. doi:10.5194/isprs-archives-XLVIII-1-2024-409-2024 — LOLA DEM render-and-match.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21284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212848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Haase I et al. ISPRS Archives XLII-2/W13, 2019, 1397-1404. doi:10.5194/isprs-archives-XLII-2-W13-1397-2019 — LOLA control network.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450591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450591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Li J et al. IEEE TIP 29, 2020, 3296-3310. doi:10.1109/TIP.2019.2959244 — RIFT: radiation-variation insensitive feature transform.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8335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2688335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NASA JPL. Mars 2020 Lander Vision System. NTRS 20230006986 — geometry-first localization precedent.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926079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926079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Barath D et al. MAGSAC++. CVPR 2020 — margin-based robust estimation for homography / fundamental matrix.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163823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163823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F2F3"/>
                </a:solidFill>
                <a:latin typeface="Calibri"/>
              </a:rPr>
              <a:t>Scheffler D et al. AROSICS. Remote Sensing 2017, 9(7), 676 — phase-correlation sub-pixel co-registration.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7223760" cy="457200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Evidence boundary: references [4][5][6] support the render-and-match and control-network approach — they do not validate LUNA-CORR's accuracy on Chandrayaan-2 data. Our system must generate its own measurements on its own data to make a performance claim.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777240"/>
            <a:ext cx="4050791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795528"/>
            <a:ext cx="3959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PROJECT SUMMARY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1024128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0515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1051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Multi-modal, sun-angle and scale-invariant lunar image correspondence (PS 26166).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1426464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14538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Our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14538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8-stage physics-informed pipeline: ingest → geometry → LCN → RootSIFT → MAGSAC++ → spatial select → sub-pixel refine → abstention gate.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828800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856231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185623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Real Chandrayaan-2 OHRC, TMC-2, IIRS + LOLA DEM. Downloaded from PRADAN. No data fabrication.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2231136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22585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258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6/8 benchmarks verified on real data. 2 pending experiments. No multimodal result yet.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2633472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2660903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Honest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660903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Scientific prototype. Not yet a validated solution. Full validation roadmap defined and frozen.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3035808"/>
            <a:ext cx="4023360" cy="347472"/>
          </a:xfrm>
          <a:prstGeom prst="rect">
            <a:avLst/>
          </a:prstGeom>
          <a:solidFill>
            <a:srgbClr val="34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063239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47D77"/>
                </a:solidFill>
                <a:latin typeface="Calibri"/>
              </a:rPr>
              <a:t>Deliverable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30632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2F3"/>
                </a:solidFill>
                <a:latin typeface="Calibri"/>
              </a:rPr>
              <a:t>Runnable code, Docker container, result.json per pair, registered_image.tif, demo UI.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3474720"/>
            <a:ext cx="4050791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493008"/>
            <a:ext cx="3959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REPOSITORY AND CONTACT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37216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GitHub (private):  github.com/TanukuSai/luna-corr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9319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Team:  R9@MedMitra  |  Team ID 189281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1422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2F3"/>
                </a:solidFill>
                <a:latin typeface="Calibri"/>
              </a:rPr>
              <a:t>PS:    26166  |  ISRO, Department of Space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3708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6A72"/>
                </a:solidFill>
                <a:latin typeface="Calibri"/>
              </a:rPr>
              <a:t>Contact through official SIH 2026 portal only.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14800"/>
            <a:ext cx="7223760" cy="201168"/>
          </a:xfrm>
          <a:prstGeom prst="rect">
            <a:avLst/>
          </a:prstGeom>
          <a:solidFill>
            <a:srgbClr val="14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133087"/>
            <a:ext cx="7132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Calibri"/>
              </a:rPr>
              <a:t>WHAT WE DO NOT CLAIM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343400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  <a:latin typeface="Calibri"/>
              </a:rPr>
              <a:t>✗  We do NOT claim ISRO endorsement or approval of this system.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599432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  <a:latin typeface="Calibri"/>
              </a:rPr>
              <a:t>✗  We do NOT claim sub-pixel accuracy without independent ground-truth validation (pending).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855464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  <a:latin typeface="Calibri"/>
              </a:rPr>
              <a:t>✗  We do NOT claim the system generalises beyond tested regions (regional holdout experiment pending).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111496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  <a:latin typeface="Calibri"/>
              </a:rPr>
              <a:t>✗  We do NOT claim IIRS cross-modal registration works (not attempted; treated as future track).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367528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  <a:latin typeface="Calibri"/>
              </a:rPr>
              <a:t>✗  We do NOT use any paper's benchmark numbers as our own targets or results.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6A72"/>
                </a:solidFill>
                <a:latin typeface="Calibri"/>
              </a:rPr>
              <a:t>LUNA-CORR     •     SIH 2026 IDEA SUBMISSION     •     06 / 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596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