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anukuSai/luna-co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anukuSai/luna-corr" TargetMode="External"/><Relationship Id="rId3" Type="http://schemas.openxmlformats.org/officeDocument/2006/relationships/hyperlink" Target="https://pradan.issdc.gov.in" TargetMode="External"/><Relationship Id="rId4" Type="http://schemas.openxmlformats.org/officeDocument/2006/relationships/hyperlink" Target="https://astrogeology.usgs.go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A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200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LUNA-CORR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046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D4DB"/>
                </a:solidFill>
                <a:latin typeface="Calibri"/>
              </a:rPr>
              <a:t>Physics-informed, uncertainty-aware lunar image correspondence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33832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PROBLEM STATEMENT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89888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F4F6"/>
                </a:solidFill>
                <a:latin typeface="Calibri"/>
              </a:rPr>
              <a:t>Multi-modal, Sun-angle and scale invariant image correspondence using Chandrayaan-2 optical images (OHRC, TMC-2 and IIRS)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3108960" cy="1828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194560"/>
            <a:ext cx="3200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PROBLEM STATEMENT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40864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4F6"/>
                </a:solidFill>
                <a:latin typeface="Calibri"/>
              </a:rPr>
              <a:t>PS 26166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615184"/>
            <a:ext cx="3200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6148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4F6"/>
                </a:solidFill>
                <a:latin typeface="Calibri"/>
              </a:rPr>
              <a:t>Space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035808"/>
            <a:ext cx="3200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PS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182112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4F6"/>
                </a:solidFill>
                <a:latin typeface="Calibri"/>
              </a:rPr>
              <a:t>Software (SAC, ISRO)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456432"/>
            <a:ext cx="3200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TEAM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602736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891E"/>
                </a:solidFill>
                <a:latin typeface="Calibri"/>
              </a:rPr>
              <a:t>189281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877056"/>
            <a:ext cx="3200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REGISTERED TEAM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023360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891E"/>
                </a:solidFill>
                <a:latin typeface="Calibri"/>
              </a:rPr>
              <a:t>R9@MedMitra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126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i="0">
                <a:solidFill>
                  <a:srgbClr val="6B7E88"/>
                </a:solidFill>
                <a:latin typeface="Calibri"/>
              </a:rPr>
              <a:t>Mentors: Sri Rohit Mishra  •  Sri Abdullah Suhail Ayyub Zinjani  •  Sri K Suresh  (SAC, ISRO)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0"/>
            <a:ext cx="8257031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0" y="320040"/>
            <a:ext cx="809244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338328"/>
            <a:ext cx="7955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CHANDRAYAAN-2 OHRC CROSS-ORBIT MATCHING (EXP-OHRC-E2E)</a:t>
            </a:r>
          </a:p>
        </p:txBody>
      </p:sp>
      <p:pic>
        <p:nvPicPr>
          <p:cNvPr id="23" name="Picture 22" descr="fig1_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566928"/>
            <a:ext cx="8092440" cy="26060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23360" y="3236976"/>
            <a:ext cx="8092440" cy="512064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3264408"/>
            <a:ext cx="7909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DEMONSTRATED ON REAL CHANDRAYAAN-2 DATA (BENCHMARK MANIFEST VERIFIED):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438144"/>
            <a:ext cx="7909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• EXP-OHRC-E2E: 818 inliers (99.3% ratio)  ·  Held-out RMSE: 0.786 px (N=789 candidate split, TPS Warping Accepted)
• EXP-TMC-FIXED: 1.606 px → 0.836 px RMSE (47.9% gain vs Stage 3, N=150)  |  EXP-TMC-E2E: 660 inliers, 1.073 px RMSE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3822191"/>
            <a:ext cx="2633472" cy="11430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23360" y="3822191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384048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ILLUMINATION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069080"/>
            <a:ext cx="2468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Sun azimuth/elevation changes invert slope brightness and cast moving shadows. Direct feature matching collapses.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48272" y="3822191"/>
            <a:ext cx="2633472" cy="11430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48272" y="3822191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9712" y="384048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VIEWPOINT &amp; RELIEF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4069080"/>
            <a:ext cx="2468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3D crater topography creates localized relief parallax that violates planar homography. Residual relief requires adaptive deformation.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73184" y="3822191"/>
            <a:ext cx="2633472" cy="11430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73184" y="3822191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64624" y="384048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320× NOMINAL SCALE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4069080"/>
            <a:ext cx="2468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OHRC (~0.25 m) · TMC-2 (~5 m) · IIRS (~80 m). Up to 320× GSD ratio requires scale-space pyramid conditioning.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5047488"/>
            <a:ext cx="8092440" cy="475488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5084064"/>
            <a:ext cx="1463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47D77"/>
                </a:solidFill>
                <a:latin typeface="Calibri"/>
              </a:rPr>
              <a:t>STUDENT TEAM: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5084064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A2B35"/>
                </a:solidFill>
                <a:latin typeface="Calibri"/>
              </a:rPr>
              <a:t>Sai Tarun Tanuku  •  Anirudh Sreekanth  •  Lalith Shrivatsav  •  Srikar M  •  Yadunandhan  •  Sreejit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285232"/>
            <a:ext cx="7863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6B7E88"/>
                </a:solidFill>
                <a:latin typeface="Calibri"/>
              </a:rPr>
              <a:t>College: Amrita Vishwa Vidyapeetham, Coimbatore    •    Internal Document: Version 4.1-rc1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0" y="5596128"/>
            <a:ext cx="8092440" cy="457200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632704"/>
            <a:ext cx="7909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PUBLIC REPOSITORY (FULL SOURCE CODE &amp; BENCHMARK SUITE):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5815584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7D77"/>
                </a:solidFill>
                <a:latin typeface="Calibri"/>
                <a:hlinkClick r:id="rId3"/>
              </a:rPr>
              <a:t>github.com/TanukuSai/luna-corr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815584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B7E88"/>
                </a:solidFill>
                <a:latin typeface="Calibri"/>
              </a:rPr>
              <a:t>[ MIT License  •  Dockerized  •  15/15 Automated Pytest Suite Passing  •  Canonical BENCHMARK_MANIFEST.md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35"/>
                </a:solidFill>
                <a:latin typeface="Calibri"/>
              </a:rPr>
              <a:t>IDEA TITLE: LUNA-CORR — PHYSICS-INFORMED LUNAR IMAGE CORRESPONDENCE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02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0584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5"/>
                </a:solidFill>
                <a:latin typeface="Calibri"/>
              </a:rPr>
              <a:t>A modular correspondence and registration engine combining illumination-aware representation, robust feature matching, adaptive relief modelling, and fail-safe abstention.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25296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E88"/>
                </a:solidFill>
                <a:latin typeface="Calibri"/>
              </a:rPr>
              <a:t>LUNA-CORR solves severe lunar brightness inversion, moving cast shadows, and 3D crater relief distortion across Chandrayaan-2 instruments by conditioning representation on illumination, selecting non-rigid splines via residual coherence, and safely refusing ambiguous registrations.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27632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HOW IT ADDRESSES THE PROBLEM  /  INNOVATION &amp; UNIQUENESS  /  DETAILED EXPLANATION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47088"/>
            <a:ext cx="3703320" cy="44348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47088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74519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3969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Illumination Gradients: LCN normalizes dynamic range; RootSIFT Hellinger kernel matches low-contrast crater floors.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14553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Relief Parallax: Directional residual coherence (S_relief &gt; 0.20) triggers Thin-Plate Splines (47.9% error drop).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5137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Outliers &amp; Clustering: Soft spatial utility quotas across 8×8 grid eliminate rim clustering; MAGSAC++ prunes outliers.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5721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Misalignment Risk: QualityGate (N&gt;=20, ratio&gt;=15%, coverage&gt;=30%) rejects non-overlapping scenes (EXP-NEG-DISJOINT).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847088"/>
            <a:ext cx="3703320" cy="44348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847088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1874519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13969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Physics-Conditioned Appearance: Macro-gradient suppression + optional Mode C physical DEM reflectance rendering.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314553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Adaptive Geometric Selection: Automatically triggers non-rigid TPS only when residual autocorrelation proves relief parallax.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15137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Principled Abstention: First planetary engine with explicit reason-coded rejection rather than forcing bad alignments.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515721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Zero-Leakage Architecture: Strict candidate pre-splitting guarantees untouched, unbiased out-of-sample evaluation.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847088"/>
            <a:ext cx="3703320" cy="44348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847088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1874519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DETAILED EXPLANATION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13969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Planetary line-scan images exhibit severe brightness flips and 3D relief distortion violating planar homography.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314553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LUNA-CORR executes an 8-stage sequence: ingest → LCN → RootSIFT → MAGSAC++ → spatial quotas → subpixel → TPS → Gate.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415137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When solar disparity is severe (Δθ &gt;= 45°), Mode C renders the reference DEM at target sun angle, recovering &gt;99% precision.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515721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Produces structured GeoTIFFs, sub-pixel tie-point CSVs, and machine-readable JSON metrics with typed reason codes.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345936"/>
            <a:ext cx="11274552" cy="329184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CORE ARCHITECTURAL PARADIGM: Physics conditioning + adaptive geometry + operational abstention replaces static, ungrounded single-model matchers.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TECHNICAL APPROACH &amp; METHODOLOGY /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03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2761488" cy="5943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987552"/>
            <a:ext cx="26151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i="0">
                <a:solidFill>
                  <a:srgbClr val="147D77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152144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Python 3.10+, NumPy, SciPy, OpenCV, PyTorch (CNN correspondence prototype).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960120"/>
            <a:ext cx="2761488" cy="5943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987552"/>
            <a:ext cx="26151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i="0">
                <a:solidFill>
                  <a:srgbClr val="147D77"/>
                </a:solidFill>
                <a:latin typeface="Calibri"/>
              </a:rPr>
              <a:t>PHOTOGRAMMETRY &amp; GEOMETRY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152144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PDS4 label parser, SPICE grid solver, MAGSAC++, Thin-Plate Spline (TPS), Phase correlation.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960120"/>
            <a:ext cx="2761488" cy="5943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987552"/>
            <a:ext cx="26151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i="0">
                <a:solidFill>
                  <a:srgbClr val="147D77"/>
                </a:solidFill>
                <a:latin typeface="Calibri"/>
              </a:rPr>
              <a:t>PUSH-BROOM LINE-SCAN 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152144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WindowedPyramidReader (39.15 ms latency on 1.05 GB unindexed rasters, &lt;10 MB RAM overhead).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960120"/>
            <a:ext cx="2761488" cy="5943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987552"/>
            <a:ext cx="26151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i="0">
                <a:solidFill>
                  <a:srgbClr val="147D77"/>
                </a:solidFill>
                <a:latin typeface="Calibri"/>
              </a:rPr>
              <a:t>DEVOPS &amp; REPRODUCIBILITY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1152144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Docker containerized environment, pytest suite (15/15 passed), dynamic cross-consistency validator.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627632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METHODOLOGY / PROCESS (CORE 8-STAGE E2E PIPELINE FLOW)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01 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PDS4 label, array &amp; SPICE grid parsing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1847088"/>
            <a:ext cx="1353312" cy="777240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74519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11095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02 APPEARANCE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095" y="2066543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A2B35"/>
                </a:solidFill>
                <a:latin typeface="Calibri"/>
              </a:rPr>
              <a:t>LCN Normalization (Core)
─────────────────
Branch: Mode C DEM
(Physics branch)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39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39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28415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03 MATCH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59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Tiled coarse-to-fine RootSIFT matching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59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5736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04 GEOMETRY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MAGSAC++ robust initial projective fit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79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79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63055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05 SPATIAL QC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Soft-utility quotas promote uniform spread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800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43800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0375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06 SUB-PIXEL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Phase-correlation peak interpolation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20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97696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07 RELIEF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S_relief &gt; 0.20 AND P95 &gt;= 1.5 px → TPS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78440" y="1847088"/>
            <a:ext cx="1353312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8440" y="1847088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15016" y="1865376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08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0" y="2084831"/>
            <a:ext cx="1261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" b="0" i="0">
                <a:solidFill>
                  <a:srgbClr val="1A2B35"/>
                </a:solidFill>
                <a:latin typeface="Calibri"/>
              </a:rPr>
              <a:t>Accept with metrics or reason-coded ABSTAIN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688336"/>
            <a:ext cx="612648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2706624"/>
            <a:ext cx="5989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WORKING PROTOTYPE DELIVERABLES  /  TMC-2 STEREO CHECKERBOARD VERIFICATION</a:t>
            </a:r>
          </a:p>
        </p:txBody>
      </p:sp>
      <p:pic>
        <p:nvPicPr>
          <p:cNvPr id="56" name="Picture 55" descr="fig3_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07792"/>
            <a:ext cx="6126480" cy="2633472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457200" y="5577840"/>
            <a:ext cx="6126480" cy="475488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614416"/>
            <a:ext cx="5943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TMC-2 STEREO — 660 INLIERS — ACCEPTED (EXP-TMC-E2E):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97296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Held-out RMSE: 1.073 px (fitting: 0.647 px, N=297)  |  EXP-TMC-FIXED (N=150): 1.606 → 0.836 px (47.9% gain)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2688336"/>
            <a:ext cx="496519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2706624"/>
            <a:ext cx="4828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DELIVERABLE SPECIFICATION &amp; DATA PRODUCTS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66560" y="2907792"/>
            <a:ext cx="4965192" cy="32918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0" y="29443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Registered Image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9640" y="294436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GeoTIFF aligned to reference CRS, 16-bit radiometric fidelity.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66560" y="3273552"/>
            <a:ext cx="4965192" cy="32918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0" y="331012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Validation Points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331012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CSV tie-point coordinates (src_x, src_y, ref_x, ref_y, residual).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3639312"/>
            <a:ext cx="4965192" cy="32918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0" y="3675887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Quality Decision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9640" y="3675887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Machine-readable JSON metrics, status (ACCEPTED/ABSTAINED), reasons.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4005072"/>
            <a:ext cx="4965192" cy="32918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0" y="40416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Diagnostic Map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404164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Checkerboard seam verification image and residual vector field.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4443984"/>
            <a:ext cx="496519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0" y="4462272"/>
            <a:ext cx="4828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ZERO-LEAKAGE PIPELINE EXECUTION VERIFIED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4663440"/>
            <a:ext cx="4965192" cy="1389888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0" y="4700016"/>
            <a:ext cx="4754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STRICT OUT-OF-SAMPLE EVALUATION ISOLATION: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4882896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• Candidate Pre-Split: Raw matches partitioned 80% train / 20% test before initial H fit.
• Train-Only Fitting: Inliers, spatial selection, subpixel tuning, and TPS derived strictly on train.
• Single Test Evaluation: Frozen transform evaluated exactly once on untouched test set.
• QualityGate Isolation: Acceptance decisions strictly governed by training metrics (N&gt;=20).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35"/>
                </a:solidFill>
                <a:latin typeface="Calibri"/>
              </a:rPr>
              <a:t>FEASIBILITY AND VIABILITY (ANALYSIS, RISKS &amp; MITIGATIONS)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04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438912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86384"/>
            <a:ext cx="11064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47D77"/>
                </a:solidFill>
                <a:latin typeface="Calibri"/>
              </a:rPr>
              <a:t>FEASIBILITY &amp; VIABILITY ASSESSMENT: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69264"/>
            <a:ext cx="11064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2B35"/>
                </a:solidFill>
                <a:latin typeface="Calibri"/>
              </a:rPr>
              <a:t>Demonstrated on 45 official PRADAN products (40.42 GB); scalable sub-50 ms push-broom seeks; zero evaluation leakage on real Chandrayaan-2 imagery.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3703320" cy="49194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89304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FEASIBILITY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55448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I/O &amp; Data Feasibility (EXP-IO): 45 official PRADAN products (40.42 GB) parsed; seeker achieves 39.15 ms median latency on 1.05 GB rasters (&lt;10 MB RAM).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0545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Algorithmic Feasibility (EXP-OHRC / EXP-TMC): Zero-leakage out-of-sample accuracy verified (0.786 px on OHRC, 1.073 px on TMC-2, 0.836 px on fixed ablation).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456432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Photometric Feasibility (EXP-SYN-ILLUM): Mode C recovers 737–1,187 inliers with &gt;99% precision across 0°–180° sweep under sensor noise.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407408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Operational Feasibility (EXP-NEG-DISJOINT): 1/1 disjoint pairs tested, rejected safely by QualityGate with zero false alignments.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1261872"/>
            <a:ext cx="3703320" cy="49194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261872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289304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CHALLENGES / RISKS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55448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Solar Disparity (Δθ &gt;= 45°): Moving shadows invert feature gradients and collapse direct feature descriptors.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50545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Relief Parallax: 3D crater walls violate planar homography, causing large residual errors in rigid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456432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320× Scale Gap: OHRC (0.25 m) to IIRS (80 m) resolution gap prevents direct descriptor matching.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4407408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Basaltic Mare: Texture-poor terrain produces low candidate keypoint counts (N &lt; 20).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5358384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Ground Truth Datum: Independent external geodetic ground truth (LOLA altimetry tracks) is pending.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261872"/>
            <a:ext cx="3703320" cy="49194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1261872"/>
            <a:ext cx="3703320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289304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MITIGATION STRATEGIES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155448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LCN &amp; Mode C: LCN normalizes dynamic range; experimental physics branch renders reference at target solar angle.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2505456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Adaptive TPS: Autocorrelation gate triggers Thin-Plate Spline, reducing held-out RMSE by 47.9% on stereo terrain.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3456432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Transitive Scale Ladder: Cascades registration OHRC → TMC-2 → IIRS via intermediate scale bridging.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4407408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Soft Utility &amp; QualityGate: Quotas enforce spatial distribution; engine ABSTAINS safely on featureless/disjoint pairs.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5358384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1A2B35"/>
                </a:solidFill>
                <a:latin typeface="Calibri"/>
              </a:rPr>
              <a:t>▸  Rigorous Out-of-Sample Protocol: Candidates partitioned before model fitting; test data never influences acceptance.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254496"/>
            <a:ext cx="11274552" cy="402336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3276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VIABILITY SUMMARY: The pipeline is mathematically sound, computationally lightweight (&lt;10 MB RAM), and operationally safe with automated abstention.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35"/>
                </a:solidFill>
                <a:latin typeface="Calibri"/>
              </a:rPr>
              <a:t>IMPACT AND BENEFITS (TARGET USERS, IMPACT &amp;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05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553212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53949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TARGET AUDIENCE / 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5532120" cy="1691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• Space Applications Centre (SAC) &amp; ISRO: Automated orbital line-scan data co-registration, orthorectification, and mosaic generation.
• Planetary Scientists &amp; Lunar Geologists: High-precision alignment for crater morphology, mineralogical mapping, and landing site hazard assessment.
• Cartographers &amp; Remote Sensing Workflows: Multi-instrument basemap generation, seamless orthomosaics, and DEM extraction pipelines.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749808"/>
            <a:ext cx="553212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768096"/>
            <a:ext cx="53949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POTENTIAL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960120"/>
            <a:ext cx="5532120" cy="1691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05156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• Automated Mission Processing: Replaces tedious manual Ground Control Point (GCP) selection with autonomous sub-pixel registration.
• Elimination of Misalignment Errors: Operational QualityGate prevents false registrations from entering scientific basemaps.
• Multi-Sensor Integration: Enables unified analysis across high-resolution panchromatic (OHRC), stereo (TMC-2), and hyperspectral (IIRS) instruments.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CATEGORIZED BENEFITS (SCIENTIFIC, OPERATIONAL, TECHNICAL &amp; FUTURE VALUE)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62656"/>
            <a:ext cx="2761488" cy="36210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62656"/>
            <a:ext cx="2761488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990088"/>
            <a:ext cx="26151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SCIENTIFIC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5526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Sub-pixel held-out accuracy (0.786 px OHRC, 0.623 px median; 0.836 px TPS gain).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5254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Accurate temporal change detection (crater impacts, plume dispersal).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982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Reliable multi-phase photometric and mineralogical mapping.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962656"/>
            <a:ext cx="2761488" cy="36210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91840" y="2962656"/>
            <a:ext cx="2761488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4992" y="2990088"/>
            <a:ext cx="26151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OPERATIONAL BENEFITS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25526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Zero operator intervention needed for routine orbit-to-orbit alignment.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35254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Fail-safe QualityGate abstains with typed error codes (LOW_INLIERS, LOW_COVERAGE).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544982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Standardized PDS4 and GeoTIFF output formats for seamless GIS ingestion.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2962656"/>
            <a:ext cx="2761488" cy="36210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2962656"/>
            <a:ext cx="2761488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2990088"/>
            <a:ext cx="26151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TECHNICAL &amp; ECONOMIC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25526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Open-source, modular Python package reducing bespoke software costs.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35254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Low memory footprint (&lt;10 MB RAM) allows processing on standard workstations.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44982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Rapid tile seeker (39.15 ms) enables fast interactive analysis.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2962656"/>
            <a:ext cx="2761488" cy="36210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2962656"/>
            <a:ext cx="2761488" cy="219456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34272" y="2990088"/>
            <a:ext cx="26151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FUTURE MISSION VALUE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25526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Directly adaptable to Chandrayaan-3 landing site datasets.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35254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Extensible framework for future planetary missions (Mars, Venus).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5449824"/>
            <a:ext cx="257860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▸  Cross-applicable to Earth observation cross-sensor and line-scan pipelines.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35"/>
                </a:solidFill>
                <a:latin typeface="Calibri"/>
              </a:rPr>
              <a:t>RESEARCH AND REFERENCES (FOUNDATIONS, LINKS &amp; LIMITATIONS)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06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553212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53949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RESEARCH BASIS &amp; FOUNDATIONS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5532120" cy="24231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• Photometric Reflectance: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234439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Lommel-Seeliger and Hapke physical reflectance models for airless lunar regolith under varying phase angles.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0020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• Photogrammetry Standards: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NASA Ames Stereo Pipeline (ASP) and ISRO Chandrayaan-2 calibration documentation.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4884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• Robust Feature Estimation: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MAGSAC++ (Barath et al., CVPR 2020) and RootSIFT Hellinger kernel (Arandjelović &amp; Zisserman, 2012).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9748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• Elastic Deformation: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Thin-Plate Splines (Bookstein, 1989) and phase correlation sub-pixel peak interpolation.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749808"/>
            <a:ext cx="553212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768096"/>
            <a:ext cx="53949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REFERENCES &amp; PROJECT LINKS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960120"/>
            <a:ext cx="5532120" cy="242316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105156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1. Public GitHub Repository (Full Source Code &amp; Benchmarks):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2344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47D77"/>
                </a:solidFill>
                <a:latin typeface="Calibri"/>
                <a:hlinkClick r:id="rId2"/>
              </a:rPr>
              <a:t>https://github.com/TanukuSai/luna-corr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50876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2. ISRO PRADAN Science Data Archive (Chandrayaan-2 Products):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6916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47D77"/>
                </a:solidFill>
                <a:latin typeface="Calibri"/>
                <a:hlinkClick r:id="rId3"/>
              </a:rPr>
              <a:t>https://pradan.issdc.gov.in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96596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3. NASA PDS / USGS Astrogeology (LOLA South Pole DEM):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1488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47D77"/>
                </a:solidFill>
                <a:latin typeface="Calibri"/>
                <a:hlinkClick r:id="rId4"/>
              </a:rPr>
              <a:t>https://astrogeology.usgs.gov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423160"/>
            <a:ext cx="5349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1" i="0">
                <a:solidFill>
                  <a:srgbClr val="147D77"/>
                </a:solidFill>
                <a:latin typeface="Calibri"/>
              </a:rPr>
              <a:t>4. Canonical Manifest &amp; Scientific Report: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6060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BENCHMARK_MANIFEST.md  •  docs/SCIENTIFIC_REPORT.md  (in repository)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74720"/>
            <a:ext cx="1127455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SCIENTIFIC EVIDENCE BOUNDARY (WHAT WE DO NOT CLAIM)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94176"/>
            <a:ext cx="3703320" cy="2889504"/>
          </a:xfrm>
          <a:prstGeom prst="rect">
            <a:avLst/>
          </a:prstGeom>
          <a:solidFill>
            <a:srgbClr val="F4F6F8"/>
          </a:solidFill>
          <a:ln w="7620">
            <a:solidFill>
              <a:srgbClr val="BB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694176"/>
            <a:ext cx="3703320" cy="219456"/>
          </a:xfrm>
          <a:prstGeom prst="rect">
            <a:avLst/>
          </a:prstGeom>
          <a:solidFill>
            <a:srgbClr val="BB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72160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INDEPENDENT GEODETIC GROUND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023360"/>
            <a:ext cx="3429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Current held-out evaluation uses strictly withheld correspondence sets. Absolute geodetic ties to LOLA altimetry tracks remain ongoing future work.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3694176"/>
            <a:ext cx="3703320" cy="2889504"/>
          </a:xfrm>
          <a:prstGeom prst="rect">
            <a:avLst/>
          </a:prstGeom>
          <a:solidFill>
            <a:srgbClr val="F4F6F8"/>
          </a:solidFill>
          <a:ln w="7620">
            <a:solidFill>
              <a:srgbClr val="E07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3694176"/>
            <a:ext cx="3703320" cy="219456"/>
          </a:xfrm>
          <a:prstGeom prst="rect">
            <a:avLst/>
          </a:prstGeom>
          <a:solidFill>
            <a:srgbClr val="E0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372160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REAL FLIGHT CROSS-SENSOR OVERLAP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023360"/>
            <a:ext cx="3429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Transitive graph ladder is fully implemented in code; public PRADAN sample footprints do not overlap geographically (OHRC at South Pole, TMC-2 at mid-latitudes).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694176"/>
            <a:ext cx="3703320" cy="2889504"/>
          </a:xfrm>
          <a:prstGeom prst="rect">
            <a:avLst/>
          </a:prstGeom>
          <a:solidFill>
            <a:srgbClr val="F4F6F8"/>
          </a:solidFill>
          <a:ln w="7620">
            <a:solidFill>
              <a:srgbClr val="C48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694176"/>
            <a:ext cx="3703320" cy="219456"/>
          </a:xfrm>
          <a:prstGeom prst="rect">
            <a:avLst/>
          </a:prstGeom>
          <a:solidFill>
            <a:srgbClr val="C48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372160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CONTROLLED SIMULATION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80" y="4023360"/>
            <a:ext cx="3429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Mode C re-illumination benchmark validates physical renderer consistency under known geometry; it does NOT substitute for real multi-phase flight validation.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