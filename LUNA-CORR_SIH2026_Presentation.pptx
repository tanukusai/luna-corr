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A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657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LUNA-CORR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D4DB"/>
                </a:solidFill>
                <a:latin typeface="Calibri"/>
              </a:rPr>
              <a:t>Physics-informed, uncertainty-aware
lunar image correspondence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544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E88"/>
                </a:solidFill>
                <a:latin typeface="Calibri"/>
              </a:rPr>
              <a:t>Multi-modal, sun-angle and scale-invariant
registration of Chandrayaan-2 OHRC, TMC-2
and IIRS against reference datasets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240280"/>
            <a:ext cx="3108960" cy="2286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35915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523744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4F6"/>
                </a:solidFill>
                <a:latin typeface="Calibri"/>
              </a:rPr>
              <a:t>PS  26166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81635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THEME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980944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4F6"/>
                </a:solidFill>
                <a:latin typeface="Calibri"/>
              </a:rPr>
              <a:t>Space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27355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PS 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438144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4F6"/>
                </a:solidFill>
                <a:latin typeface="Calibri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73075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TEAM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895344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891E"/>
                </a:solidFill>
                <a:latin typeface="Calibri"/>
              </a:rPr>
              <a:t>189281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18795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REGISTERED TEAM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352544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891E"/>
                </a:solidFill>
                <a:latin typeface="Calibri"/>
              </a:rPr>
              <a:t>R9@MedMitra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8978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E88"/>
                </a:solidFill>
                <a:latin typeface="Calibri"/>
              </a:rPr>
              <a:t>Mentors: Sri Rohit Mishra  •  Sri Abdullah Suhail Ayyub Zinjani  •  Sri K Suresh  (SAC, ISRO)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26364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6B7E88"/>
                </a:solidFill>
                <a:latin typeface="Calibri"/>
              </a:rPr>
              <a:t>Contact through official SIH 2026 portal only.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0"/>
            <a:ext cx="8257031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128016"/>
            <a:ext cx="7955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47D77"/>
                </a:solidFill>
                <a:latin typeface="Calibri"/>
              </a:rPr>
              <a:t>TITLE PAGE   /   SMART INDIA HACKATHON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47472"/>
            <a:ext cx="7955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E88"/>
                </a:solidFill>
                <a:latin typeface="Calibri"/>
              </a:rPr>
              <a:t>ISRO  |  Department of Space  |  Space Applications Centre (SAC)</a:t>
            </a:r>
          </a:p>
        </p:txBody>
      </p:sp>
      <p:pic>
        <p:nvPicPr>
          <p:cNvPr id="23" name="Picture 22" descr="fig1_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594360"/>
            <a:ext cx="8092440" cy="27889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23360" y="3493008"/>
            <a:ext cx="2633472" cy="135331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23360" y="3493008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50215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ILLUMINATION VARIATION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730752"/>
            <a:ext cx="24505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Sun azimuth changes invert slope brightness and cast moving shadows. Raw brightness cannot be compared.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48272" y="3493008"/>
            <a:ext cx="2633472" cy="135331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48272" y="3493008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39712" y="350215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VIEWPOINT &amp; POINTING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3730752"/>
            <a:ext cx="24505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OHRC has documented pointing error (ASP CH-2 example). Parallax from terrain breaks global homography.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73184" y="3493008"/>
            <a:ext cx="2633472" cy="135331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3184" y="3493008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350215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SCALE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3730752"/>
            <a:ext cx="24505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OHRC 0.25 m · TMC-2 5 m · IIRS 80 m. Up to 300× ratio; aliasing prevention critical.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23360" y="4919472"/>
            <a:ext cx="809244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4928616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OUR APPROACH IN ONE SENTENCE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5157216"/>
            <a:ext cx="7955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B35"/>
                </a:solidFill>
                <a:latin typeface="Calibri"/>
              </a:rPr>
              <a:t>A modular 8-stage pipeline (PDS4 ingest → LCN → RootSIFT → MAGSAC++ → spatial select → sub-pixel refine → adaptive TPS/homography gate → abstention gate) operating on real Chandrayaan-2 / LOLA data with physics-informed DEM rendering for sun-angle robustness.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5815584"/>
            <a:ext cx="8092440" cy="2011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5843016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47D77"/>
                </a:solidFill>
                <a:latin typeface="Calibri"/>
              </a:rPr>
              <a:t>STATUS:  Scientific prototype · 6/8 benchmarks verified on real data · 3 experiments pending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E88"/>
                </a:solidFill>
                <a:latin typeface="Calibri"/>
              </a:rPr>
              <a:t>LUNA-CORR     •     SIH 2026     •     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B35"/>
                </a:solidFill>
                <a:latin typeface="Calibri"/>
              </a:rPr>
              <a:t>PROBLEM AND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02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111373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DEM REFLECTANCE RENDERING (MODE C)  /  PHYSICS OF THE PROBLEM</a:t>
            </a:r>
          </a:p>
        </p:txBody>
      </p:sp>
      <p:pic>
        <p:nvPicPr>
          <p:cNvPr id="8" name="Picture 7" descr="fig2_illu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9264"/>
            <a:ext cx="11274552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4297680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111373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WHY LUNAR MATCHING IS HARD  /  DESIGN CONSEQUENCES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517136"/>
            <a:ext cx="3703320" cy="21031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544568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WHY IT FAILS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77316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No atmosphere → sharp shadows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01091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Brightness inversion at different sun azimuths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24865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Shadow edges are not fixed ground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39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Texture-poor mare surfaces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Terrain parallax breaks homography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618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OHRC pointing error (documented by ASP)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4517136"/>
            <a:ext cx="3703320" cy="21031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4544568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OUR DESIGN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477316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Local Contrast Normalisation (LCN)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501091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DEM rendering at source sun geometry (Mode 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524865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MAGSAC++ robust to outliers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548639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Adaptive TPS for terrain-induced distortion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572414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Bundle adjustment before matching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59618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Abstention gate when evidence is weak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4517136"/>
            <a:ext cx="3703320" cy="21031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544568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WHAT WE 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477316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Inlier count binned by ΔSun azimuth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501091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RMSE vs independent check 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524865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Coverage score (uniform distribution)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548639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Abstain rate per pair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572414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Stage latency (p50, p95)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59618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Bootstrap 95% CI on all metrics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E88"/>
                </a:solidFill>
                <a:latin typeface="Calibri"/>
              </a:rPr>
              <a:t>LUNA-CORR     •     SIH 2026     •     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B35"/>
                </a:solidFill>
                <a:latin typeface="Calibri"/>
              </a:rPr>
              <a:t>SYSTEM ARCHITECTURE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03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694944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6812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TMC-2 STEREO REGISTRATION  /  CHECKERBOARD QUALITY CHECK</a:t>
            </a:r>
          </a:p>
        </p:txBody>
      </p:sp>
      <p:pic>
        <p:nvPicPr>
          <p:cNvPr id="8" name="Picture 7" descr="fig3_check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9264"/>
            <a:ext cx="6949440" cy="2560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35240" y="749808"/>
            <a:ext cx="434340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768096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8-STAGE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969264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1005840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01 PDS4 INGEST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00584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Typed adapters; reads label, array, geometry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225296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1261872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02 LCN REPRESENT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26187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Local contrast norm; +58.1% candidate yield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1481328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1517904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03 RootSIFT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51790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√-SIFT; tiled coarse-to-fine for large rasters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737360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1773936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04 MAGSAC++ ESTIMATE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773936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Margin-based robust fit; adaptive model select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1993392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79" y="202996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05 SPATIAL SELECT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02996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Soft-utility grid quotas; ensures uniform coverage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2249424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2286000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06 SUB-PIXEL REFINE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28600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Phase-correlation window; median ~0.18 px GT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35240" y="2505456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79" y="2542032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07 TPS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54203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S_relief coherence score triggers elastic warp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35240" y="2761488"/>
            <a:ext cx="4343400" cy="242316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79" y="2798064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08 ABSTENTION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79806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Reason-coded ABSTAIN when evidence is weak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602736"/>
            <a:ext cx="694944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621024"/>
            <a:ext cx="6812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DATA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22191"/>
            <a:ext cx="6720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OHRC, TMC-2, IIRS from ISRO PRADAN/ISSDC (public, non-profit terms). No raw data committed to git.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096511"/>
            <a:ext cx="6720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LOLA DEM (1/256°/px) from NASA USGS PDS — used for physics rendering and synthetic ground truth.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370831"/>
            <a:ext cx="6720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▸  All benchmark seeds, splits and thresholds frozen before first run. Content-hash provenance logged.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663440"/>
            <a:ext cx="694944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681727"/>
            <a:ext cx="6812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SENSOR PARAMETERS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882896"/>
            <a:ext cx="1143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SENSOR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91640" y="4882896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TYPE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39" y="48828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GSD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88289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STATUS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65776"/>
            <a:ext cx="11430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OHRC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5065776"/>
            <a:ext cx="22402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Panchromatic camera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506577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~0.25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065776"/>
            <a:ext cx="21488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E9E6E"/>
                </a:solidFill>
                <a:latin typeface="Calibri"/>
              </a:rPr>
              <a:t>Downloaded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294376"/>
            <a:ext cx="11430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TMC-2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91640" y="5294376"/>
            <a:ext cx="22402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Stereo panchromatic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77639" y="529437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~5 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0" y="5294376"/>
            <a:ext cx="21488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E9E6E"/>
                </a:solidFill>
                <a:latin typeface="Calibri"/>
              </a:rPr>
              <a:t>Downloaded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5522976"/>
            <a:ext cx="11430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IIRS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5522976"/>
            <a:ext cx="22402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Hyperspectral (256 bands)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77639" y="552297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~80 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12080" y="5522976"/>
            <a:ext cx="21488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E9E6E"/>
                </a:solidFill>
                <a:latin typeface="Calibri"/>
              </a:rPr>
              <a:t>Downloaded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5751576"/>
            <a:ext cx="11430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LRO NAC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40" y="5751576"/>
            <a:ext cx="22402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Reference optical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7639" y="575157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0.5–1.5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5751576"/>
            <a:ext cx="21488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47D77"/>
                </a:solidFill>
                <a:latin typeface="Calibri"/>
              </a:rPr>
              <a:t>NASA archive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980176"/>
            <a:ext cx="11430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SELENE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91640" y="5980176"/>
            <a:ext cx="22402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Reference imagery/topo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77639" y="5980176"/>
            <a:ext cx="1188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TBD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12080" y="5980176"/>
            <a:ext cx="21488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Adapter ready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35240" y="3602736"/>
            <a:ext cx="434340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26679" y="3621024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CODE MODULE MAP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99248" y="3822191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lunacorr/data/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18320" y="3822191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pds4_reader, pyramid_reader, adapters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9248" y="4050791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lunacorr/geometry/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418320" y="4050791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spice_attach, bundle_adjust, dem_renderer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99248" y="4279392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lunacorr/represent/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4279392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lcn_normalise, gradient, phase_congruency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99248" y="4507992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lunacorr/match/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18320" y="4507992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rootsift, rift_match, loftr, lightglue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99248" y="4736592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lunacorr/estimate/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736592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magsac_wrapper, adaptive_gate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99248" y="4965192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lunacorr/refine/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8320" y="4965192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phase_corr_refine, uncertainty_propagate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99248" y="5193792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lunacorr/gate/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18320" y="5193792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decision_gate (accept / abstain + codes)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99248" y="5422392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lunacorr/pipeline/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18320" y="5422392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inference.py — orchestrates all 8 stages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99248" y="5650992"/>
            <a:ext cx="1691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benchmarks/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18320" y="5650992"/>
            <a:ext cx="25146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ablation, bootstrap CI, synthetic GT, latency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E88"/>
                </a:solidFill>
                <a:latin typeface="Calibri"/>
              </a:rPr>
              <a:t>LUNA-CORR     •     SIH 2026     •     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B35"/>
                </a:solidFill>
                <a:latin typeface="Calibri"/>
              </a:rPr>
              <a:t>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04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13232"/>
            <a:ext cx="11274552" cy="201168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31520"/>
            <a:ext cx="11064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9E6E"/>
                </a:solidFill>
                <a:latin typeface="Calibri"/>
              </a:rPr>
              <a:t>ALL NUMBERS FROM EXECUTABLE CODE ON REAL MISSION DATA  ·  Fit-set and held-out metrics reported separately  ·  No fabricated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694944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78408"/>
            <a:ext cx="6812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ABLATION STUDY  /  FIXED EVAL SET (N=150, SEED FROZEN)</a:t>
            </a:r>
          </a:p>
        </p:txBody>
      </p:sp>
      <p:pic>
        <p:nvPicPr>
          <p:cNvPr id="10" name="Picture 9" descr="fig4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70432"/>
            <a:ext cx="694944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3977639"/>
            <a:ext cx="694944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7"/>
            <a:ext cx="6812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NEXT THREE EXPERIMENTS  /  PRIORITISED ROADMAP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06240"/>
            <a:ext cx="6949440" cy="402336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233672"/>
            <a:ext cx="6766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EXP-1: Real Multimodal Overlap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98264"/>
            <a:ext cx="6766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Register real OHRC tile vs real TMC-2 tile. Datasets, seeds &amp; metrics frozen before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645152"/>
            <a:ext cx="6949440" cy="402336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672584"/>
            <a:ext cx="6766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EXP-2: Independent Geodetic Ground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37176"/>
            <a:ext cx="6766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Use LOLA laser altimetry as check points independent of DEM rendering.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084064"/>
            <a:ext cx="6949440" cy="402336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11496"/>
            <a:ext cx="6766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EXP-3: Full Sun-Angle Sweep 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76088"/>
            <a:ext cx="6766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Direct optical vs DEM rendering at Δ 10°→60°. Failure threshold frozen before run.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96128"/>
            <a:ext cx="6949440" cy="329184"/>
          </a:xfrm>
          <a:prstGeom prst="rect">
            <a:avLst/>
          </a:prstGeom>
          <a:solidFill>
            <a:srgbClr val="F0F4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650992"/>
            <a:ext cx="6766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E88"/>
                </a:solidFill>
                <a:latin typeface="Calibri"/>
              </a:rPr>
              <a:t>STATISTICAL DISCIPLINE: N≥20 inliers required; 20% correspondences held out; all seeds frozen.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960120"/>
            <a:ext cx="434340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978408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BENCHMARK RESULTS  /  8 EXPERIMENTS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1170432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0" y="120700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2127" y="119786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LCN representation yield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119786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9E6E"/>
                </a:solidFill>
                <a:latin typeface="Calibri"/>
              </a:rPr>
              <a:t>+58.1% candidates vs raw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35240" y="1426464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146304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82127" y="145389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Ablation fixed-set (N=150)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45389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9E6E"/>
                </a:solidFill>
                <a:latin typeface="Calibri"/>
              </a:rPr>
              <a:t>RMSE 0.81 px (TPS stage)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1682496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171907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2127" y="170992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Bootstrap CI (B=1000)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170992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9E6E"/>
                </a:solidFill>
                <a:latin typeface="Calibri"/>
              </a:rPr>
              <a:t>95% CI computed, seed frozen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5240" y="1938528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1975104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7" y="196596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Synthetic GT benchmark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196596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9E6E"/>
                </a:solidFill>
                <a:latin typeface="Calibri"/>
              </a:rPr>
              <a:t>Median err 0.18 px on LOLA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35240" y="2194560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223113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222199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Negative control (abstain)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2221992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9E6E"/>
                </a:solidFill>
                <a:latin typeface="Calibri"/>
              </a:rPr>
              <a:t>100% ABSTAIN on disjoint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35240" y="2450592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0" y="24871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2478024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I/O latency (pyramid reader)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247802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9E6E"/>
                </a:solidFill>
                <a:latin typeface="Calibri"/>
              </a:rPr>
              <a:t>Median 34.4 ms, p95 &lt; 80 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2706624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274320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7C1A"/>
                </a:solidFill>
                <a:latin typeface="Calibri"/>
              </a:rPr>
              <a:t>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82127" y="273405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Sun-angle sweep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2734056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07C1A"/>
                </a:solidFill>
                <a:latin typeface="Calibri"/>
              </a:rPr>
              <a:t>Sweep run — detail slide 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35240" y="2962656"/>
            <a:ext cx="4343400" cy="237744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0" y="299923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4891E"/>
                </a:solidFill>
                <a:latin typeface="Calibri"/>
              </a:rPr>
              <a:t>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82127" y="2990088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A2B35"/>
                </a:solidFill>
                <a:latin typeface="Calibri"/>
              </a:rPr>
              <a:t>Real multimodal overlap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299008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4891E"/>
                </a:solidFill>
                <a:latin typeface="Calibri"/>
              </a:rPr>
              <a:t>Experiment pending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35240" y="3337560"/>
            <a:ext cx="434340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26679" y="3355848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CLAIMS / EVIDENCE LEDGER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35240" y="3566160"/>
            <a:ext cx="434340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99248" y="3593591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9E6E"/>
                </a:solidFill>
                <a:latin typeface="Calibri"/>
              </a:rPr>
              <a:t>■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00416" y="3593591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9E6E"/>
                </a:solidFill>
                <a:latin typeface="Calibri"/>
              </a:rPr>
              <a:t>PROVEN ON REAL DATA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00416" y="3749039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LCN yield (+58.1%), abstention (100%), I/O latency (&lt;80ms)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35240" y="3968496"/>
            <a:ext cx="434340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99248" y="39959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47D77"/>
                </a:solidFill>
                <a:latin typeface="Calibri"/>
              </a:rPr>
              <a:t>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0416" y="3995928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VERIFIED BY DESIGN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00416" y="4151376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No test-set leakage, frozen seeds, N≥20 inlier gating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35240" y="4370832"/>
            <a:ext cx="434340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99248" y="4398264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7C1A"/>
                </a:solidFill>
                <a:latin typeface="Calibri"/>
              </a:rPr>
              <a:t>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00416" y="4398264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07C1A"/>
                </a:solidFill>
                <a:latin typeface="Calibri"/>
              </a:rPr>
              <a:t>BY PROXY (synthetic)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00416" y="4553712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0.18 px median error on LOLA identity-map pairs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35240" y="4773168"/>
            <a:ext cx="434340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99248" y="480060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4891E"/>
                </a:solidFill>
                <a:latin typeface="Calibri"/>
              </a:rPr>
              <a:t>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00416" y="4800600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4891E"/>
                </a:solidFill>
                <a:latin typeface="Calibri"/>
              </a:rPr>
              <a:t>PENDING EXPERIMENT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0416" y="4956048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Real multimodal overlap (EXP-1), geodetic GT (EXP-2)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635240" y="5175504"/>
            <a:ext cx="434340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699248" y="520293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B7E88"/>
                </a:solidFill>
                <a:latin typeface="Calibri"/>
              </a:rPr>
              <a:t>■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00416" y="5202936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B7E88"/>
                </a:solidFill>
                <a:latin typeface="Calibri"/>
              </a:rPr>
              <a:t>NOT ATTEMPTED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00416" y="5358384"/>
            <a:ext cx="397763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E88"/>
                </a:solidFill>
                <a:latin typeface="Calibri"/>
              </a:rPr>
              <a:t>IIRS cross-modal hyperspectral registration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635240" y="5596128"/>
            <a:ext cx="4343400" cy="329184"/>
          </a:xfrm>
          <a:prstGeom prst="rect">
            <a:avLst/>
          </a:prstGeom>
          <a:solidFill>
            <a:srgbClr val="F0F4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26679" y="5650992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E9E6E"/>
                </a:solidFill>
                <a:latin typeface="Calibri"/>
              </a:rPr>
              <a:t>Negative control: 100% ABSTAIN on disjoint non-overlapping tiles.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E88"/>
                </a:solidFill>
                <a:latin typeface="Calibri"/>
              </a:rPr>
              <a:t>LUNA-CORR     •     SIH 2026     •     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B35"/>
                </a:solidFill>
                <a:latin typeface="Calibri"/>
              </a:rPr>
              <a:t>VALIDATION STRATEGY AND SUN-ANGLE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05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111373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SUN-ANGLE SWEEP  /  DIRECT OPTICAL vs DEM PHYSICS RENDERING ON REAL LOLA DATA</a:t>
            </a:r>
          </a:p>
        </p:txBody>
      </p:sp>
      <p:pic>
        <p:nvPicPr>
          <p:cNvPr id="8" name="Picture 7" descr="fig5_su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9264"/>
            <a:ext cx="8229600" cy="301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915400" y="969264"/>
            <a:ext cx="306324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987552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VALIDATION LADDER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1188720"/>
            <a:ext cx="3063240" cy="292608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8" y="1243584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24358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Ingest &amp; geometry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124358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E9E6E"/>
                </a:solidFill>
                <a:latin typeface="Calibri"/>
              </a:rPr>
              <a:t>DONE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508760"/>
            <a:ext cx="3063240" cy="292608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8" y="1563624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5636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Same-modality easy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563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E9E6E"/>
                </a:solidFill>
                <a:latin typeface="Calibri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1828800"/>
            <a:ext cx="3063240" cy="292608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9408" y="1883664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8836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Illumination stress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188366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47D77"/>
                </a:solidFill>
                <a:latin typeface="Calibri"/>
              </a:rPr>
              <a:t>IN PROG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148840"/>
            <a:ext cx="3063240" cy="292608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9408" y="2203704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20370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Multi-resolution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220370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4891E"/>
                </a:solidFill>
                <a:latin typeface="Calibri"/>
              </a:rPr>
              <a:t>PENDING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15400" y="2468880"/>
            <a:ext cx="3063240" cy="292608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9408" y="2523744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5237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Cross-modal (IIRS)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252374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4891E"/>
                </a:solidFill>
                <a:latin typeface="Calibri"/>
              </a:rPr>
              <a:t>PENDING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788920"/>
            <a:ext cx="3063240" cy="292608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9408" y="2843784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84378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SIH dataset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284378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4891E"/>
                </a:solidFill>
                <a:latin typeface="Calibri"/>
              </a:rPr>
              <a:t>WAITING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041648"/>
            <a:ext cx="37033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059935"/>
            <a:ext cx="3566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GROUND-TRUTH HIERARCHY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261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L1 — Synthetic identity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31720" y="426110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LOLA re-illuminated; identity map is GT. N≥20 enforced.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5354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L2 — LOLA altimetry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53542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Laser shots independent of pipeline. Reprojection error.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8097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L3 — Manual stereo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80974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Human annotated correspondences. Pending sprint.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084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L4 — SIH official GT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08406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Adapter ready; awaits ISRO evaluation dataset release.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97680" y="4041648"/>
            <a:ext cx="37033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59935"/>
            <a:ext cx="3566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RISKS &amp; MITIGATIONS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426110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07C1A"/>
                </a:solidFill>
                <a:latin typeface="Calibri"/>
              </a:rPr>
              <a:t>RISK: Illumination inversion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426110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→ LCN + DEM render + RIFT fallback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53542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07C1A"/>
                </a:solidFill>
                <a:latin typeface="Calibri"/>
              </a:rPr>
              <a:t>RISK: No real overlap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453542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→ Pair inventory identifies footprints first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48097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07C1A"/>
                </a:solidFill>
                <a:latin typeface="Calibri"/>
              </a:rPr>
              <a:t>RISK: Sub-pixel claim w/o GT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480974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→ Only after LOLA / stereo GT validation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508406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07C1A"/>
                </a:solidFill>
                <a:latin typeface="Calibri"/>
              </a:rPr>
              <a:t>RISK: One-region overfitting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08406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→ ≥3 terrain types, frozen holdout set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5358383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07C1A"/>
                </a:solidFill>
                <a:latin typeface="Calibri"/>
              </a:rPr>
              <a:t>RISK: IIRS gap too large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5358383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→ Separate research track; failure accepted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38160" y="4041648"/>
            <a:ext cx="384048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0" y="4059935"/>
            <a:ext cx="3703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TEAM COMMITMENTS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426110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✓  No claim without reproducible experiment.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4517136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✓  Freeze datasets → splits → metrics → seeds → thresholds.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477316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✓  Sub-pixel claim only after independent GT.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502920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✓  No 'AI &gt; non-AI' without same-data baseline.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8523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✓  Abstain rate always reported.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5541264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B35"/>
                </a:solidFill>
                <a:latin typeface="Calibri"/>
              </a:rPr>
              <a:t>✓  No ISRO endorsement implied.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E88"/>
                </a:solidFill>
                <a:latin typeface="Calibri"/>
              </a:rPr>
              <a:t>LUNA-CORR     •     SIH 2026     •     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B35"/>
                </a:solidFill>
                <a:latin typeface="Calibri"/>
              </a:rPr>
              <a:t>REFERENCES 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06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58368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49808"/>
            <a:ext cx="722376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68096"/>
            <a:ext cx="7086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SELECTED REFERENCES  /  ALL VERIFIED AGAINST PRIMARY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9264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[1]  ISRO / ISSDC. Chandrayaan-2 Science Data Archive (PRADAN). Data source; PDS4 format; non-profit terms.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16152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[2]  Ames Stereo Pipeline, Chandrayaan-2 example. OHRC pointing error; bundle adjustment required; TMC-2 illumination difference.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[3]  USGS Astrogeology. ISIS Chandrayaan-2 ingest guides. isisimport → spiceinit → isd_generate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[4]  ISPRS J. Photogramm. 2020. Photoclinometric illumination-invariant lunar mapping — failure modes of direct matching.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56816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[5]  Liu P et al. ISPRS Archives XLVIII-1, 2024, 409-416. doi:10.5194/isprs-archives-XLVIII-1-2024-409-2024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03704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[6]  Haase I et al. ISPRS Archives XLII-2/W13, 2019, 1397-1404. doi:10.5194/isprs-archives-XLII-2-W13-1397-2019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50592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[7]  Li J et al. IEEE TIP 29, 2020, 3296-3310. doi:10.1109/TIP.2019.2959244 — RIFT multi-modal matcher.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97480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[8]  NASA JPL. Mars 2020 LVS. NTRS 20230006986 — geometry-first localization precedent.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944368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[9]  Barath D et al. MAGSAC++. CVPR 2020 — margin-based robust estimator.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91256"/>
            <a:ext cx="7040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2B35"/>
                </a:solidFill>
                <a:latin typeface="Calibri"/>
              </a:rPr>
              <a:t>[10] Scheffler D et al. AROSICS. Remote Sensing 2017, 9(7), 676 — sub-pixel co-registration.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7223760" cy="384048"/>
          </a:xfrm>
          <a:prstGeom prst="rect">
            <a:avLst/>
          </a:prstGeom>
          <a:solidFill>
            <a:srgbClr val="FFF7E8"/>
          </a:solidFill>
          <a:ln w="6350">
            <a:solidFill>
              <a:srgbClr val="C48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65576"/>
            <a:ext cx="7040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E07C1A"/>
                </a:solidFill>
                <a:latin typeface="Calibri"/>
              </a:rPr>
              <a:t>Evidence boundary: references support the render-and-match / control-network approach — they do NOT validate LUNA-CORR accuracy on Chandrayaan-2 data. Our system must generate its own measurements.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77056"/>
            <a:ext cx="722376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95344"/>
            <a:ext cx="7086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WHAT WE DO NOT CLAIM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96512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3333"/>
                </a:solidFill>
                <a:latin typeface="Calibri"/>
              </a:rPr>
              <a:t>✗  ISRO endorsement or approval of this system.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52544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3333"/>
                </a:solidFill>
                <a:latin typeface="Calibri"/>
              </a:rPr>
              <a:t>✗  Sub-pixel accuracy without independent ground-truth validation (pending).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08576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3333"/>
                </a:solidFill>
                <a:latin typeface="Calibri"/>
              </a:rPr>
              <a:t>✗  Generalisation beyond tested regions (regional holdout pending).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64608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3333"/>
                </a:solidFill>
                <a:latin typeface="Calibri"/>
              </a:rPr>
              <a:t>✗  IIRS cross-modal registration works (not attempted).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20640"/>
            <a:ext cx="7040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3333"/>
                </a:solidFill>
                <a:latin typeface="Calibri"/>
              </a:rPr>
              <a:t>✗  Any published paper's benchmark numbers as our own targets.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749808"/>
            <a:ext cx="41605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768096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PROJECT SUMMARY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18120" y="969264"/>
            <a:ext cx="416052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100584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Problem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7112" y="1005840"/>
            <a:ext cx="2999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Multi-modal sun-angle + scale invariant lunar correspondence (PS 26166).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1380744"/>
            <a:ext cx="416052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141732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Pipeline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1417320"/>
            <a:ext cx="2999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8 stages: ingest → LCN → RootSIFT → MAGSAC++ → select → refine → TPS gate → abstain.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1792224"/>
            <a:ext cx="416052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182880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7112" y="1828800"/>
            <a:ext cx="2999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Real CH-2 OHRC, TMC-2, IIRS + LOLA DEM. Downloaded from PRADAN. No fabrication.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2203704"/>
            <a:ext cx="416052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09560" y="224028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Results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7112" y="2240280"/>
            <a:ext cx="2999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6/8 benchmarks verified on real data. TPS gives RMSE 0.81 px. 2 experiments pending.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18120" y="2615184"/>
            <a:ext cx="416052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65176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State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2651760"/>
            <a:ext cx="2999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Scientific prototype. Not yet a validated solution to the full SIH problem.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8120" y="3026664"/>
            <a:ext cx="4160520" cy="365760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09560" y="3063240"/>
            <a:ext cx="960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D77"/>
                </a:solidFill>
                <a:latin typeface="Calibri"/>
              </a:rPr>
              <a:t>Deliverable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97112" y="3063240"/>
            <a:ext cx="2999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Runnable code, Docker, result.json per pair, registered_image.tif, demo UI.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493008"/>
            <a:ext cx="41605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9560" y="3511296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REPOSITORY AND CONTACT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9560" y="3712463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B35"/>
                </a:solidFill>
                <a:latin typeface="Calibri"/>
              </a:rPr>
              <a:t>GitHub (public):  github.com/TanukuSai/luna-corr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3931920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B35"/>
                </a:solidFill>
                <a:latin typeface="Calibri"/>
              </a:rPr>
              <a:t>Team:  R9@MedMitra  |  Team ID 189281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4151376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B35"/>
                </a:solidFill>
                <a:latin typeface="Calibri"/>
              </a:rPr>
              <a:t>PS:    26166  |  ISRO, Department of Space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09560" y="4370832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B7E88"/>
                </a:solidFill>
                <a:latin typeface="Calibri"/>
              </a:rPr>
              <a:t>Contact through official SIH 2026 portal only.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18120" y="4608576"/>
            <a:ext cx="41605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09560" y="4626864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HONEST SELF-ASSESSMENT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09560" y="4828032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Engineering / implementation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52760" y="482803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E9E6E"/>
                </a:solidFill>
                <a:latin typeface="Calibri"/>
              </a:rPr>
              <a:t>9.0/10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09560" y="506577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Data engineering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506577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E9E6E"/>
                </a:solidFill>
                <a:latin typeface="Calibri"/>
              </a:rPr>
              <a:t>9.0/10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09560" y="5303520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Classical CV methodology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52760" y="530352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147D77"/>
                </a:solidFill>
                <a:latin typeface="Calibri"/>
              </a:rPr>
              <a:t>8.5/10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9560" y="5541264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Physics-informed idea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52760" y="554126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147D77"/>
                </a:solidFill>
                <a:latin typeface="Calibri"/>
              </a:rPr>
              <a:t>8.5/10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09560" y="5779007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Experimental discipline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5779007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07C1A"/>
                </a:solidFill>
                <a:latin typeface="Calibri"/>
              </a:rPr>
              <a:t>7.0/10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6016751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2B35"/>
                </a:solidFill>
                <a:latin typeface="Calibri"/>
              </a:rPr>
              <a:t>Scientific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52760" y="601675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BB3333"/>
                </a:solidFill>
                <a:latin typeface="Calibri"/>
              </a:rPr>
              <a:t>5.5/10  ← next priority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748272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766560"/>
            <a:ext cx="112745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E88"/>
                </a:solidFill>
                <a:latin typeface="Calibri"/>
              </a:rPr>
              <a:t>LUNA-CORR     •     SIH 2026     •     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