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anukuSai/luna-cor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1A2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365760"/>
            <a:ext cx="3383280" cy="502920"/>
          </a:xfrm>
          <a:prstGeom prst="rect">
            <a:avLst/>
          </a:prstGeom>
          <a:noFill/>
        </p:spPr>
        <p:txBody>
          <a:bodyPr wrap="square">
            <a:spAutoFit/>
          </a:bodyPr>
          <a:lstStyle/>
          <a:p>
            <a:pPr algn="l"/>
            <a:r>
              <a:rPr sz="3600" b="1" i="0">
                <a:solidFill>
                  <a:srgbClr val="FFFFFF"/>
                </a:solidFill>
                <a:latin typeface="Calibri"/>
              </a:rPr>
              <a:t>LUNA-CORR</a:t>
            </a:r>
          </a:p>
        </p:txBody>
      </p:sp>
      <p:sp>
        <p:nvSpPr>
          <p:cNvPr id="5" name="TextBox 4"/>
          <p:cNvSpPr txBox="1"/>
          <p:nvPr/>
        </p:nvSpPr>
        <p:spPr>
          <a:xfrm>
            <a:off x="274320" y="960120"/>
            <a:ext cx="3383280" cy="594360"/>
          </a:xfrm>
          <a:prstGeom prst="rect">
            <a:avLst/>
          </a:prstGeom>
          <a:noFill/>
        </p:spPr>
        <p:txBody>
          <a:bodyPr wrap="square">
            <a:spAutoFit/>
          </a:bodyPr>
          <a:lstStyle/>
          <a:p>
            <a:pPr algn="l"/>
            <a:r>
              <a:rPr sz="1100" b="1" i="0">
                <a:solidFill>
                  <a:srgbClr val="C0D4DB"/>
                </a:solidFill>
                <a:latin typeface="Calibri"/>
              </a:rPr>
              <a:t>Physics-informed lunar image correspondence
designed for robustness to illumination, viewpoint,
scale and cross-sensor differences</a:t>
            </a:r>
          </a:p>
        </p:txBody>
      </p:sp>
      <p:sp>
        <p:nvSpPr>
          <p:cNvPr id="6" name="TextBox 5"/>
          <p:cNvSpPr txBox="1"/>
          <p:nvPr/>
        </p:nvSpPr>
        <p:spPr>
          <a:xfrm>
            <a:off x="274320" y="1645920"/>
            <a:ext cx="3383280" cy="411480"/>
          </a:xfrm>
          <a:prstGeom prst="rect">
            <a:avLst/>
          </a:prstGeom>
          <a:noFill/>
        </p:spPr>
        <p:txBody>
          <a:bodyPr wrap="square">
            <a:spAutoFit/>
          </a:bodyPr>
          <a:lstStyle/>
          <a:p>
            <a:pPr algn="l"/>
            <a:r>
              <a:rPr sz="850" b="0" i="0">
                <a:solidFill>
                  <a:srgbClr val="6B7E88"/>
                </a:solidFill>
                <a:latin typeface="Calibri"/>
              </a:rPr>
              <a:t>SIH 2026 PS 26166: Multi-modal, sun-angle and scale-invariant
image correspondence of lunar imagery</a:t>
            </a:r>
          </a:p>
        </p:txBody>
      </p:sp>
      <p:sp>
        <p:nvSpPr>
          <p:cNvPr id="7" name="Rectangle 6"/>
          <p:cNvSpPr/>
          <p:nvPr/>
        </p:nvSpPr>
        <p:spPr>
          <a:xfrm>
            <a:off x="274320" y="2148840"/>
            <a:ext cx="3108960" cy="2286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286000"/>
            <a:ext cx="3200400" cy="164592"/>
          </a:xfrm>
          <a:prstGeom prst="rect">
            <a:avLst/>
          </a:prstGeom>
          <a:noFill/>
        </p:spPr>
        <p:txBody>
          <a:bodyPr wrap="square">
            <a:spAutoFit/>
          </a:bodyPr>
          <a:lstStyle/>
          <a:p>
            <a:pPr algn="l"/>
            <a:r>
              <a:rPr sz="800" b="1" i="0">
                <a:solidFill>
                  <a:srgbClr val="147D77"/>
                </a:solidFill>
                <a:latin typeface="Calibri"/>
              </a:rPr>
              <a:t>PROBLEM STATEMENT</a:t>
            </a:r>
          </a:p>
        </p:txBody>
      </p:sp>
      <p:sp>
        <p:nvSpPr>
          <p:cNvPr id="9" name="TextBox 8"/>
          <p:cNvSpPr txBox="1"/>
          <p:nvPr/>
        </p:nvSpPr>
        <p:spPr>
          <a:xfrm>
            <a:off x="274320" y="2450592"/>
            <a:ext cx="3200400" cy="237744"/>
          </a:xfrm>
          <a:prstGeom prst="rect">
            <a:avLst/>
          </a:prstGeom>
          <a:noFill/>
        </p:spPr>
        <p:txBody>
          <a:bodyPr wrap="square">
            <a:spAutoFit/>
          </a:bodyPr>
          <a:lstStyle/>
          <a:p>
            <a:pPr algn="l"/>
            <a:r>
              <a:rPr sz="1100" b="0" i="0">
                <a:solidFill>
                  <a:srgbClr val="F0F4F6"/>
                </a:solidFill>
                <a:latin typeface="Calibri"/>
              </a:rPr>
              <a:t>PS  26166</a:t>
            </a:r>
          </a:p>
        </p:txBody>
      </p:sp>
      <p:sp>
        <p:nvSpPr>
          <p:cNvPr id="10" name="TextBox 9"/>
          <p:cNvSpPr txBox="1"/>
          <p:nvPr/>
        </p:nvSpPr>
        <p:spPr>
          <a:xfrm>
            <a:off x="274320" y="2761488"/>
            <a:ext cx="3200400" cy="164592"/>
          </a:xfrm>
          <a:prstGeom prst="rect">
            <a:avLst/>
          </a:prstGeom>
          <a:noFill/>
        </p:spPr>
        <p:txBody>
          <a:bodyPr wrap="square">
            <a:spAutoFit/>
          </a:bodyPr>
          <a:lstStyle/>
          <a:p>
            <a:pPr algn="l"/>
            <a:r>
              <a:rPr sz="800" b="1" i="0">
                <a:solidFill>
                  <a:srgbClr val="147D77"/>
                </a:solidFill>
                <a:latin typeface="Calibri"/>
              </a:rPr>
              <a:t>THEME</a:t>
            </a:r>
          </a:p>
        </p:txBody>
      </p:sp>
      <p:sp>
        <p:nvSpPr>
          <p:cNvPr id="11" name="TextBox 10"/>
          <p:cNvSpPr txBox="1"/>
          <p:nvPr/>
        </p:nvSpPr>
        <p:spPr>
          <a:xfrm>
            <a:off x="274320" y="2926080"/>
            <a:ext cx="3200400" cy="237744"/>
          </a:xfrm>
          <a:prstGeom prst="rect">
            <a:avLst/>
          </a:prstGeom>
          <a:noFill/>
        </p:spPr>
        <p:txBody>
          <a:bodyPr wrap="square">
            <a:spAutoFit/>
          </a:bodyPr>
          <a:lstStyle/>
          <a:p>
            <a:pPr algn="l"/>
            <a:r>
              <a:rPr sz="1100" b="0" i="0">
                <a:solidFill>
                  <a:srgbClr val="F0F4F6"/>
                </a:solidFill>
                <a:latin typeface="Calibri"/>
              </a:rPr>
              <a:t>Space Technology</a:t>
            </a:r>
          </a:p>
        </p:txBody>
      </p:sp>
      <p:sp>
        <p:nvSpPr>
          <p:cNvPr id="12" name="TextBox 11"/>
          <p:cNvSpPr txBox="1"/>
          <p:nvPr/>
        </p:nvSpPr>
        <p:spPr>
          <a:xfrm>
            <a:off x="274320" y="3236976"/>
            <a:ext cx="3200400" cy="164592"/>
          </a:xfrm>
          <a:prstGeom prst="rect">
            <a:avLst/>
          </a:prstGeom>
          <a:noFill/>
        </p:spPr>
        <p:txBody>
          <a:bodyPr wrap="square">
            <a:spAutoFit/>
          </a:bodyPr>
          <a:lstStyle/>
          <a:p>
            <a:pPr algn="l"/>
            <a:r>
              <a:rPr sz="800" b="1" i="0">
                <a:solidFill>
                  <a:srgbClr val="147D77"/>
                </a:solidFill>
                <a:latin typeface="Calibri"/>
              </a:rPr>
              <a:t>PS CATEGORY</a:t>
            </a:r>
          </a:p>
        </p:txBody>
      </p:sp>
      <p:sp>
        <p:nvSpPr>
          <p:cNvPr id="13" name="TextBox 12"/>
          <p:cNvSpPr txBox="1"/>
          <p:nvPr/>
        </p:nvSpPr>
        <p:spPr>
          <a:xfrm>
            <a:off x="274320" y="3401568"/>
            <a:ext cx="3200400" cy="237744"/>
          </a:xfrm>
          <a:prstGeom prst="rect">
            <a:avLst/>
          </a:prstGeom>
          <a:noFill/>
        </p:spPr>
        <p:txBody>
          <a:bodyPr wrap="square">
            <a:spAutoFit/>
          </a:bodyPr>
          <a:lstStyle/>
          <a:p>
            <a:pPr algn="l"/>
            <a:r>
              <a:rPr sz="1100" b="0" i="0">
                <a:solidFill>
                  <a:srgbClr val="F0F4F6"/>
                </a:solidFill>
                <a:latin typeface="Calibri"/>
              </a:rPr>
              <a:t>Software</a:t>
            </a:r>
          </a:p>
        </p:txBody>
      </p:sp>
      <p:sp>
        <p:nvSpPr>
          <p:cNvPr id="14" name="TextBox 13"/>
          <p:cNvSpPr txBox="1"/>
          <p:nvPr/>
        </p:nvSpPr>
        <p:spPr>
          <a:xfrm>
            <a:off x="274320" y="3712464"/>
            <a:ext cx="3200400" cy="164592"/>
          </a:xfrm>
          <a:prstGeom prst="rect">
            <a:avLst/>
          </a:prstGeom>
          <a:noFill/>
        </p:spPr>
        <p:txBody>
          <a:bodyPr wrap="square">
            <a:spAutoFit/>
          </a:bodyPr>
          <a:lstStyle/>
          <a:p>
            <a:pPr algn="l"/>
            <a:r>
              <a:rPr sz="800" b="1" i="0">
                <a:solidFill>
                  <a:srgbClr val="147D77"/>
                </a:solidFill>
                <a:latin typeface="Calibri"/>
              </a:rPr>
              <a:t>TEAM ID</a:t>
            </a:r>
          </a:p>
        </p:txBody>
      </p:sp>
      <p:sp>
        <p:nvSpPr>
          <p:cNvPr id="15" name="TextBox 14"/>
          <p:cNvSpPr txBox="1"/>
          <p:nvPr/>
        </p:nvSpPr>
        <p:spPr>
          <a:xfrm>
            <a:off x="274320" y="3877056"/>
            <a:ext cx="3200400" cy="237744"/>
          </a:xfrm>
          <a:prstGeom prst="rect">
            <a:avLst/>
          </a:prstGeom>
          <a:noFill/>
        </p:spPr>
        <p:txBody>
          <a:bodyPr wrap="square">
            <a:spAutoFit/>
          </a:bodyPr>
          <a:lstStyle/>
          <a:p>
            <a:pPr algn="l"/>
            <a:r>
              <a:rPr sz="1100" b="0" i="0">
                <a:solidFill>
                  <a:srgbClr val="C4891E"/>
                </a:solidFill>
                <a:latin typeface="Calibri"/>
              </a:rPr>
              <a:t>189281</a:t>
            </a:r>
          </a:p>
        </p:txBody>
      </p:sp>
      <p:sp>
        <p:nvSpPr>
          <p:cNvPr id="16" name="TextBox 15"/>
          <p:cNvSpPr txBox="1"/>
          <p:nvPr/>
        </p:nvSpPr>
        <p:spPr>
          <a:xfrm>
            <a:off x="274320" y="4187952"/>
            <a:ext cx="3200400" cy="164592"/>
          </a:xfrm>
          <a:prstGeom prst="rect">
            <a:avLst/>
          </a:prstGeom>
          <a:noFill/>
        </p:spPr>
        <p:txBody>
          <a:bodyPr wrap="square">
            <a:spAutoFit/>
          </a:bodyPr>
          <a:lstStyle/>
          <a:p>
            <a:pPr algn="l"/>
            <a:r>
              <a:rPr sz="800" b="1" i="0">
                <a:solidFill>
                  <a:srgbClr val="147D77"/>
                </a:solidFill>
                <a:latin typeface="Calibri"/>
              </a:rPr>
              <a:t>REGISTERED TEAM NAME</a:t>
            </a:r>
          </a:p>
        </p:txBody>
      </p:sp>
      <p:sp>
        <p:nvSpPr>
          <p:cNvPr id="17" name="TextBox 16"/>
          <p:cNvSpPr txBox="1"/>
          <p:nvPr/>
        </p:nvSpPr>
        <p:spPr>
          <a:xfrm>
            <a:off x="274320" y="4352544"/>
            <a:ext cx="3200400" cy="237744"/>
          </a:xfrm>
          <a:prstGeom prst="rect">
            <a:avLst/>
          </a:prstGeom>
          <a:noFill/>
        </p:spPr>
        <p:txBody>
          <a:bodyPr wrap="square">
            <a:spAutoFit/>
          </a:bodyPr>
          <a:lstStyle/>
          <a:p>
            <a:pPr algn="l"/>
            <a:r>
              <a:rPr sz="1100" b="0" i="0">
                <a:solidFill>
                  <a:srgbClr val="C4891E"/>
                </a:solidFill>
                <a:latin typeface="Calibri"/>
              </a:rPr>
              <a:t>R9@MedMitra</a:t>
            </a:r>
          </a:p>
        </p:txBody>
      </p:sp>
      <p:sp>
        <p:nvSpPr>
          <p:cNvPr id="18" name="TextBox 17"/>
          <p:cNvSpPr txBox="1"/>
          <p:nvPr/>
        </p:nvSpPr>
        <p:spPr>
          <a:xfrm>
            <a:off x="274320" y="6080760"/>
            <a:ext cx="3383280" cy="320040"/>
          </a:xfrm>
          <a:prstGeom prst="rect">
            <a:avLst/>
          </a:prstGeom>
          <a:noFill/>
        </p:spPr>
        <p:txBody>
          <a:bodyPr wrap="square">
            <a:spAutoFit/>
          </a:bodyPr>
          <a:lstStyle/>
          <a:p>
            <a:pPr algn="l"/>
            <a:r>
              <a:rPr sz="750" b="0" i="0">
                <a:solidFill>
                  <a:srgbClr val="6B7E88"/>
                </a:solidFill>
                <a:latin typeface="Calibri"/>
              </a:rPr>
              <a:t>Mentors: Sri Rohit Mishra  •  Sri Abdullah Suhail Ayyub Zinjani  •  Sri K Suresh  (SAC, ISRO)</a:t>
            </a:r>
          </a:p>
        </p:txBody>
      </p:sp>
      <p:sp>
        <p:nvSpPr>
          <p:cNvPr id="19" name="Rectangle 18"/>
          <p:cNvSpPr/>
          <p:nvPr/>
        </p:nvSpPr>
        <p:spPr>
          <a:xfrm>
            <a:off x="3931920" y="0"/>
            <a:ext cx="8257031"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0" y="128016"/>
            <a:ext cx="7955279" cy="201168"/>
          </a:xfrm>
          <a:prstGeom prst="rect">
            <a:avLst/>
          </a:prstGeom>
          <a:noFill/>
        </p:spPr>
        <p:txBody>
          <a:bodyPr wrap="square">
            <a:spAutoFit/>
          </a:bodyPr>
          <a:lstStyle/>
          <a:p>
            <a:pPr algn="l"/>
            <a:r>
              <a:rPr sz="900" b="1" i="0">
                <a:solidFill>
                  <a:srgbClr val="147D77"/>
                </a:solidFill>
                <a:latin typeface="Calibri"/>
              </a:rPr>
              <a:t>TITLE &amp; PROBLEM OVERVIEW   /   SMART INDIA HACKATHON 2026</a:t>
            </a:r>
          </a:p>
        </p:txBody>
      </p:sp>
      <p:sp>
        <p:nvSpPr>
          <p:cNvPr id="21" name="TextBox 20"/>
          <p:cNvSpPr txBox="1"/>
          <p:nvPr/>
        </p:nvSpPr>
        <p:spPr>
          <a:xfrm>
            <a:off x="4114800" y="347472"/>
            <a:ext cx="7955279" cy="201168"/>
          </a:xfrm>
          <a:prstGeom prst="rect">
            <a:avLst/>
          </a:prstGeom>
          <a:noFill/>
        </p:spPr>
        <p:txBody>
          <a:bodyPr wrap="square">
            <a:spAutoFit/>
          </a:bodyPr>
          <a:lstStyle/>
          <a:p>
            <a:pPr algn="l"/>
            <a:r>
              <a:rPr sz="950" b="0" i="0">
                <a:solidFill>
                  <a:srgbClr val="6B7E88"/>
                </a:solidFill>
                <a:latin typeface="Calibri"/>
              </a:rPr>
              <a:t>ISRO  |  Department of Space  |  Space Applications Centre (SAC)</a:t>
            </a:r>
          </a:p>
        </p:txBody>
      </p:sp>
      <p:pic>
        <p:nvPicPr>
          <p:cNvPr id="22" name="Picture 21" descr="fig1_title_hero.png"/>
          <p:cNvPicPr>
            <a:picLocks noChangeAspect="1"/>
          </p:cNvPicPr>
          <p:nvPr/>
        </p:nvPicPr>
        <p:blipFill>
          <a:blip r:embed="rId2"/>
          <a:stretch>
            <a:fillRect/>
          </a:stretch>
        </p:blipFill>
        <p:spPr>
          <a:xfrm>
            <a:off x="4023360" y="566928"/>
            <a:ext cx="8092440" cy="2606040"/>
          </a:xfrm>
          <a:prstGeom prst="rect">
            <a:avLst/>
          </a:prstGeom>
        </p:spPr>
      </p:pic>
      <p:sp>
        <p:nvSpPr>
          <p:cNvPr id="23" name="Rectangle 22"/>
          <p:cNvSpPr/>
          <p:nvPr/>
        </p:nvSpPr>
        <p:spPr>
          <a:xfrm>
            <a:off x="4023360" y="3236976"/>
            <a:ext cx="8092440" cy="512064"/>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0" y="3264408"/>
            <a:ext cx="7909560" cy="164592"/>
          </a:xfrm>
          <a:prstGeom prst="rect">
            <a:avLst/>
          </a:prstGeom>
          <a:noFill/>
        </p:spPr>
        <p:txBody>
          <a:bodyPr wrap="square">
            <a:spAutoFit/>
          </a:bodyPr>
          <a:lstStyle/>
          <a:p>
            <a:pPr algn="l"/>
            <a:r>
              <a:rPr sz="850" b="1" i="0">
                <a:solidFill>
                  <a:srgbClr val="2E9E6E"/>
                </a:solidFill>
                <a:latin typeface="Calibri"/>
              </a:rPr>
              <a:t>DEMONSTRATED ON REAL CHANDRAYAAN-2 DATA (BENCHMARK MANIFEST VERIFIED):</a:t>
            </a:r>
          </a:p>
        </p:txBody>
      </p:sp>
      <p:sp>
        <p:nvSpPr>
          <p:cNvPr id="25" name="TextBox 24"/>
          <p:cNvSpPr txBox="1"/>
          <p:nvPr/>
        </p:nvSpPr>
        <p:spPr>
          <a:xfrm>
            <a:off x="4114800" y="3438144"/>
            <a:ext cx="7909560" cy="292608"/>
          </a:xfrm>
          <a:prstGeom prst="rect">
            <a:avLst/>
          </a:prstGeom>
          <a:noFill/>
        </p:spPr>
        <p:txBody>
          <a:bodyPr wrap="square">
            <a:spAutoFit/>
          </a:bodyPr>
          <a:lstStyle/>
          <a:p>
            <a:pPr algn="l"/>
            <a:r>
              <a:rPr sz="819" b="0" i="0">
                <a:solidFill>
                  <a:srgbClr val="1A2B35"/>
                </a:solidFill>
                <a:latin typeface="Calibri"/>
              </a:rPr>
              <a:t>• EXP-OHRC-E2E: 818 inliers (99.3% ratio)  ·  Held-out RMSE: 0.786 px (N=789 candidate split, TPS Warping Accepted)
• EXP-TMC-FIXED: 1.606 px → 0.836 px RMSE (47.9% gain vs Stage 3, N=150)  |  EXP-TMC-E2E: 660 inliers, 1.073 px RMSE</a:t>
            </a:r>
          </a:p>
        </p:txBody>
      </p:sp>
      <p:sp>
        <p:nvSpPr>
          <p:cNvPr id="26" name="Rectangle 25"/>
          <p:cNvSpPr/>
          <p:nvPr/>
        </p:nvSpPr>
        <p:spPr>
          <a:xfrm>
            <a:off x="4023360"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023360"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3840480"/>
            <a:ext cx="2468880" cy="164592"/>
          </a:xfrm>
          <a:prstGeom prst="rect">
            <a:avLst/>
          </a:prstGeom>
          <a:noFill/>
        </p:spPr>
        <p:txBody>
          <a:bodyPr wrap="square">
            <a:spAutoFit/>
          </a:bodyPr>
          <a:lstStyle/>
          <a:p>
            <a:pPr algn="l"/>
            <a:r>
              <a:rPr sz="850" b="1" i="0">
                <a:solidFill>
                  <a:srgbClr val="FFFFFF"/>
                </a:solidFill>
                <a:latin typeface="Calibri"/>
              </a:rPr>
              <a:t>ILLUMINATION GAP</a:t>
            </a:r>
          </a:p>
        </p:txBody>
      </p:sp>
      <p:sp>
        <p:nvSpPr>
          <p:cNvPr id="29" name="TextBox 28"/>
          <p:cNvSpPr txBox="1"/>
          <p:nvPr/>
        </p:nvSpPr>
        <p:spPr>
          <a:xfrm>
            <a:off x="4114800" y="4059936"/>
            <a:ext cx="2450592" cy="868680"/>
          </a:xfrm>
          <a:prstGeom prst="rect">
            <a:avLst/>
          </a:prstGeom>
          <a:noFill/>
        </p:spPr>
        <p:txBody>
          <a:bodyPr wrap="square">
            <a:spAutoFit/>
          </a:bodyPr>
          <a:lstStyle/>
          <a:p>
            <a:pPr algn="l"/>
            <a:r>
              <a:rPr sz="819" b="0" i="0">
                <a:solidFill>
                  <a:srgbClr val="1A2B35"/>
                </a:solidFill>
                <a:latin typeface="Calibri"/>
              </a:rPr>
              <a:t>Sun azimuth/elevation changes invert slope brightness and cast moving shadows. Direct feature matching collapses.</a:t>
            </a:r>
          </a:p>
        </p:txBody>
      </p:sp>
      <p:sp>
        <p:nvSpPr>
          <p:cNvPr id="30" name="Rectangle 29"/>
          <p:cNvSpPr/>
          <p:nvPr/>
        </p:nvSpPr>
        <p:spPr>
          <a:xfrm>
            <a:off x="6748272"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840480"/>
            <a:ext cx="2468880" cy="164592"/>
          </a:xfrm>
          <a:prstGeom prst="rect">
            <a:avLst/>
          </a:prstGeom>
          <a:noFill/>
        </p:spPr>
        <p:txBody>
          <a:bodyPr wrap="square">
            <a:spAutoFit/>
          </a:bodyPr>
          <a:lstStyle/>
          <a:p>
            <a:pPr algn="l"/>
            <a:r>
              <a:rPr sz="850" b="1" i="0">
                <a:solidFill>
                  <a:srgbClr val="FFFFFF"/>
                </a:solidFill>
                <a:latin typeface="Calibri"/>
              </a:rPr>
              <a:t>VIEWPOINT &amp; RELIEF</a:t>
            </a:r>
          </a:p>
        </p:txBody>
      </p:sp>
      <p:sp>
        <p:nvSpPr>
          <p:cNvPr id="33" name="TextBox 32"/>
          <p:cNvSpPr txBox="1"/>
          <p:nvPr/>
        </p:nvSpPr>
        <p:spPr>
          <a:xfrm>
            <a:off x="6839712" y="4059936"/>
            <a:ext cx="2450592" cy="868680"/>
          </a:xfrm>
          <a:prstGeom prst="rect">
            <a:avLst/>
          </a:prstGeom>
          <a:noFill/>
        </p:spPr>
        <p:txBody>
          <a:bodyPr wrap="square">
            <a:spAutoFit/>
          </a:bodyPr>
          <a:lstStyle/>
          <a:p>
            <a:pPr algn="l"/>
            <a:r>
              <a:rPr sz="819" b="0" i="0">
                <a:solidFill>
                  <a:srgbClr val="1A2B35"/>
                </a:solidFill>
                <a:latin typeface="Calibri"/>
              </a:rPr>
              <a:t>3D crater topography creates localized relief parallax that violates planar homography. Residual relief may require adaptive local deformation.</a:t>
            </a:r>
          </a:p>
        </p:txBody>
      </p:sp>
      <p:sp>
        <p:nvSpPr>
          <p:cNvPr id="34" name="Rectangle 33"/>
          <p:cNvSpPr/>
          <p:nvPr/>
        </p:nvSpPr>
        <p:spPr>
          <a:xfrm>
            <a:off x="9473184"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3184"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64624" y="3840480"/>
            <a:ext cx="2468880" cy="164592"/>
          </a:xfrm>
          <a:prstGeom prst="rect">
            <a:avLst/>
          </a:prstGeom>
          <a:noFill/>
        </p:spPr>
        <p:txBody>
          <a:bodyPr wrap="square">
            <a:spAutoFit/>
          </a:bodyPr>
          <a:lstStyle/>
          <a:p>
            <a:pPr algn="l"/>
            <a:r>
              <a:rPr sz="850" b="1" i="0">
                <a:solidFill>
                  <a:srgbClr val="FFFFFF"/>
                </a:solidFill>
                <a:latin typeface="Calibri"/>
              </a:rPr>
              <a:t>320× NOMINAL SCALE GAP</a:t>
            </a:r>
          </a:p>
        </p:txBody>
      </p:sp>
      <p:sp>
        <p:nvSpPr>
          <p:cNvPr id="37" name="TextBox 36"/>
          <p:cNvSpPr txBox="1"/>
          <p:nvPr/>
        </p:nvSpPr>
        <p:spPr>
          <a:xfrm>
            <a:off x="9564624" y="4059936"/>
            <a:ext cx="2450592" cy="868680"/>
          </a:xfrm>
          <a:prstGeom prst="rect">
            <a:avLst/>
          </a:prstGeom>
          <a:noFill/>
        </p:spPr>
        <p:txBody>
          <a:bodyPr wrap="square">
            <a:spAutoFit/>
          </a:bodyPr>
          <a:lstStyle/>
          <a:p>
            <a:pPr algn="l"/>
            <a:r>
              <a:rPr sz="819" b="0" i="0">
                <a:solidFill>
                  <a:srgbClr val="1A2B35"/>
                </a:solidFill>
                <a:latin typeface="Calibri"/>
              </a:rPr>
              <a:t>OHRC (~0.25 m) · TMC-2 (~5 m) · IIRS (~80 m). Up to 320× GSD ratio requires scale-space pyramid conditioning.</a:t>
            </a:r>
          </a:p>
        </p:txBody>
      </p:sp>
      <p:sp>
        <p:nvSpPr>
          <p:cNvPr id="38" name="Rectangle 37"/>
          <p:cNvSpPr/>
          <p:nvPr/>
        </p:nvSpPr>
        <p:spPr>
          <a:xfrm>
            <a:off x="4023360" y="5065776"/>
            <a:ext cx="8092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0" y="5074920"/>
            <a:ext cx="7955279" cy="182880"/>
          </a:xfrm>
          <a:prstGeom prst="rect">
            <a:avLst/>
          </a:prstGeom>
          <a:noFill/>
        </p:spPr>
        <p:txBody>
          <a:bodyPr wrap="square">
            <a:spAutoFit/>
          </a:bodyPr>
          <a:lstStyle/>
          <a:p>
            <a:pPr algn="l"/>
            <a:r>
              <a:rPr sz="850" b="1" i="0">
                <a:solidFill>
                  <a:srgbClr val="FFFFFF"/>
                </a:solidFill>
                <a:latin typeface="Calibri"/>
              </a:rPr>
              <a:t>OUR INNOVATION IN ONE SENTENCE</a:t>
            </a:r>
          </a:p>
        </p:txBody>
      </p:sp>
      <p:sp>
        <p:nvSpPr>
          <p:cNvPr id="40" name="TextBox 39"/>
          <p:cNvSpPr txBox="1"/>
          <p:nvPr/>
        </p:nvSpPr>
        <p:spPr>
          <a:xfrm>
            <a:off x="4114800" y="5285232"/>
            <a:ext cx="7955279" cy="438912"/>
          </a:xfrm>
          <a:prstGeom prst="rect">
            <a:avLst/>
          </a:prstGeom>
          <a:noFill/>
        </p:spPr>
        <p:txBody>
          <a:bodyPr wrap="square">
            <a:spAutoFit/>
          </a:bodyPr>
          <a:lstStyle/>
          <a:p>
            <a:pPr algn="l"/>
            <a:r>
              <a:rPr sz="819" b="0" i="0">
                <a:solidFill>
                  <a:srgbClr val="1A2B35"/>
                </a:solidFill>
                <a:latin typeface="Calibri"/>
              </a:rPr>
              <a:t>Physics-conditioned appearance + robust correspondence + adaptive geometric model selection + explicit abstention: instead of forcing one static matcher and one geometry model across all conditions, the system adapts representation and deformation to solar geometry and residual relief coherence.</a:t>
            </a:r>
          </a:p>
        </p:txBody>
      </p:sp>
      <p:sp>
        <p:nvSpPr>
          <p:cNvPr id="41" name="Rectangle 40"/>
          <p:cNvSpPr/>
          <p:nvPr/>
        </p:nvSpPr>
        <p:spPr>
          <a:xfrm>
            <a:off x="4023360" y="5815584"/>
            <a:ext cx="8092440" cy="219456"/>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0" y="5843016"/>
            <a:ext cx="7955279" cy="182880"/>
          </a:xfrm>
          <a:prstGeom prst="rect">
            <a:avLst/>
          </a:prstGeom>
          <a:noFill/>
        </p:spPr>
        <p:txBody>
          <a:bodyPr wrap="square">
            <a:spAutoFit/>
          </a:bodyPr>
          <a:lstStyle/>
          <a:p>
            <a:pPr algn="l"/>
            <a:r>
              <a:rPr sz="780" b="1" i="0">
                <a:solidFill>
                  <a:srgbClr val="147D77"/>
                </a:solidFill>
                <a:latin typeface="Calibri"/>
              </a:rPr>
              <a:t>CURRENT EVIDENCE:  same-sensor repeat ✓ · stereo relief ✓ · controlled illumination simulation ✓ · negative control ✓ · real cross-sensor validation pending</a:t>
            </a:r>
          </a:p>
        </p:txBody>
      </p:sp>
      <p:sp>
        <p:nvSpPr>
          <p:cNvPr id="43" name="Rectangle 42"/>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WHY STANDARD MATCHING FAILS (PHYSICS OF LUNAR IMAGING)</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02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11137392" cy="201168"/>
          </a:xfrm>
          <a:prstGeom prst="rect">
            <a:avLst/>
          </a:prstGeom>
          <a:noFill/>
        </p:spPr>
        <p:txBody>
          <a:bodyPr wrap="square">
            <a:spAutoFit/>
          </a:bodyPr>
          <a:lstStyle/>
          <a:p>
            <a:pPr algn="l"/>
            <a:r>
              <a:rPr sz="800" b="1" i="0">
                <a:solidFill>
                  <a:srgbClr val="FFFFFF"/>
                </a:solidFill>
                <a:latin typeface="Calibri"/>
              </a:rPr>
              <a:t>PHYSICS OF THE PROBLEM  /  CONTROLLED RE-ILLUMINATION OF A LUNAR CRATER DEM</a:t>
            </a:r>
          </a:p>
        </p:txBody>
      </p:sp>
      <p:pic>
        <p:nvPicPr>
          <p:cNvPr id="8" name="Picture 7" descr="fig2_illumination.png"/>
          <p:cNvPicPr>
            <a:picLocks noChangeAspect="1"/>
          </p:cNvPicPr>
          <p:nvPr/>
        </p:nvPicPr>
        <p:blipFill>
          <a:blip r:embed="rId2"/>
          <a:stretch>
            <a:fillRect/>
          </a:stretch>
        </p:blipFill>
        <p:spPr>
          <a:xfrm>
            <a:off x="457200" y="960120"/>
            <a:ext cx="11274552" cy="3063240"/>
          </a:xfrm>
          <a:prstGeom prst="rect">
            <a:avLst/>
          </a:prstGeom>
        </p:spPr>
      </p:pic>
      <p:sp>
        <p:nvSpPr>
          <p:cNvPr id="9" name="Rectangle 8"/>
          <p:cNvSpPr/>
          <p:nvPr/>
        </p:nvSpPr>
        <p:spPr>
          <a:xfrm>
            <a:off x="457200" y="4096512"/>
            <a:ext cx="11274552" cy="256032"/>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142232"/>
            <a:ext cx="11064240" cy="201168"/>
          </a:xfrm>
          <a:prstGeom prst="rect">
            <a:avLst/>
          </a:prstGeom>
          <a:noFill/>
        </p:spPr>
        <p:txBody>
          <a:bodyPr wrap="square">
            <a:spAutoFit/>
          </a:bodyPr>
          <a:lstStyle/>
          <a:p>
            <a:pPr algn="l"/>
            <a:r>
              <a:rPr sz="850" b="1" i="0">
                <a:solidFill>
                  <a:srgbClr val="147D77"/>
                </a:solidFill>
                <a:latin typeface="Calibri"/>
              </a:rPr>
              <a:t>TAKEAWAY:  Same surface. Same geometry. Different sun. Appearance changes dramatically — direct feature matching collapses without physics conditioning.</a:t>
            </a:r>
          </a:p>
        </p:txBody>
      </p:sp>
      <p:sp>
        <p:nvSpPr>
          <p:cNvPr id="11" name="Rectangle 10"/>
          <p:cNvSpPr/>
          <p:nvPr/>
        </p:nvSpPr>
        <p:spPr>
          <a:xfrm>
            <a:off x="457200" y="4443984"/>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62272"/>
            <a:ext cx="11137392" cy="201168"/>
          </a:xfrm>
          <a:prstGeom prst="rect">
            <a:avLst/>
          </a:prstGeom>
          <a:noFill/>
        </p:spPr>
        <p:txBody>
          <a:bodyPr wrap="square">
            <a:spAutoFit/>
          </a:bodyPr>
          <a:lstStyle/>
          <a:p>
            <a:pPr algn="l"/>
            <a:r>
              <a:rPr sz="800" b="1" i="0">
                <a:solidFill>
                  <a:srgbClr val="FFFFFF"/>
                </a:solidFill>
                <a:latin typeface="Calibri"/>
              </a:rPr>
              <a:t>PHYSICAL ROOT CAUSES  /  LUNA-CORR DESIGN RESPONSES  /  WHAT WE MEASURE</a:t>
            </a:r>
          </a:p>
        </p:txBody>
      </p:sp>
      <p:sp>
        <p:nvSpPr>
          <p:cNvPr id="13" name="Rectangle 12"/>
          <p:cNvSpPr/>
          <p:nvPr/>
        </p:nvSpPr>
        <p:spPr>
          <a:xfrm>
            <a:off x="45720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690872"/>
            <a:ext cx="3520440" cy="182880"/>
          </a:xfrm>
          <a:prstGeom prst="rect">
            <a:avLst/>
          </a:prstGeom>
          <a:noFill/>
        </p:spPr>
        <p:txBody>
          <a:bodyPr wrap="square">
            <a:spAutoFit/>
          </a:bodyPr>
          <a:lstStyle/>
          <a:p>
            <a:pPr algn="l"/>
            <a:r>
              <a:rPr sz="850" b="1" i="0">
                <a:solidFill>
                  <a:srgbClr val="147D77"/>
                </a:solidFill>
                <a:latin typeface="Calibri"/>
              </a:rPr>
              <a:t>FOUR PHYSICAL CAUSES</a:t>
            </a:r>
          </a:p>
        </p:txBody>
      </p:sp>
      <p:sp>
        <p:nvSpPr>
          <p:cNvPr id="15" name="TextBox 14"/>
          <p:cNvSpPr txBox="1"/>
          <p:nvPr/>
        </p:nvSpPr>
        <p:spPr>
          <a:xfrm>
            <a:off x="566928" y="4901184"/>
            <a:ext cx="3474720" cy="347472"/>
          </a:xfrm>
          <a:prstGeom prst="rect">
            <a:avLst/>
          </a:prstGeom>
          <a:noFill/>
        </p:spPr>
        <p:txBody>
          <a:bodyPr wrap="square">
            <a:spAutoFit/>
          </a:bodyPr>
          <a:lstStyle/>
          <a:p>
            <a:pPr algn="l"/>
            <a:r>
              <a:rPr sz="819" b="0" i="0">
                <a:solidFill>
                  <a:srgbClr val="1A2B35"/>
                </a:solidFill>
                <a:latin typeface="Calibri"/>
              </a:rPr>
              <a:t>▸  Brightness Inversion: Surface slopes flip illumination when sun vector reverses.</a:t>
            </a:r>
          </a:p>
        </p:txBody>
      </p:sp>
      <p:sp>
        <p:nvSpPr>
          <p:cNvPr id="16" name="TextBox 15"/>
          <p:cNvSpPr txBox="1"/>
          <p:nvPr/>
        </p:nvSpPr>
        <p:spPr>
          <a:xfrm>
            <a:off x="566928" y="5266944"/>
            <a:ext cx="3474720" cy="347472"/>
          </a:xfrm>
          <a:prstGeom prst="rect">
            <a:avLst/>
          </a:prstGeom>
          <a:noFill/>
        </p:spPr>
        <p:txBody>
          <a:bodyPr wrap="square">
            <a:spAutoFit/>
          </a:bodyPr>
          <a:lstStyle/>
          <a:p>
            <a:pPr algn="l"/>
            <a:r>
              <a:rPr sz="819" b="0" i="0">
                <a:solidFill>
                  <a:srgbClr val="1A2B35"/>
                </a:solidFill>
                <a:latin typeface="Calibri"/>
              </a:rPr>
              <a:t>▸  Shadow Migration: Shadow boundaries move across terrain; they are not fixed tie-points.</a:t>
            </a:r>
          </a:p>
        </p:txBody>
      </p:sp>
      <p:sp>
        <p:nvSpPr>
          <p:cNvPr id="17" name="TextBox 16"/>
          <p:cNvSpPr txBox="1"/>
          <p:nvPr/>
        </p:nvSpPr>
        <p:spPr>
          <a:xfrm>
            <a:off x="566928" y="5632704"/>
            <a:ext cx="3474720" cy="347472"/>
          </a:xfrm>
          <a:prstGeom prst="rect">
            <a:avLst/>
          </a:prstGeom>
          <a:noFill/>
        </p:spPr>
        <p:txBody>
          <a:bodyPr wrap="square">
            <a:spAutoFit/>
          </a:bodyPr>
          <a:lstStyle/>
          <a:p>
            <a:pPr algn="l"/>
            <a:r>
              <a:rPr sz="819" b="0" i="0">
                <a:solidFill>
                  <a:srgbClr val="1A2B35"/>
                </a:solidFill>
                <a:latin typeface="Calibri"/>
              </a:rPr>
              <a:t>▸  Relief Parallax: 3D crater terrain creates localized non-rigid displacements.</a:t>
            </a:r>
          </a:p>
        </p:txBody>
      </p:sp>
      <p:sp>
        <p:nvSpPr>
          <p:cNvPr id="18" name="TextBox 17"/>
          <p:cNvSpPr txBox="1"/>
          <p:nvPr/>
        </p:nvSpPr>
        <p:spPr>
          <a:xfrm>
            <a:off x="566928" y="5998464"/>
            <a:ext cx="3474720" cy="347472"/>
          </a:xfrm>
          <a:prstGeom prst="rect">
            <a:avLst/>
          </a:prstGeom>
          <a:noFill/>
        </p:spPr>
        <p:txBody>
          <a:bodyPr wrap="square">
            <a:spAutoFit/>
          </a:bodyPr>
          <a:lstStyle/>
          <a:p>
            <a:pPr algn="l"/>
            <a:r>
              <a:rPr sz="819" b="0" i="0">
                <a:solidFill>
                  <a:srgbClr val="1A2B35"/>
                </a:solidFill>
                <a:latin typeface="Calibri"/>
              </a:rPr>
              <a:t>▸  Texture-Poor Mare: Basalt plains have low contrast and sparse natural keypoints.</a:t>
            </a:r>
          </a:p>
        </p:txBody>
      </p:sp>
      <p:sp>
        <p:nvSpPr>
          <p:cNvPr id="19" name="Rectangle 18"/>
          <p:cNvSpPr/>
          <p:nvPr/>
        </p:nvSpPr>
        <p:spPr>
          <a:xfrm>
            <a:off x="425196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4690872"/>
            <a:ext cx="3520440" cy="182880"/>
          </a:xfrm>
          <a:prstGeom prst="rect">
            <a:avLst/>
          </a:prstGeom>
          <a:noFill/>
        </p:spPr>
        <p:txBody>
          <a:bodyPr wrap="square">
            <a:spAutoFit/>
          </a:bodyPr>
          <a:lstStyle/>
          <a:p>
            <a:pPr algn="l"/>
            <a:r>
              <a:rPr sz="850" b="1" i="0">
                <a:solidFill>
                  <a:srgbClr val="147D77"/>
                </a:solidFill>
                <a:latin typeface="Calibri"/>
              </a:rPr>
              <a:t>FOUR LUNA-CORR RESPONSES</a:t>
            </a:r>
          </a:p>
        </p:txBody>
      </p:sp>
      <p:sp>
        <p:nvSpPr>
          <p:cNvPr id="21" name="TextBox 20"/>
          <p:cNvSpPr txBox="1"/>
          <p:nvPr/>
        </p:nvSpPr>
        <p:spPr>
          <a:xfrm>
            <a:off x="4361688" y="4901184"/>
            <a:ext cx="3474720" cy="347472"/>
          </a:xfrm>
          <a:prstGeom prst="rect">
            <a:avLst/>
          </a:prstGeom>
          <a:noFill/>
        </p:spPr>
        <p:txBody>
          <a:bodyPr wrap="square">
            <a:spAutoFit/>
          </a:bodyPr>
          <a:lstStyle/>
          <a:p>
            <a:pPr algn="l"/>
            <a:r>
              <a:rPr sz="819" b="0" i="0">
                <a:solidFill>
                  <a:srgbClr val="1A2B35"/>
                </a:solidFill>
                <a:latin typeface="Calibri"/>
              </a:rPr>
              <a:t>▸  LCN Normalization (Core E2E) / Mode C (Physics Branch): LCN normalizes dynamic range; branch simulates DEM at target sun angle.</a:t>
            </a:r>
          </a:p>
        </p:txBody>
      </p:sp>
      <p:sp>
        <p:nvSpPr>
          <p:cNvPr id="22" name="TextBox 21"/>
          <p:cNvSpPr txBox="1"/>
          <p:nvPr/>
        </p:nvSpPr>
        <p:spPr>
          <a:xfrm>
            <a:off x="4361688" y="5266944"/>
            <a:ext cx="3474720" cy="347472"/>
          </a:xfrm>
          <a:prstGeom prst="rect">
            <a:avLst/>
          </a:prstGeom>
          <a:noFill/>
        </p:spPr>
        <p:txBody>
          <a:bodyPr wrap="square">
            <a:spAutoFit/>
          </a:bodyPr>
          <a:lstStyle/>
          <a:p>
            <a:pPr algn="l"/>
            <a:r>
              <a:rPr sz="819" b="0" i="0">
                <a:solidFill>
                  <a:srgbClr val="1A2B35"/>
                </a:solidFill>
                <a:latin typeface="Calibri"/>
              </a:rPr>
              <a:t>▸  MAGSAC++ &amp; Spatial Quotas: Rejects geometrically inconsistent matches; promotes uniform coverage.</a:t>
            </a:r>
          </a:p>
        </p:txBody>
      </p:sp>
      <p:sp>
        <p:nvSpPr>
          <p:cNvPr id="23" name="TextBox 22"/>
          <p:cNvSpPr txBox="1"/>
          <p:nvPr/>
        </p:nvSpPr>
        <p:spPr>
          <a:xfrm>
            <a:off x="4361688" y="5632704"/>
            <a:ext cx="3474720" cy="347472"/>
          </a:xfrm>
          <a:prstGeom prst="rect">
            <a:avLst/>
          </a:prstGeom>
          <a:noFill/>
        </p:spPr>
        <p:txBody>
          <a:bodyPr wrap="square">
            <a:spAutoFit/>
          </a:bodyPr>
          <a:lstStyle/>
          <a:p>
            <a:pPr algn="l"/>
            <a:r>
              <a:rPr sz="819" b="0" i="0">
                <a:solidFill>
                  <a:srgbClr val="1A2B35"/>
                </a:solidFill>
                <a:latin typeface="Calibri"/>
              </a:rPr>
              <a:t>▸  Adaptive Relief TPS: Spatial autocorrelation (S_relief &gt; 0.20) triggers elastic deformation.</a:t>
            </a:r>
          </a:p>
        </p:txBody>
      </p:sp>
      <p:sp>
        <p:nvSpPr>
          <p:cNvPr id="24" name="TextBox 23"/>
          <p:cNvSpPr txBox="1"/>
          <p:nvPr/>
        </p:nvSpPr>
        <p:spPr>
          <a:xfrm>
            <a:off x="4361688" y="5998464"/>
            <a:ext cx="3474720" cy="347472"/>
          </a:xfrm>
          <a:prstGeom prst="rect">
            <a:avLst/>
          </a:prstGeom>
          <a:noFill/>
        </p:spPr>
        <p:txBody>
          <a:bodyPr wrap="square">
            <a:spAutoFit/>
          </a:bodyPr>
          <a:lstStyle/>
          <a:p>
            <a:pPr algn="l"/>
            <a:r>
              <a:rPr sz="819" b="0" i="0">
                <a:solidFill>
                  <a:srgbClr val="1A2B35"/>
                </a:solidFill>
                <a:latin typeface="Calibri"/>
              </a:rPr>
              <a:t>▸  Fail-Safe Abstention: Reason-coded rejection prevents acceptance of low-confidence registrations.</a:t>
            </a:r>
          </a:p>
        </p:txBody>
      </p:sp>
      <p:sp>
        <p:nvSpPr>
          <p:cNvPr id="25" name="Rectangle 24"/>
          <p:cNvSpPr/>
          <p:nvPr/>
        </p:nvSpPr>
        <p:spPr>
          <a:xfrm>
            <a:off x="804672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690872"/>
            <a:ext cx="3520440" cy="182880"/>
          </a:xfrm>
          <a:prstGeom prst="rect">
            <a:avLst/>
          </a:prstGeom>
          <a:noFill/>
        </p:spPr>
        <p:txBody>
          <a:bodyPr wrap="square">
            <a:spAutoFit/>
          </a:bodyPr>
          <a:lstStyle/>
          <a:p>
            <a:pPr algn="l"/>
            <a:r>
              <a:rPr sz="850" b="1" i="0">
                <a:solidFill>
                  <a:srgbClr val="147D77"/>
                </a:solidFill>
                <a:latin typeface="Calibri"/>
              </a:rPr>
              <a:t>WHAT WE MEASURE &amp; VALIDATE</a:t>
            </a:r>
          </a:p>
        </p:txBody>
      </p:sp>
      <p:sp>
        <p:nvSpPr>
          <p:cNvPr id="27" name="TextBox 26"/>
          <p:cNvSpPr txBox="1"/>
          <p:nvPr/>
        </p:nvSpPr>
        <p:spPr>
          <a:xfrm>
            <a:off x="8156448" y="4901184"/>
            <a:ext cx="3474720" cy="347472"/>
          </a:xfrm>
          <a:prstGeom prst="rect">
            <a:avLst/>
          </a:prstGeom>
          <a:noFill/>
        </p:spPr>
        <p:txBody>
          <a:bodyPr wrap="square">
            <a:spAutoFit/>
          </a:bodyPr>
          <a:lstStyle/>
          <a:p>
            <a:pPr algn="l"/>
            <a:r>
              <a:rPr sz="819" b="0" i="0">
                <a:solidFill>
                  <a:srgbClr val="1A2B35"/>
                </a:solidFill>
                <a:latin typeface="Calibri"/>
              </a:rPr>
              <a:t>▸  Held-out Correspondences: Withheld evaluation points (independent geodetic GT: pending).</a:t>
            </a:r>
          </a:p>
        </p:txBody>
      </p:sp>
      <p:sp>
        <p:nvSpPr>
          <p:cNvPr id="28" name="TextBox 27"/>
          <p:cNvSpPr txBox="1"/>
          <p:nvPr/>
        </p:nvSpPr>
        <p:spPr>
          <a:xfrm>
            <a:off x="8156448" y="5266944"/>
            <a:ext cx="3474720" cy="347472"/>
          </a:xfrm>
          <a:prstGeom prst="rect">
            <a:avLst/>
          </a:prstGeom>
          <a:noFill/>
        </p:spPr>
        <p:txBody>
          <a:bodyPr wrap="square">
            <a:spAutoFit/>
          </a:bodyPr>
          <a:lstStyle/>
          <a:p>
            <a:pPr algn="l"/>
            <a:r>
              <a:rPr sz="819" b="0" i="0">
                <a:solidFill>
                  <a:srgbClr val="1A2B35"/>
                </a:solidFill>
                <a:latin typeface="Calibri"/>
              </a:rPr>
              <a:t>▸  Controlled Photometric Consistency: Measured under matched synthetic re-illumination.</a:t>
            </a:r>
          </a:p>
        </p:txBody>
      </p:sp>
      <p:sp>
        <p:nvSpPr>
          <p:cNvPr id="29" name="TextBox 28"/>
          <p:cNvSpPr txBox="1"/>
          <p:nvPr/>
        </p:nvSpPr>
        <p:spPr>
          <a:xfrm>
            <a:off x="8156448" y="5632704"/>
            <a:ext cx="3474720" cy="347472"/>
          </a:xfrm>
          <a:prstGeom prst="rect">
            <a:avLst/>
          </a:prstGeom>
          <a:noFill/>
        </p:spPr>
        <p:txBody>
          <a:bodyPr wrap="square">
            <a:spAutoFit/>
          </a:bodyPr>
          <a:lstStyle/>
          <a:p>
            <a:pPr algn="l"/>
            <a:r>
              <a:rPr sz="819" b="0" i="0">
                <a:solidFill>
                  <a:srgbClr val="1A2B35"/>
                </a:solidFill>
                <a:latin typeface="Calibri"/>
              </a:rPr>
              <a:t>▸  Uniform Spatial Coverage: Occupied bin ratio across an 8×8 spatial grid.</a:t>
            </a:r>
          </a:p>
        </p:txBody>
      </p:sp>
      <p:sp>
        <p:nvSpPr>
          <p:cNvPr id="30" name="TextBox 29"/>
          <p:cNvSpPr txBox="1"/>
          <p:nvPr/>
        </p:nvSpPr>
        <p:spPr>
          <a:xfrm>
            <a:off x="8156448" y="5998464"/>
            <a:ext cx="3474720" cy="347472"/>
          </a:xfrm>
          <a:prstGeom prst="rect">
            <a:avLst/>
          </a:prstGeom>
          <a:noFill/>
        </p:spPr>
        <p:txBody>
          <a:bodyPr wrap="square">
            <a:spAutoFit/>
          </a:bodyPr>
          <a:lstStyle/>
          <a:p>
            <a:pPr algn="l"/>
            <a:r>
              <a:rPr sz="819" b="0" i="0">
                <a:solidFill>
                  <a:srgbClr val="1A2B35"/>
                </a:solidFill>
                <a:latin typeface="Calibri"/>
              </a:rPr>
              <a:t>▸  Disjoint Safe Failure: Tested disjoint pair rejected without accepted registration.</a:t>
            </a:r>
          </a:p>
        </p:txBody>
      </p:sp>
      <p:sp>
        <p:nvSpPr>
          <p:cNvPr id="31" name="Rectangle 3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SYSTEM ARCHITECTURE AND CORE INNOVATION</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03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594360"/>
          </a:xfrm>
          <a:prstGeom prst="rect">
            <a:avLst/>
          </a:prstGeom>
          <a:solidFill>
            <a:srgbClr val="F4F6F8"/>
          </a:solidFill>
          <a:ln w="1016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86384"/>
            <a:ext cx="11064240" cy="164592"/>
          </a:xfrm>
          <a:prstGeom prst="rect">
            <a:avLst/>
          </a:prstGeom>
          <a:noFill/>
        </p:spPr>
        <p:txBody>
          <a:bodyPr wrap="square">
            <a:spAutoFit/>
          </a:bodyPr>
          <a:lstStyle/>
          <a:p>
            <a:pPr algn="l"/>
            <a:r>
              <a:rPr sz="850" b="1" i="0">
                <a:solidFill>
                  <a:srgbClr val="147D77"/>
                </a:solidFill>
                <a:latin typeface="Calibri"/>
              </a:rPr>
              <a:t>WHAT IS NEW IN LUNA-CORR (OUR CONTRIBUTION):</a:t>
            </a:r>
          </a:p>
        </p:txBody>
      </p:sp>
      <p:sp>
        <p:nvSpPr>
          <p:cNvPr id="8" name="TextBox 7"/>
          <p:cNvSpPr txBox="1"/>
          <p:nvPr/>
        </p:nvSpPr>
        <p:spPr>
          <a:xfrm>
            <a:off x="548640" y="950976"/>
            <a:ext cx="11064240" cy="201168"/>
          </a:xfrm>
          <a:prstGeom prst="rect">
            <a:avLst/>
          </a:prstGeom>
          <a:noFill/>
        </p:spPr>
        <p:txBody>
          <a:bodyPr wrap="square">
            <a:spAutoFit/>
          </a:bodyPr>
          <a:lstStyle/>
          <a:p>
            <a:pPr algn="l"/>
            <a:r>
              <a:rPr sz="1100" b="1" i="0">
                <a:solidFill>
                  <a:srgbClr val="1A2B35"/>
                </a:solidFill>
                <a:latin typeface="Calibri"/>
              </a:rPr>
              <a:t>Physics-conditioned appearance + robust correspondence + adaptive geometric model selection + explicit abstention.</a:t>
            </a:r>
          </a:p>
        </p:txBody>
      </p:sp>
      <p:sp>
        <p:nvSpPr>
          <p:cNvPr id="9" name="TextBox 8"/>
          <p:cNvSpPr txBox="1"/>
          <p:nvPr/>
        </p:nvSpPr>
        <p:spPr>
          <a:xfrm>
            <a:off x="548640" y="1143000"/>
            <a:ext cx="11064240" cy="182880"/>
          </a:xfrm>
          <a:prstGeom prst="rect">
            <a:avLst/>
          </a:prstGeom>
          <a:noFill/>
        </p:spPr>
        <p:txBody>
          <a:bodyPr wrap="square">
            <a:spAutoFit/>
          </a:bodyPr>
          <a:lstStyle/>
          <a:p>
            <a:pPr algn="l"/>
            <a:r>
              <a:rPr sz="819" b="0" i="1">
                <a:solidFill>
                  <a:srgbClr val="6B7E88"/>
                </a:solidFill>
                <a:latin typeface="Calibri"/>
              </a:rPr>
              <a:t>Instead of forcing one static matcher and one geometry model across all lunar conditions, the system conditions representation on solar geometry, selects deformation based on residual relief coherence, and abstains when evidence is insufficient.</a:t>
            </a:r>
          </a:p>
        </p:txBody>
      </p:sp>
      <p:sp>
        <p:nvSpPr>
          <p:cNvPr id="10" name="Rectangle 9"/>
          <p:cNvSpPr/>
          <p:nvPr/>
        </p:nvSpPr>
        <p:spPr>
          <a:xfrm>
            <a:off x="457200" y="1408176"/>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26464"/>
            <a:ext cx="11137392" cy="201168"/>
          </a:xfrm>
          <a:prstGeom prst="rect">
            <a:avLst/>
          </a:prstGeom>
          <a:noFill/>
        </p:spPr>
        <p:txBody>
          <a:bodyPr wrap="square">
            <a:spAutoFit/>
          </a:bodyPr>
          <a:lstStyle/>
          <a:p>
            <a:pPr algn="l"/>
            <a:r>
              <a:rPr sz="800" b="1" i="0">
                <a:solidFill>
                  <a:srgbClr val="FFFFFF"/>
                </a:solidFill>
                <a:latin typeface="Calibri"/>
              </a:rPr>
              <a:t>CORE 8-STAGE E2E PIPELINE FLOW  /  EXPERIMENTAL PHYSICS BRANCH</a:t>
            </a:r>
          </a:p>
        </p:txBody>
      </p:sp>
      <p:sp>
        <p:nvSpPr>
          <p:cNvPr id="12" name="Rectangle 11"/>
          <p:cNvSpPr/>
          <p:nvPr/>
        </p:nvSpPr>
        <p:spPr>
          <a:xfrm>
            <a:off x="45720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1645920"/>
            <a:ext cx="1280160" cy="164592"/>
          </a:xfrm>
          <a:prstGeom prst="rect">
            <a:avLst/>
          </a:prstGeom>
          <a:noFill/>
        </p:spPr>
        <p:txBody>
          <a:bodyPr wrap="square">
            <a:spAutoFit/>
          </a:bodyPr>
          <a:lstStyle/>
          <a:p>
            <a:pPr algn="ctr"/>
            <a:r>
              <a:rPr sz="750" b="1" i="0">
                <a:solidFill>
                  <a:srgbClr val="FFFFFF"/>
                </a:solidFill>
                <a:latin typeface="Calibri"/>
              </a:rPr>
              <a:t>01 INGEST</a:t>
            </a:r>
          </a:p>
        </p:txBody>
      </p:sp>
      <p:sp>
        <p:nvSpPr>
          <p:cNvPr id="15" name="TextBox 14"/>
          <p:cNvSpPr txBox="1"/>
          <p:nvPr/>
        </p:nvSpPr>
        <p:spPr>
          <a:xfrm>
            <a:off x="502920" y="1865376"/>
            <a:ext cx="1261872" cy="502920"/>
          </a:xfrm>
          <a:prstGeom prst="rect">
            <a:avLst/>
          </a:prstGeom>
          <a:noFill/>
        </p:spPr>
        <p:txBody>
          <a:bodyPr wrap="square">
            <a:spAutoFit/>
          </a:bodyPr>
          <a:lstStyle/>
          <a:p>
            <a:pPr algn="ctr"/>
            <a:r>
              <a:rPr sz="780" b="0" i="0">
                <a:solidFill>
                  <a:srgbClr val="1A2B35"/>
                </a:solidFill>
                <a:latin typeface="Calibri"/>
              </a:rPr>
              <a:t>PDS4 label, array &amp; SPICE grid parsing</a:t>
            </a:r>
          </a:p>
        </p:txBody>
      </p:sp>
      <p:sp>
        <p:nvSpPr>
          <p:cNvPr id="16" name="Rectangle 15"/>
          <p:cNvSpPr/>
          <p:nvPr/>
        </p:nvSpPr>
        <p:spPr>
          <a:xfrm>
            <a:off x="1874519" y="1627632"/>
            <a:ext cx="1353312" cy="777240"/>
          </a:xfrm>
          <a:prstGeom prst="rect">
            <a:avLst/>
          </a:prstGeom>
          <a:solidFill>
            <a:srgbClr val="F4F6F8"/>
          </a:solidFill>
          <a:ln w="1016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7451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11095" y="1645920"/>
            <a:ext cx="1280160" cy="164592"/>
          </a:xfrm>
          <a:prstGeom prst="rect">
            <a:avLst/>
          </a:prstGeom>
          <a:noFill/>
        </p:spPr>
        <p:txBody>
          <a:bodyPr wrap="square">
            <a:spAutoFit/>
          </a:bodyPr>
          <a:lstStyle/>
          <a:p>
            <a:pPr algn="ctr"/>
            <a:r>
              <a:rPr sz="750" b="1" i="0">
                <a:solidFill>
                  <a:srgbClr val="FFFFFF"/>
                </a:solidFill>
                <a:latin typeface="Calibri"/>
              </a:rPr>
              <a:t>02 APPEARANCE</a:t>
            </a:r>
          </a:p>
        </p:txBody>
      </p:sp>
      <p:sp>
        <p:nvSpPr>
          <p:cNvPr id="19" name="TextBox 18"/>
          <p:cNvSpPr txBox="1"/>
          <p:nvPr/>
        </p:nvSpPr>
        <p:spPr>
          <a:xfrm>
            <a:off x="1911095" y="1847088"/>
            <a:ext cx="1280160" cy="530352"/>
          </a:xfrm>
          <a:prstGeom prst="rect">
            <a:avLst/>
          </a:prstGeom>
          <a:noFill/>
        </p:spPr>
        <p:txBody>
          <a:bodyPr wrap="square">
            <a:spAutoFit/>
          </a:bodyPr>
          <a:lstStyle/>
          <a:p>
            <a:pPr algn="ctr"/>
            <a:r>
              <a:rPr sz="680" b="0" i="0">
                <a:solidFill>
                  <a:srgbClr val="1A2B35"/>
                </a:solidFill>
                <a:latin typeface="Calibri"/>
              </a:rPr>
              <a:t>LCN Normalization (Core)
─────────────────
Branch: Mode C DEM
(Physics branch)</a:t>
            </a:r>
          </a:p>
        </p:txBody>
      </p:sp>
      <p:sp>
        <p:nvSpPr>
          <p:cNvPr id="20" name="Rectangle 19"/>
          <p:cNvSpPr/>
          <p:nvPr/>
        </p:nvSpPr>
        <p:spPr>
          <a:xfrm>
            <a:off x="329183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9183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28415" y="1645920"/>
            <a:ext cx="1280160" cy="164592"/>
          </a:xfrm>
          <a:prstGeom prst="rect">
            <a:avLst/>
          </a:prstGeom>
          <a:noFill/>
        </p:spPr>
        <p:txBody>
          <a:bodyPr wrap="square">
            <a:spAutoFit/>
          </a:bodyPr>
          <a:lstStyle/>
          <a:p>
            <a:pPr algn="ctr"/>
            <a:r>
              <a:rPr sz="750" b="1" i="0">
                <a:solidFill>
                  <a:srgbClr val="FFFFFF"/>
                </a:solidFill>
                <a:latin typeface="Calibri"/>
              </a:rPr>
              <a:t>03 MATCH</a:t>
            </a:r>
          </a:p>
        </p:txBody>
      </p:sp>
      <p:sp>
        <p:nvSpPr>
          <p:cNvPr id="23" name="TextBox 22"/>
          <p:cNvSpPr txBox="1"/>
          <p:nvPr/>
        </p:nvSpPr>
        <p:spPr>
          <a:xfrm>
            <a:off x="3337559" y="1865376"/>
            <a:ext cx="1261872" cy="502920"/>
          </a:xfrm>
          <a:prstGeom prst="rect">
            <a:avLst/>
          </a:prstGeom>
          <a:noFill/>
        </p:spPr>
        <p:txBody>
          <a:bodyPr wrap="square">
            <a:spAutoFit/>
          </a:bodyPr>
          <a:lstStyle/>
          <a:p>
            <a:pPr algn="ctr"/>
            <a:r>
              <a:rPr sz="780" b="0" i="0">
                <a:solidFill>
                  <a:srgbClr val="1A2B35"/>
                </a:solidFill>
                <a:latin typeface="Calibri"/>
              </a:rPr>
              <a:t>Tiled coarse-to-fine RootSIFT matching</a:t>
            </a:r>
          </a:p>
        </p:txBody>
      </p:sp>
      <p:sp>
        <p:nvSpPr>
          <p:cNvPr id="24" name="Rectangle 23"/>
          <p:cNvSpPr/>
          <p:nvPr/>
        </p:nvSpPr>
        <p:spPr>
          <a:xfrm>
            <a:off x="470915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0915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45736" y="1645920"/>
            <a:ext cx="1280160" cy="164592"/>
          </a:xfrm>
          <a:prstGeom prst="rect">
            <a:avLst/>
          </a:prstGeom>
          <a:noFill/>
        </p:spPr>
        <p:txBody>
          <a:bodyPr wrap="square">
            <a:spAutoFit/>
          </a:bodyPr>
          <a:lstStyle/>
          <a:p>
            <a:pPr algn="ctr"/>
            <a:r>
              <a:rPr sz="750" b="1" i="0">
                <a:solidFill>
                  <a:srgbClr val="FFFFFF"/>
                </a:solidFill>
                <a:latin typeface="Calibri"/>
              </a:rPr>
              <a:t>04 GEOMETRY</a:t>
            </a:r>
          </a:p>
        </p:txBody>
      </p:sp>
      <p:sp>
        <p:nvSpPr>
          <p:cNvPr id="27" name="TextBox 26"/>
          <p:cNvSpPr txBox="1"/>
          <p:nvPr/>
        </p:nvSpPr>
        <p:spPr>
          <a:xfrm>
            <a:off x="4754879" y="1865376"/>
            <a:ext cx="1261872" cy="502920"/>
          </a:xfrm>
          <a:prstGeom prst="rect">
            <a:avLst/>
          </a:prstGeom>
          <a:noFill/>
        </p:spPr>
        <p:txBody>
          <a:bodyPr wrap="square">
            <a:spAutoFit/>
          </a:bodyPr>
          <a:lstStyle/>
          <a:p>
            <a:pPr algn="ctr"/>
            <a:r>
              <a:rPr sz="780" b="0" i="0">
                <a:solidFill>
                  <a:srgbClr val="1A2B35"/>
                </a:solidFill>
                <a:latin typeface="Calibri"/>
              </a:rPr>
              <a:t>MAGSAC++ robust initial projective fit</a:t>
            </a:r>
          </a:p>
        </p:txBody>
      </p:sp>
      <p:sp>
        <p:nvSpPr>
          <p:cNvPr id="28" name="Rectangle 27"/>
          <p:cNvSpPr/>
          <p:nvPr/>
        </p:nvSpPr>
        <p:spPr>
          <a:xfrm>
            <a:off x="612647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5" y="1645920"/>
            <a:ext cx="1280160" cy="164592"/>
          </a:xfrm>
          <a:prstGeom prst="rect">
            <a:avLst/>
          </a:prstGeom>
          <a:noFill/>
        </p:spPr>
        <p:txBody>
          <a:bodyPr wrap="square">
            <a:spAutoFit/>
          </a:bodyPr>
          <a:lstStyle/>
          <a:p>
            <a:pPr algn="ctr"/>
            <a:r>
              <a:rPr sz="750" b="1" i="0">
                <a:solidFill>
                  <a:srgbClr val="FFFFFF"/>
                </a:solidFill>
                <a:latin typeface="Calibri"/>
              </a:rPr>
              <a:t>05 SPATIAL QC</a:t>
            </a:r>
          </a:p>
        </p:txBody>
      </p:sp>
      <p:sp>
        <p:nvSpPr>
          <p:cNvPr id="31" name="TextBox 30"/>
          <p:cNvSpPr txBox="1"/>
          <p:nvPr/>
        </p:nvSpPr>
        <p:spPr>
          <a:xfrm>
            <a:off x="6172199" y="1865376"/>
            <a:ext cx="1261872" cy="502920"/>
          </a:xfrm>
          <a:prstGeom prst="rect">
            <a:avLst/>
          </a:prstGeom>
          <a:noFill/>
        </p:spPr>
        <p:txBody>
          <a:bodyPr wrap="square">
            <a:spAutoFit/>
          </a:bodyPr>
          <a:lstStyle/>
          <a:p>
            <a:pPr algn="ctr"/>
            <a:r>
              <a:rPr sz="780" b="0" i="0">
                <a:solidFill>
                  <a:srgbClr val="1A2B35"/>
                </a:solidFill>
                <a:latin typeface="Calibri"/>
              </a:rPr>
              <a:t>Soft-utility quotas promote uniform spread</a:t>
            </a:r>
          </a:p>
        </p:txBody>
      </p:sp>
      <p:sp>
        <p:nvSpPr>
          <p:cNvPr id="32" name="Rectangle 31"/>
          <p:cNvSpPr/>
          <p:nvPr/>
        </p:nvSpPr>
        <p:spPr>
          <a:xfrm>
            <a:off x="754380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4380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0375" y="1645920"/>
            <a:ext cx="1280160" cy="164592"/>
          </a:xfrm>
          <a:prstGeom prst="rect">
            <a:avLst/>
          </a:prstGeom>
          <a:noFill/>
        </p:spPr>
        <p:txBody>
          <a:bodyPr wrap="square">
            <a:spAutoFit/>
          </a:bodyPr>
          <a:lstStyle/>
          <a:p>
            <a:pPr algn="ctr"/>
            <a:r>
              <a:rPr sz="750" b="1" i="0">
                <a:solidFill>
                  <a:srgbClr val="FFFFFF"/>
                </a:solidFill>
                <a:latin typeface="Calibri"/>
              </a:rPr>
              <a:t>06 SUB-PIXEL</a:t>
            </a:r>
          </a:p>
        </p:txBody>
      </p:sp>
      <p:sp>
        <p:nvSpPr>
          <p:cNvPr id="35" name="TextBox 34"/>
          <p:cNvSpPr txBox="1"/>
          <p:nvPr/>
        </p:nvSpPr>
        <p:spPr>
          <a:xfrm>
            <a:off x="7589520" y="1865376"/>
            <a:ext cx="1261872" cy="502920"/>
          </a:xfrm>
          <a:prstGeom prst="rect">
            <a:avLst/>
          </a:prstGeom>
          <a:noFill/>
        </p:spPr>
        <p:txBody>
          <a:bodyPr wrap="square">
            <a:spAutoFit/>
          </a:bodyPr>
          <a:lstStyle/>
          <a:p>
            <a:pPr algn="ctr"/>
            <a:r>
              <a:rPr sz="780" b="0" i="0">
                <a:solidFill>
                  <a:srgbClr val="1A2B35"/>
                </a:solidFill>
                <a:latin typeface="Calibri"/>
              </a:rPr>
              <a:t>Phase-correlation peak interpolation</a:t>
            </a:r>
          </a:p>
        </p:txBody>
      </p:sp>
      <p:sp>
        <p:nvSpPr>
          <p:cNvPr id="36" name="Rectangle 35"/>
          <p:cNvSpPr/>
          <p:nvPr/>
        </p:nvSpPr>
        <p:spPr>
          <a:xfrm>
            <a:off x="896112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112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97696" y="1645920"/>
            <a:ext cx="1280160" cy="164592"/>
          </a:xfrm>
          <a:prstGeom prst="rect">
            <a:avLst/>
          </a:prstGeom>
          <a:noFill/>
        </p:spPr>
        <p:txBody>
          <a:bodyPr wrap="square">
            <a:spAutoFit/>
          </a:bodyPr>
          <a:lstStyle/>
          <a:p>
            <a:pPr algn="ctr"/>
            <a:r>
              <a:rPr sz="750" b="1" i="0">
                <a:solidFill>
                  <a:srgbClr val="FFFFFF"/>
                </a:solidFill>
                <a:latin typeface="Calibri"/>
              </a:rPr>
              <a:t>07 RELIEF GATE</a:t>
            </a:r>
          </a:p>
        </p:txBody>
      </p:sp>
      <p:sp>
        <p:nvSpPr>
          <p:cNvPr id="39" name="TextBox 38"/>
          <p:cNvSpPr txBox="1"/>
          <p:nvPr/>
        </p:nvSpPr>
        <p:spPr>
          <a:xfrm>
            <a:off x="9006840" y="1865376"/>
            <a:ext cx="1261872" cy="502920"/>
          </a:xfrm>
          <a:prstGeom prst="rect">
            <a:avLst/>
          </a:prstGeom>
          <a:noFill/>
        </p:spPr>
        <p:txBody>
          <a:bodyPr wrap="square">
            <a:spAutoFit/>
          </a:bodyPr>
          <a:lstStyle/>
          <a:p>
            <a:pPr algn="ctr"/>
            <a:r>
              <a:rPr sz="780" b="0" i="0">
                <a:solidFill>
                  <a:srgbClr val="1A2B35"/>
                </a:solidFill>
                <a:latin typeface="Calibri"/>
              </a:rPr>
              <a:t>S_relief &gt; 0.20 AND P95 &gt;= 1.5 px → TPS</a:t>
            </a:r>
          </a:p>
        </p:txBody>
      </p:sp>
      <p:sp>
        <p:nvSpPr>
          <p:cNvPr id="40" name="Rectangle 39"/>
          <p:cNvSpPr/>
          <p:nvPr/>
        </p:nvSpPr>
        <p:spPr>
          <a:xfrm>
            <a:off x="1037844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37844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15016" y="1645920"/>
            <a:ext cx="1280160" cy="164592"/>
          </a:xfrm>
          <a:prstGeom prst="rect">
            <a:avLst/>
          </a:prstGeom>
          <a:noFill/>
        </p:spPr>
        <p:txBody>
          <a:bodyPr wrap="square">
            <a:spAutoFit/>
          </a:bodyPr>
          <a:lstStyle/>
          <a:p>
            <a:pPr algn="ctr"/>
            <a:r>
              <a:rPr sz="750" b="1" i="0">
                <a:solidFill>
                  <a:srgbClr val="FFFFFF"/>
                </a:solidFill>
                <a:latin typeface="Calibri"/>
              </a:rPr>
              <a:t>08 DECISION</a:t>
            </a:r>
          </a:p>
        </p:txBody>
      </p:sp>
      <p:sp>
        <p:nvSpPr>
          <p:cNvPr id="43" name="TextBox 42"/>
          <p:cNvSpPr txBox="1"/>
          <p:nvPr/>
        </p:nvSpPr>
        <p:spPr>
          <a:xfrm>
            <a:off x="10424160" y="1865376"/>
            <a:ext cx="1261872" cy="502920"/>
          </a:xfrm>
          <a:prstGeom prst="rect">
            <a:avLst/>
          </a:prstGeom>
          <a:noFill/>
        </p:spPr>
        <p:txBody>
          <a:bodyPr wrap="square">
            <a:spAutoFit/>
          </a:bodyPr>
          <a:lstStyle/>
          <a:p>
            <a:pPr algn="ctr"/>
            <a:r>
              <a:rPr sz="780" b="0" i="0">
                <a:solidFill>
                  <a:srgbClr val="1A2B35"/>
                </a:solidFill>
                <a:latin typeface="Calibri"/>
              </a:rPr>
              <a:t>Accept with metrics or reason-coded ABSTAIN</a:t>
            </a:r>
          </a:p>
        </p:txBody>
      </p:sp>
      <p:sp>
        <p:nvSpPr>
          <p:cNvPr id="44" name="Rectangle 43"/>
          <p:cNvSpPr/>
          <p:nvPr/>
        </p:nvSpPr>
        <p:spPr>
          <a:xfrm>
            <a:off x="457200" y="2468880"/>
            <a:ext cx="612648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2487168"/>
            <a:ext cx="5989320" cy="201168"/>
          </a:xfrm>
          <a:prstGeom prst="rect">
            <a:avLst/>
          </a:prstGeom>
          <a:noFill/>
        </p:spPr>
        <p:txBody>
          <a:bodyPr wrap="square">
            <a:spAutoFit/>
          </a:bodyPr>
          <a:lstStyle/>
          <a:p>
            <a:pPr algn="l"/>
            <a:r>
              <a:rPr sz="800" b="1" i="0">
                <a:solidFill>
                  <a:srgbClr val="FFFFFF"/>
                </a:solidFill>
                <a:latin typeface="Calibri"/>
              </a:rPr>
              <a:t>TMC-2 STEREO CO-REGISTRATION  /  CHECKERBOARD QUALITY CHECK</a:t>
            </a:r>
          </a:p>
        </p:txBody>
      </p:sp>
      <p:pic>
        <p:nvPicPr>
          <p:cNvPr id="46" name="Picture 45" descr="fig3_checkerboard.png"/>
          <p:cNvPicPr>
            <a:picLocks noChangeAspect="1"/>
          </p:cNvPicPr>
          <p:nvPr/>
        </p:nvPicPr>
        <p:blipFill>
          <a:blip r:embed="rId2"/>
          <a:stretch>
            <a:fillRect/>
          </a:stretch>
        </p:blipFill>
        <p:spPr>
          <a:xfrm>
            <a:off x="457200" y="2688336"/>
            <a:ext cx="6126480" cy="2633472"/>
          </a:xfrm>
          <a:prstGeom prst="rect">
            <a:avLst/>
          </a:prstGeom>
        </p:spPr>
      </p:pic>
      <p:sp>
        <p:nvSpPr>
          <p:cNvPr id="47" name="Rectangle 46"/>
          <p:cNvSpPr/>
          <p:nvPr/>
        </p:nvSpPr>
        <p:spPr>
          <a:xfrm>
            <a:off x="457200" y="5358384"/>
            <a:ext cx="6126480" cy="475488"/>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394960"/>
            <a:ext cx="5943600" cy="164592"/>
          </a:xfrm>
          <a:prstGeom prst="rect">
            <a:avLst/>
          </a:prstGeom>
          <a:noFill/>
        </p:spPr>
        <p:txBody>
          <a:bodyPr wrap="square">
            <a:spAutoFit/>
          </a:bodyPr>
          <a:lstStyle/>
          <a:p>
            <a:pPr algn="l"/>
            <a:r>
              <a:rPr sz="850" b="1" i="0">
                <a:solidFill>
                  <a:srgbClr val="2E9E6E"/>
                </a:solidFill>
                <a:latin typeface="Calibri"/>
              </a:rPr>
              <a:t>TMC-2 STEREO — 660 INLIERS — ACCEPTED (EXP-TMC-E2E):</a:t>
            </a:r>
          </a:p>
        </p:txBody>
      </p:sp>
      <p:sp>
        <p:nvSpPr>
          <p:cNvPr id="49" name="TextBox 48"/>
          <p:cNvSpPr txBox="1"/>
          <p:nvPr/>
        </p:nvSpPr>
        <p:spPr>
          <a:xfrm>
            <a:off x="548640" y="5577840"/>
            <a:ext cx="5943600" cy="201168"/>
          </a:xfrm>
          <a:prstGeom prst="rect">
            <a:avLst/>
          </a:prstGeom>
          <a:noFill/>
        </p:spPr>
        <p:txBody>
          <a:bodyPr wrap="square">
            <a:spAutoFit/>
          </a:bodyPr>
          <a:lstStyle/>
          <a:p>
            <a:pPr algn="l"/>
            <a:r>
              <a:rPr sz="819" b="0" i="0">
                <a:solidFill>
                  <a:srgbClr val="1A2B35"/>
                </a:solidFill>
                <a:latin typeface="Calibri"/>
              </a:rPr>
              <a:t>Held-out RMSE: 1.073 px (fitting: 0.647 px, N=297)  |  EXP-TMC-FIXED (N=150): 1.606 → 0.836 px (47.9% gain)</a:t>
            </a:r>
          </a:p>
        </p:txBody>
      </p:sp>
      <p:sp>
        <p:nvSpPr>
          <p:cNvPr id="50" name="Rectangle 49"/>
          <p:cNvSpPr/>
          <p:nvPr/>
        </p:nvSpPr>
        <p:spPr>
          <a:xfrm>
            <a:off x="6766560" y="2468880"/>
            <a:ext cx="496519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0" y="2487168"/>
            <a:ext cx="4828031" cy="201168"/>
          </a:xfrm>
          <a:prstGeom prst="rect">
            <a:avLst/>
          </a:prstGeom>
          <a:noFill/>
        </p:spPr>
        <p:txBody>
          <a:bodyPr wrap="square">
            <a:spAutoFit/>
          </a:bodyPr>
          <a:lstStyle/>
          <a:p>
            <a:pPr algn="l"/>
            <a:r>
              <a:rPr sz="800" b="1" i="0">
                <a:solidFill>
                  <a:srgbClr val="FFFFFF"/>
                </a:solidFill>
                <a:latin typeface="Calibri"/>
              </a:rPr>
              <a:t>INPUT DATA PROVENANCE</a:t>
            </a:r>
          </a:p>
        </p:txBody>
      </p:sp>
      <p:sp>
        <p:nvSpPr>
          <p:cNvPr id="52" name="Rectangle 51"/>
          <p:cNvSpPr/>
          <p:nvPr/>
        </p:nvSpPr>
        <p:spPr>
          <a:xfrm>
            <a:off x="6766560" y="2688336"/>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0" y="2724912"/>
            <a:ext cx="1463040" cy="201168"/>
          </a:xfrm>
          <a:prstGeom prst="rect">
            <a:avLst/>
          </a:prstGeom>
          <a:noFill/>
        </p:spPr>
        <p:txBody>
          <a:bodyPr wrap="square">
            <a:spAutoFit/>
          </a:bodyPr>
          <a:lstStyle/>
          <a:p>
            <a:pPr algn="l"/>
            <a:r>
              <a:rPr sz="800" b="1" i="0">
                <a:solidFill>
                  <a:srgbClr val="147D77"/>
                </a:solidFill>
                <a:latin typeface="Calibri"/>
              </a:rPr>
              <a:t>OHRC (~0.25 m)</a:t>
            </a:r>
          </a:p>
        </p:txBody>
      </p:sp>
      <p:sp>
        <p:nvSpPr>
          <p:cNvPr id="54" name="TextBox 53"/>
          <p:cNvSpPr txBox="1"/>
          <p:nvPr/>
        </p:nvSpPr>
        <p:spPr>
          <a:xfrm>
            <a:off x="8366760" y="2724912"/>
            <a:ext cx="3291840" cy="201168"/>
          </a:xfrm>
          <a:prstGeom prst="rect">
            <a:avLst/>
          </a:prstGeom>
          <a:noFill/>
        </p:spPr>
        <p:txBody>
          <a:bodyPr wrap="square">
            <a:spAutoFit/>
          </a:bodyPr>
          <a:lstStyle/>
          <a:p>
            <a:pPr algn="l"/>
            <a:r>
              <a:rPr sz="800" b="0" i="0">
                <a:solidFill>
                  <a:srgbClr val="1A2B35"/>
                </a:solidFill>
                <a:latin typeface="Calibri"/>
              </a:rPr>
              <a:t>Panchromatic camera, PRADAN archive, science calibrated.</a:t>
            </a:r>
          </a:p>
        </p:txBody>
      </p:sp>
      <p:sp>
        <p:nvSpPr>
          <p:cNvPr id="55" name="Rectangle 54"/>
          <p:cNvSpPr/>
          <p:nvPr/>
        </p:nvSpPr>
        <p:spPr>
          <a:xfrm>
            <a:off x="6766560" y="3017520"/>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0" y="3054096"/>
            <a:ext cx="1463040" cy="201168"/>
          </a:xfrm>
          <a:prstGeom prst="rect">
            <a:avLst/>
          </a:prstGeom>
          <a:noFill/>
        </p:spPr>
        <p:txBody>
          <a:bodyPr wrap="square">
            <a:spAutoFit/>
          </a:bodyPr>
          <a:lstStyle/>
          <a:p>
            <a:pPr algn="l"/>
            <a:r>
              <a:rPr sz="800" b="1" i="0">
                <a:solidFill>
                  <a:srgbClr val="147D77"/>
                </a:solidFill>
                <a:latin typeface="Calibri"/>
              </a:rPr>
              <a:t>TMC-2 (~5 m)</a:t>
            </a:r>
          </a:p>
        </p:txBody>
      </p:sp>
      <p:sp>
        <p:nvSpPr>
          <p:cNvPr id="57" name="TextBox 56"/>
          <p:cNvSpPr txBox="1"/>
          <p:nvPr/>
        </p:nvSpPr>
        <p:spPr>
          <a:xfrm>
            <a:off x="8366760" y="3054096"/>
            <a:ext cx="3291840" cy="201168"/>
          </a:xfrm>
          <a:prstGeom prst="rect">
            <a:avLst/>
          </a:prstGeom>
          <a:noFill/>
        </p:spPr>
        <p:txBody>
          <a:bodyPr wrap="square">
            <a:spAutoFit/>
          </a:bodyPr>
          <a:lstStyle/>
          <a:p>
            <a:pPr algn="l"/>
            <a:r>
              <a:rPr sz="800" b="0" i="0">
                <a:solidFill>
                  <a:srgbClr val="1A2B35"/>
                </a:solidFill>
                <a:latin typeface="Calibri"/>
              </a:rPr>
              <a:t>Stereo triplet (fore, nadir, aft), PRADAN archive.</a:t>
            </a:r>
          </a:p>
        </p:txBody>
      </p:sp>
      <p:sp>
        <p:nvSpPr>
          <p:cNvPr id="58" name="Rectangle 57"/>
          <p:cNvSpPr/>
          <p:nvPr/>
        </p:nvSpPr>
        <p:spPr>
          <a:xfrm>
            <a:off x="6766560" y="3346703"/>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0" y="3383279"/>
            <a:ext cx="1463040" cy="201168"/>
          </a:xfrm>
          <a:prstGeom prst="rect">
            <a:avLst/>
          </a:prstGeom>
          <a:noFill/>
        </p:spPr>
        <p:txBody>
          <a:bodyPr wrap="square">
            <a:spAutoFit/>
          </a:bodyPr>
          <a:lstStyle/>
          <a:p>
            <a:pPr algn="l"/>
            <a:r>
              <a:rPr sz="800" b="1" i="0">
                <a:solidFill>
                  <a:srgbClr val="147D77"/>
                </a:solidFill>
                <a:latin typeface="Calibri"/>
              </a:rPr>
              <a:t>IIRS (~80 m)</a:t>
            </a:r>
          </a:p>
        </p:txBody>
      </p:sp>
      <p:sp>
        <p:nvSpPr>
          <p:cNvPr id="60" name="TextBox 59"/>
          <p:cNvSpPr txBox="1"/>
          <p:nvPr/>
        </p:nvSpPr>
        <p:spPr>
          <a:xfrm>
            <a:off x="8366760" y="3383279"/>
            <a:ext cx="3291840" cy="201168"/>
          </a:xfrm>
          <a:prstGeom prst="rect">
            <a:avLst/>
          </a:prstGeom>
          <a:noFill/>
        </p:spPr>
        <p:txBody>
          <a:bodyPr wrap="square">
            <a:spAutoFit/>
          </a:bodyPr>
          <a:lstStyle/>
          <a:p>
            <a:pPr algn="l"/>
            <a:r>
              <a:rPr sz="800" b="0" i="0">
                <a:solidFill>
                  <a:srgbClr val="1A2B35"/>
                </a:solidFill>
                <a:latin typeface="Calibri"/>
              </a:rPr>
              <a:t>Hyperspectral (256 bands), 320× nominal GSD gap vs OHRC.</a:t>
            </a:r>
          </a:p>
        </p:txBody>
      </p:sp>
      <p:sp>
        <p:nvSpPr>
          <p:cNvPr id="61" name="Rectangle 60"/>
          <p:cNvSpPr/>
          <p:nvPr/>
        </p:nvSpPr>
        <p:spPr>
          <a:xfrm>
            <a:off x="6766560" y="3675887"/>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58000" y="3712463"/>
            <a:ext cx="1463040" cy="201168"/>
          </a:xfrm>
          <a:prstGeom prst="rect">
            <a:avLst/>
          </a:prstGeom>
          <a:noFill/>
        </p:spPr>
        <p:txBody>
          <a:bodyPr wrap="square">
            <a:spAutoFit/>
          </a:bodyPr>
          <a:lstStyle/>
          <a:p>
            <a:pPr algn="l"/>
            <a:r>
              <a:rPr sz="800" b="1" i="0">
                <a:solidFill>
                  <a:srgbClr val="147D77"/>
                </a:solidFill>
                <a:latin typeface="Calibri"/>
              </a:rPr>
              <a:t>LOLA DEM</a:t>
            </a:r>
          </a:p>
        </p:txBody>
      </p:sp>
      <p:sp>
        <p:nvSpPr>
          <p:cNvPr id="63" name="TextBox 62"/>
          <p:cNvSpPr txBox="1"/>
          <p:nvPr/>
        </p:nvSpPr>
        <p:spPr>
          <a:xfrm>
            <a:off x="8366760" y="3712463"/>
            <a:ext cx="3291840" cy="201168"/>
          </a:xfrm>
          <a:prstGeom prst="rect">
            <a:avLst/>
          </a:prstGeom>
          <a:noFill/>
        </p:spPr>
        <p:txBody>
          <a:bodyPr wrap="square">
            <a:spAutoFit/>
          </a:bodyPr>
          <a:lstStyle/>
          <a:p>
            <a:pPr algn="l"/>
            <a:r>
              <a:rPr sz="800" b="0" i="0">
                <a:solidFill>
                  <a:srgbClr val="1A2B35"/>
                </a:solidFill>
                <a:latin typeface="Calibri"/>
              </a:rPr>
              <a:t>South Pole DEM (~1 km GSD) from NASA USGS archive.</a:t>
            </a:r>
          </a:p>
        </p:txBody>
      </p:sp>
      <p:sp>
        <p:nvSpPr>
          <p:cNvPr id="64" name="Rectangle 63"/>
          <p:cNvSpPr/>
          <p:nvPr/>
        </p:nvSpPr>
        <p:spPr>
          <a:xfrm>
            <a:off x="6766560" y="4078224"/>
            <a:ext cx="496519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58000" y="4096511"/>
            <a:ext cx="4828031" cy="201168"/>
          </a:xfrm>
          <a:prstGeom prst="rect">
            <a:avLst/>
          </a:prstGeom>
          <a:noFill/>
        </p:spPr>
        <p:txBody>
          <a:bodyPr wrap="square">
            <a:spAutoFit/>
          </a:bodyPr>
          <a:lstStyle/>
          <a:p>
            <a:pPr algn="l"/>
            <a:r>
              <a:rPr sz="800" b="1" i="0">
                <a:solidFill>
                  <a:srgbClr val="FFFFFF"/>
                </a:solidFill>
                <a:latin typeface="Calibri"/>
              </a:rPr>
              <a:t>DELIVERABLE SPECIFICATION</a:t>
            </a:r>
          </a:p>
        </p:txBody>
      </p:sp>
      <p:sp>
        <p:nvSpPr>
          <p:cNvPr id="66" name="Rectangle 65"/>
          <p:cNvSpPr/>
          <p:nvPr/>
        </p:nvSpPr>
        <p:spPr>
          <a:xfrm>
            <a:off x="6766560" y="4297680"/>
            <a:ext cx="4965192" cy="64008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858000" y="4334256"/>
            <a:ext cx="4782312" cy="164592"/>
          </a:xfrm>
          <a:prstGeom prst="rect">
            <a:avLst/>
          </a:prstGeom>
          <a:noFill/>
        </p:spPr>
        <p:txBody>
          <a:bodyPr wrap="square">
            <a:spAutoFit/>
          </a:bodyPr>
          <a:lstStyle/>
          <a:p>
            <a:pPr algn="l"/>
            <a:r>
              <a:rPr sz="850" b="1" i="0">
                <a:solidFill>
                  <a:srgbClr val="147D77"/>
                </a:solidFill>
                <a:latin typeface="Calibri"/>
              </a:rPr>
              <a:t>CORE OUTPUTS:</a:t>
            </a:r>
          </a:p>
        </p:txBody>
      </p:sp>
      <p:sp>
        <p:nvSpPr>
          <p:cNvPr id="68" name="TextBox 67"/>
          <p:cNvSpPr txBox="1"/>
          <p:nvPr/>
        </p:nvSpPr>
        <p:spPr>
          <a:xfrm>
            <a:off x="6858000" y="4517136"/>
            <a:ext cx="4782312" cy="402336"/>
          </a:xfrm>
          <a:prstGeom prst="rect">
            <a:avLst/>
          </a:prstGeom>
          <a:noFill/>
        </p:spPr>
        <p:txBody>
          <a:bodyPr wrap="square">
            <a:spAutoFit/>
          </a:bodyPr>
          <a:lstStyle/>
          <a:p>
            <a:pPr algn="l"/>
            <a:r>
              <a:rPr sz="800" b="0" i="0">
                <a:solidFill>
                  <a:srgbClr val="1A2B35"/>
                </a:solidFill>
                <a:latin typeface="Calibri"/>
              </a:rPr>
              <a:t>• Registered raster aligned to reference coordinate grid (registered_image.tif)
• Tie-points CSV + result.json (transform, inlier count, coverage, held-out RMSE, reason codes)
• Operator QC diagnostic checkerboard overlay (checkerboard_overlay.png)</a:t>
            </a:r>
          </a:p>
        </p:txBody>
      </p:sp>
      <p:sp>
        <p:nvSpPr>
          <p:cNvPr id="69" name="Rectangle 68"/>
          <p:cNvSpPr/>
          <p:nvPr/>
        </p:nvSpPr>
        <p:spPr>
          <a:xfrm>
            <a:off x="6766560" y="5010912"/>
            <a:ext cx="4965192" cy="585216"/>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58000" y="5047488"/>
            <a:ext cx="4782312" cy="164592"/>
          </a:xfrm>
          <a:prstGeom prst="rect">
            <a:avLst/>
          </a:prstGeom>
          <a:noFill/>
        </p:spPr>
        <p:txBody>
          <a:bodyPr wrap="square">
            <a:spAutoFit/>
          </a:bodyPr>
          <a:lstStyle/>
          <a:p>
            <a:pPr algn="l"/>
            <a:r>
              <a:rPr sz="850" b="1" i="0">
                <a:solidFill>
                  <a:srgbClr val="147D77"/>
                </a:solidFill>
                <a:latin typeface="Calibri"/>
              </a:rPr>
              <a:t>SOFTWARE REPRODUCIBILITY DELIVERABLES:</a:t>
            </a:r>
          </a:p>
        </p:txBody>
      </p:sp>
      <p:sp>
        <p:nvSpPr>
          <p:cNvPr id="71" name="TextBox 70"/>
          <p:cNvSpPr txBox="1"/>
          <p:nvPr/>
        </p:nvSpPr>
        <p:spPr>
          <a:xfrm>
            <a:off x="6858000" y="5230368"/>
            <a:ext cx="4782312" cy="329184"/>
          </a:xfrm>
          <a:prstGeom prst="rect">
            <a:avLst/>
          </a:prstGeom>
          <a:noFill/>
        </p:spPr>
        <p:txBody>
          <a:bodyPr wrap="square">
            <a:spAutoFit/>
          </a:bodyPr>
          <a:lstStyle/>
          <a:p>
            <a:pPr algn="l"/>
            <a:r>
              <a:rPr sz="800" b="0" i="0">
                <a:solidFill>
                  <a:srgbClr val="1A2B35"/>
                </a:solidFill>
                <a:latin typeface="Calibri"/>
              </a:rPr>
              <a:t>• Packaged Python CLI (lunacorr/) + automated pytest test suite (15 passed)
• Dockerfile containerization specification + BENCHMARK_MANIFEST.md</a:t>
            </a:r>
          </a:p>
        </p:txBody>
      </p:sp>
      <p:sp>
        <p:nvSpPr>
          <p:cNvPr id="72" name="Rectangle 71"/>
          <p:cNvSpPr/>
          <p:nvPr/>
        </p:nvSpPr>
        <p:spPr>
          <a:xfrm>
            <a:off x="457200" y="5925312"/>
            <a:ext cx="11274552" cy="219456"/>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5952744"/>
            <a:ext cx="11064240" cy="182880"/>
          </a:xfrm>
          <a:prstGeom prst="rect">
            <a:avLst/>
          </a:prstGeom>
          <a:noFill/>
        </p:spPr>
        <p:txBody>
          <a:bodyPr wrap="square">
            <a:spAutoFit/>
          </a:bodyPr>
          <a:lstStyle/>
          <a:p>
            <a:pPr algn="l"/>
            <a:r>
              <a:rPr sz="800" b="0" i="1">
                <a:solidFill>
                  <a:srgbClr val="6B7E88"/>
                </a:solidFill>
                <a:latin typeface="Calibri"/>
              </a:rPr>
              <a:t>PROVENANCE DISCIPLINE: All benchmark seeds, split definitions, and thresholds frozen before execution. Content-hashes tracked.</a:t>
            </a:r>
          </a:p>
        </p:txBody>
      </p:sp>
      <p:sp>
        <p:nvSpPr>
          <p:cNvPr id="74" name="Rectangle 73"/>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EXPERIMENTAL EVIDENCE (BENCHMARK MEASUREMENTS)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04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13232"/>
            <a:ext cx="11274552" cy="201168"/>
          </a:xfrm>
          <a:prstGeom prst="rect">
            <a:avLst/>
          </a:prstGeom>
          <a:solidFill>
            <a:srgbClr val="E8F5EE"/>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31520"/>
            <a:ext cx="11064240" cy="182880"/>
          </a:xfrm>
          <a:prstGeom prst="rect">
            <a:avLst/>
          </a:prstGeom>
          <a:noFill/>
        </p:spPr>
        <p:txBody>
          <a:bodyPr wrap="square">
            <a:spAutoFit/>
          </a:bodyPr>
          <a:lstStyle/>
          <a:p>
            <a:pPr algn="l"/>
            <a:r>
              <a:rPr sz="850" b="1" i="0">
                <a:solidFill>
                  <a:srgbClr val="2E9E6E"/>
                </a:solidFill>
                <a:latin typeface="Calibri"/>
              </a:rPr>
              <a:t>ALL REPORTED VALUES FROM EXECUTABLE BENCHMARK RUNS · Grounded in BENCHMARK_MANIFEST.md with explicit Experiment IDs.</a:t>
            </a:r>
          </a:p>
        </p:txBody>
      </p:sp>
      <p:sp>
        <p:nvSpPr>
          <p:cNvPr id="8" name="Rectangle 7"/>
          <p:cNvSpPr/>
          <p:nvPr/>
        </p:nvSpPr>
        <p:spPr>
          <a:xfrm>
            <a:off x="457200" y="960120"/>
            <a:ext cx="60350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978408"/>
            <a:ext cx="5897879" cy="201168"/>
          </a:xfrm>
          <a:prstGeom prst="rect">
            <a:avLst/>
          </a:prstGeom>
          <a:noFill/>
        </p:spPr>
        <p:txBody>
          <a:bodyPr wrap="square">
            <a:spAutoFit/>
          </a:bodyPr>
          <a:lstStyle/>
          <a:p>
            <a:pPr algn="l"/>
            <a:r>
              <a:rPr sz="800" b="1" i="0">
                <a:solidFill>
                  <a:srgbClr val="FFFFFF"/>
                </a:solidFill>
                <a:latin typeface="Calibri"/>
              </a:rPr>
              <a:t>REAL MISSION DATA  /  TMC-2 STEREO ABLATION STUDY (EXP-TMC-FIXED, N=150 FROZEN)</a:t>
            </a:r>
          </a:p>
        </p:txBody>
      </p:sp>
      <p:pic>
        <p:nvPicPr>
          <p:cNvPr id="10" name="Picture 9" descr="fig4_ablation.png"/>
          <p:cNvPicPr>
            <a:picLocks noChangeAspect="1"/>
          </p:cNvPicPr>
          <p:nvPr/>
        </p:nvPicPr>
        <p:blipFill>
          <a:blip r:embed="rId2"/>
          <a:stretch>
            <a:fillRect/>
          </a:stretch>
        </p:blipFill>
        <p:spPr>
          <a:xfrm>
            <a:off x="457200" y="1188720"/>
            <a:ext cx="6035040" cy="2697480"/>
          </a:xfrm>
          <a:prstGeom prst="rect">
            <a:avLst/>
          </a:prstGeom>
        </p:spPr>
      </p:pic>
      <p:sp>
        <p:nvSpPr>
          <p:cNvPr id="11" name="Rectangle 10"/>
          <p:cNvSpPr/>
          <p:nvPr/>
        </p:nvSpPr>
        <p:spPr>
          <a:xfrm>
            <a:off x="457200" y="3977639"/>
            <a:ext cx="6035040" cy="1737360"/>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14215"/>
            <a:ext cx="5852160" cy="164592"/>
          </a:xfrm>
          <a:prstGeom prst="rect">
            <a:avLst/>
          </a:prstGeom>
          <a:noFill/>
        </p:spPr>
        <p:txBody>
          <a:bodyPr wrap="square">
            <a:spAutoFit/>
          </a:bodyPr>
          <a:lstStyle/>
          <a:p>
            <a:pPr algn="l"/>
            <a:r>
              <a:rPr sz="850" b="1" i="0">
                <a:solidFill>
                  <a:srgbClr val="2E9E6E"/>
                </a:solidFill>
                <a:latin typeface="Calibri"/>
              </a:rPr>
              <a:t>RESULT 1A — TMC-2 STEREO FIXED ABLATION (EXP-TMC-FIXED, ZERO LEAKAGE):</a:t>
            </a:r>
          </a:p>
        </p:txBody>
      </p:sp>
      <p:sp>
        <p:nvSpPr>
          <p:cNvPr id="13" name="TextBox 12"/>
          <p:cNvSpPr txBox="1"/>
          <p:nvPr/>
        </p:nvSpPr>
        <p:spPr>
          <a:xfrm>
            <a:off x="548640" y="4206240"/>
            <a:ext cx="5852160" cy="1463040"/>
          </a:xfrm>
          <a:prstGeom prst="rect">
            <a:avLst/>
          </a:prstGeom>
          <a:noFill/>
        </p:spPr>
        <p:txBody>
          <a:bodyPr wrap="square">
            <a:spAutoFit/>
          </a:bodyPr>
          <a:lstStyle/>
          <a:p>
            <a:pPr algn="l"/>
            <a:r>
              <a:rPr sz="819" b="0" i="0">
                <a:solidFill>
                  <a:srgbClr val="1A2B35"/>
                </a:solidFill>
                <a:latin typeface="Calibri"/>
              </a:rPr>
              <a:t>• Frozen Consensus Set: Master N=150 held-out evaluation points frozen with zero leakage.
• 3 px Spatial Exclusion: Training candidates within 3.0 px of test points purged across all stages.
• Significant Accuracy Gain: Held-out RMSE drops from 1.606 px (Stage 3) down to 0.836 px [0.718, 0.973] px (Stage 5 Adaptive TPS) — a 47.9% error reduction (60.5% vs Raw SIFT baseline: 2.119 px).
• Sub-pixel Distribution: Median held-out error is 0.560 px; tail P95 reduced from 3.14 px to 1.54 px.</a:t>
            </a:r>
          </a:p>
        </p:txBody>
      </p:sp>
      <p:sp>
        <p:nvSpPr>
          <p:cNvPr id="14" name="Rectangle 13"/>
          <p:cNvSpPr/>
          <p:nvPr/>
        </p:nvSpPr>
        <p:spPr>
          <a:xfrm>
            <a:off x="457200" y="5779008"/>
            <a:ext cx="6035040" cy="347472"/>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5815584"/>
            <a:ext cx="5852160" cy="274320"/>
          </a:xfrm>
          <a:prstGeom prst="rect">
            <a:avLst/>
          </a:prstGeom>
          <a:noFill/>
        </p:spPr>
        <p:txBody>
          <a:bodyPr wrap="square">
            <a:spAutoFit/>
          </a:bodyPr>
          <a:lstStyle/>
          <a:p>
            <a:pPr algn="l"/>
            <a:r>
              <a:rPr sz="780" b="0" i="1">
                <a:solidFill>
                  <a:srgbClr val="6B7E88"/>
                </a:solidFill>
                <a:latin typeface="Calibri"/>
              </a:rPr>
              <a:t>METHODOLOGY: Operational QualityGate (min_inliers=20) unified with reporting threshold N≥20; 20% held-out test split with zero spatial leakage.</a:t>
            </a:r>
          </a:p>
        </p:txBody>
      </p:sp>
      <p:sp>
        <p:nvSpPr>
          <p:cNvPr id="16" name="Rectangle 15"/>
          <p:cNvSpPr/>
          <p:nvPr/>
        </p:nvSpPr>
        <p:spPr>
          <a:xfrm>
            <a:off x="6675120" y="960120"/>
            <a:ext cx="505663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59" y="978408"/>
            <a:ext cx="4919472" cy="201168"/>
          </a:xfrm>
          <a:prstGeom prst="rect">
            <a:avLst/>
          </a:prstGeom>
          <a:noFill/>
        </p:spPr>
        <p:txBody>
          <a:bodyPr wrap="square">
            <a:spAutoFit/>
          </a:bodyPr>
          <a:lstStyle/>
          <a:p>
            <a:pPr algn="l"/>
            <a:r>
              <a:rPr sz="800" b="1" i="0">
                <a:solidFill>
                  <a:srgbClr val="FFFFFF"/>
                </a:solidFill>
                <a:latin typeface="Calibri"/>
              </a:rPr>
              <a:t>BENCHMARK RESULTS SUMMARY  /  EXECUTABLE CODE RUNS</a:t>
            </a:r>
          </a:p>
        </p:txBody>
      </p:sp>
      <p:sp>
        <p:nvSpPr>
          <p:cNvPr id="18" name="Rectangle 17"/>
          <p:cNvSpPr/>
          <p:nvPr/>
        </p:nvSpPr>
        <p:spPr>
          <a:xfrm>
            <a:off x="6675120" y="1188720"/>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9984" y="1225296"/>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0" name="TextBox 19"/>
          <p:cNvSpPr txBox="1"/>
          <p:nvPr/>
        </p:nvSpPr>
        <p:spPr>
          <a:xfrm>
            <a:off x="6931152" y="1216152"/>
            <a:ext cx="2103120" cy="201168"/>
          </a:xfrm>
          <a:prstGeom prst="rect">
            <a:avLst/>
          </a:prstGeom>
          <a:noFill/>
        </p:spPr>
        <p:txBody>
          <a:bodyPr wrap="square">
            <a:spAutoFit/>
          </a:bodyPr>
          <a:lstStyle/>
          <a:p>
            <a:pPr algn="l"/>
            <a:r>
              <a:rPr sz="800" b="1" i="0">
                <a:solidFill>
                  <a:srgbClr val="1A2B35"/>
                </a:solidFill>
                <a:latin typeface="Calibri"/>
              </a:rPr>
              <a:t>EXP-OHRC-E2E (repeat)</a:t>
            </a:r>
          </a:p>
        </p:txBody>
      </p:sp>
      <p:sp>
        <p:nvSpPr>
          <p:cNvPr id="21" name="TextBox 20"/>
          <p:cNvSpPr txBox="1"/>
          <p:nvPr/>
        </p:nvSpPr>
        <p:spPr>
          <a:xfrm>
            <a:off x="9098280" y="1216152"/>
            <a:ext cx="1783080" cy="201168"/>
          </a:xfrm>
          <a:prstGeom prst="rect">
            <a:avLst/>
          </a:prstGeom>
          <a:noFill/>
        </p:spPr>
        <p:txBody>
          <a:bodyPr wrap="square">
            <a:spAutoFit/>
          </a:bodyPr>
          <a:lstStyle/>
          <a:p>
            <a:pPr algn="l"/>
            <a:r>
              <a:rPr sz="800" b="0" i="0">
                <a:solidFill>
                  <a:srgbClr val="2E9E6E"/>
                </a:solidFill>
                <a:latin typeface="Calibri"/>
              </a:rPr>
              <a:t>0.786 px RMSE (818 inliers)</a:t>
            </a:r>
          </a:p>
        </p:txBody>
      </p:sp>
      <p:sp>
        <p:nvSpPr>
          <p:cNvPr id="22" name="TextBox 21"/>
          <p:cNvSpPr txBox="1"/>
          <p:nvPr/>
        </p:nvSpPr>
        <p:spPr>
          <a:xfrm>
            <a:off x="10927080" y="1216152"/>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23" name="Rectangle 22"/>
          <p:cNvSpPr/>
          <p:nvPr/>
        </p:nvSpPr>
        <p:spPr>
          <a:xfrm>
            <a:off x="6675120" y="1472184"/>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9984" y="1508760"/>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5" name="TextBox 24"/>
          <p:cNvSpPr txBox="1"/>
          <p:nvPr/>
        </p:nvSpPr>
        <p:spPr>
          <a:xfrm>
            <a:off x="6931152" y="1499616"/>
            <a:ext cx="2103120" cy="201168"/>
          </a:xfrm>
          <a:prstGeom prst="rect">
            <a:avLst/>
          </a:prstGeom>
          <a:noFill/>
        </p:spPr>
        <p:txBody>
          <a:bodyPr wrap="square">
            <a:spAutoFit/>
          </a:bodyPr>
          <a:lstStyle/>
          <a:p>
            <a:pPr algn="l"/>
            <a:r>
              <a:rPr sz="800" b="1" i="0">
                <a:solidFill>
                  <a:srgbClr val="1A2B35"/>
                </a:solidFill>
                <a:latin typeface="Calibri"/>
              </a:rPr>
              <a:t>EXP-TMC-E2E (stereo)</a:t>
            </a:r>
          </a:p>
        </p:txBody>
      </p:sp>
      <p:sp>
        <p:nvSpPr>
          <p:cNvPr id="26" name="TextBox 25"/>
          <p:cNvSpPr txBox="1"/>
          <p:nvPr/>
        </p:nvSpPr>
        <p:spPr>
          <a:xfrm>
            <a:off x="9098280" y="1499616"/>
            <a:ext cx="1783080" cy="201168"/>
          </a:xfrm>
          <a:prstGeom prst="rect">
            <a:avLst/>
          </a:prstGeom>
          <a:noFill/>
        </p:spPr>
        <p:txBody>
          <a:bodyPr wrap="square">
            <a:spAutoFit/>
          </a:bodyPr>
          <a:lstStyle/>
          <a:p>
            <a:pPr algn="l"/>
            <a:r>
              <a:rPr sz="800" b="0" i="0">
                <a:solidFill>
                  <a:srgbClr val="2E9E6E"/>
                </a:solidFill>
                <a:latin typeface="Calibri"/>
              </a:rPr>
              <a:t>1.073 px RMSE (660 inliers)</a:t>
            </a:r>
          </a:p>
        </p:txBody>
      </p:sp>
      <p:sp>
        <p:nvSpPr>
          <p:cNvPr id="27" name="TextBox 26"/>
          <p:cNvSpPr txBox="1"/>
          <p:nvPr/>
        </p:nvSpPr>
        <p:spPr>
          <a:xfrm>
            <a:off x="10927080" y="1499616"/>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28" name="Rectangle 27"/>
          <p:cNvSpPr/>
          <p:nvPr/>
        </p:nvSpPr>
        <p:spPr>
          <a:xfrm>
            <a:off x="6675120" y="1755648"/>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29984" y="1792224"/>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0" name="TextBox 29"/>
          <p:cNvSpPr txBox="1"/>
          <p:nvPr/>
        </p:nvSpPr>
        <p:spPr>
          <a:xfrm>
            <a:off x="6931152" y="1783080"/>
            <a:ext cx="2103120" cy="201168"/>
          </a:xfrm>
          <a:prstGeom prst="rect">
            <a:avLst/>
          </a:prstGeom>
          <a:noFill/>
        </p:spPr>
        <p:txBody>
          <a:bodyPr wrap="square">
            <a:spAutoFit/>
          </a:bodyPr>
          <a:lstStyle/>
          <a:p>
            <a:pPr algn="l"/>
            <a:r>
              <a:rPr sz="800" b="1" i="0">
                <a:solidFill>
                  <a:srgbClr val="1A2B35"/>
                </a:solidFill>
                <a:latin typeface="Calibri"/>
              </a:rPr>
              <a:t>EXP-TMC-FIXED (ablation)</a:t>
            </a:r>
          </a:p>
        </p:txBody>
      </p:sp>
      <p:sp>
        <p:nvSpPr>
          <p:cNvPr id="31" name="TextBox 30"/>
          <p:cNvSpPr txBox="1"/>
          <p:nvPr/>
        </p:nvSpPr>
        <p:spPr>
          <a:xfrm>
            <a:off x="9098280" y="1783080"/>
            <a:ext cx="1783080" cy="201168"/>
          </a:xfrm>
          <a:prstGeom prst="rect">
            <a:avLst/>
          </a:prstGeom>
          <a:noFill/>
        </p:spPr>
        <p:txBody>
          <a:bodyPr wrap="square">
            <a:spAutoFit/>
          </a:bodyPr>
          <a:lstStyle/>
          <a:p>
            <a:pPr algn="l"/>
            <a:r>
              <a:rPr sz="800" b="0" i="0">
                <a:solidFill>
                  <a:srgbClr val="2E9E6E"/>
                </a:solidFill>
                <a:latin typeface="Calibri"/>
              </a:rPr>
              <a:t>0.836 px [0.72, 0.97] px</a:t>
            </a:r>
          </a:p>
        </p:txBody>
      </p:sp>
      <p:sp>
        <p:nvSpPr>
          <p:cNvPr id="32" name="TextBox 31"/>
          <p:cNvSpPr txBox="1"/>
          <p:nvPr/>
        </p:nvSpPr>
        <p:spPr>
          <a:xfrm>
            <a:off x="10927080" y="1783080"/>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33" name="Rectangle 32"/>
          <p:cNvSpPr/>
          <p:nvPr/>
        </p:nvSpPr>
        <p:spPr>
          <a:xfrm>
            <a:off x="6675120" y="2039112"/>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9984" y="207568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5" name="TextBox 34"/>
          <p:cNvSpPr txBox="1"/>
          <p:nvPr/>
        </p:nvSpPr>
        <p:spPr>
          <a:xfrm>
            <a:off x="6931152" y="2066543"/>
            <a:ext cx="2103120" cy="201168"/>
          </a:xfrm>
          <a:prstGeom prst="rect">
            <a:avLst/>
          </a:prstGeom>
          <a:noFill/>
        </p:spPr>
        <p:txBody>
          <a:bodyPr wrap="square">
            <a:spAutoFit/>
          </a:bodyPr>
          <a:lstStyle/>
          <a:p>
            <a:pPr algn="l"/>
            <a:r>
              <a:rPr sz="800" b="1" i="0">
                <a:solidFill>
                  <a:srgbClr val="1A2B35"/>
                </a:solidFill>
                <a:latin typeface="Calibri"/>
              </a:rPr>
              <a:t>EXP-NEG-DISJOINT (control)</a:t>
            </a:r>
          </a:p>
        </p:txBody>
      </p:sp>
      <p:sp>
        <p:nvSpPr>
          <p:cNvPr id="36" name="TextBox 35"/>
          <p:cNvSpPr txBox="1"/>
          <p:nvPr/>
        </p:nvSpPr>
        <p:spPr>
          <a:xfrm>
            <a:off x="9098280" y="2066543"/>
            <a:ext cx="1783080" cy="201168"/>
          </a:xfrm>
          <a:prstGeom prst="rect">
            <a:avLst/>
          </a:prstGeom>
          <a:noFill/>
        </p:spPr>
        <p:txBody>
          <a:bodyPr wrap="square">
            <a:spAutoFit/>
          </a:bodyPr>
          <a:lstStyle/>
          <a:p>
            <a:pPr algn="l"/>
            <a:r>
              <a:rPr sz="800" b="0" i="0">
                <a:solidFill>
                  <a:srgbClr val="2E9E6E"/>
                </a:solidFill>
                <a:latin typeface="Calibri"/>
              </a:rPr>
              <a:t>1/1 rejected (fails safely)</a:t>
            </a:r>
          </a:p>
        </p:txBody>
      </p:sp>
      <p:sp>
        <p:nvSpPr>
          <p:cNvPr id="37" name="TextBox 36"/>
          <p:cNvSpPr txBox="1"/>
          <p:nvPr/>
        </p:nvSpPr>
        <p:spPr>
          <a:xfrm>
            <a:off x="10927080" y="2066543"/>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38" name="Rectangle 37"/>
          <p:cNvSpPr/>
          <p:nvPr/>
        </p:nvSpPr>
        <p:spPr>
          <a:xfrm>
            <a:off x="6675120" y="2322576"/>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9984" y="2359152"/>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0" name="TextBox 39"/>
          <p:cNvSpPr txBox="1"/>
          <p:nvPr/>
        </p:nvSpPr>
        <p:spPr>
          <a:xfrm>
            <a:off x="6931152" y="2350008"/>
            <a:ext cx="2103120" cy="201168"/>
          </a:xfrm>
          <a:prstGeom prst="rect">
            <a:avLst/>
          </a:prstGeom>
          <a:noFill/>
        </p:spPr>
        <p:txBody>
          <a:bodyPr wrap="square">
            <a:spAutoFit/>
          </a:bodyPr>
          <a:lstStyle/>
          <a:p>
            <a:pPr algn="l"/>
            <a:r>
              <a:rPr sz="800" b="1" i="0">
                <a:solidFill>
                  <a:srgbClr val="1A2B35"/>
                </a:solidFill>
                <a:latin typeface="Calibri"/>
              </a:rPr>
              <a:t>EXP-IO (pyramid seeker)</a:t>
            </a:r>
          </a:p>
        </p:txBody>
      </p:sp>
      <p:sp>
        <p:nvSpPr>
          <p:cNvPr id="41" name="TextBox 40"/>
          <p:cNvSpPr txBox="1"/>
          <p:nvPr/>
        </p:nvSpPr>
        <p:spPr>
          <a:xfrm>
            <a:off x="9098280" y="2350008"/>
            <a:ext cx="1783080" cy="201168"/>
          </a:xfrm>
          <a:prstGeom prst="rect">
            <a:avLst/>
          </a:prstGeom>
          <a:noFill/>
        </p:spPr>
        <p:txBody>
          <a:bodyPr wrap="square">
            <a:spAutoFit/>
          </a:bodyPr>
          <a:lstStyle/>
          <a:p>
            <a:pPr algn="l"/>
            <a:r>
              <a:rPr sz="800" b="0" i="0">
                <a:solidFill>
                  <a:srgbClr val="2E9E6E"/>
                </a:solidFill>
                <a:latin typeface="Calibri"/>
              </a:rPr>
              <a:t>Median 39.2 ms, p95 55.1 ms</a:t>
            </a:r>
          </a:p>
        </p:txBody>
      </p:sp>
      <p:sp>
        <p:nvSpPr>
          <p:cNvPr id="42" name="TextBox 41"/>
          <p:cNvSpPr txBox="1"/>
          <p:nvPr/>
        </p:nvSpPr>
        <p:spPr>
          <a:xfrm>
            <a:off x="10927080" y="2350008"/>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43" name="Rectangle 42"/>
          <p:cNvSpPr/>
          <p:nvPr/>
        </p:nvSpPr>
        <p:spPr>
          <a:xfrm>
            <a:off x="6675120" y="2606040"/>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29984" y="2642616"/>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45" name="TextBox 44"/>
          <p:cNvSpPr txBox="1"/>
          <p:nvPr/>
        </p:nvSpPr>
        <p:spPr>
          <a:xfrm>
            <a:off x="6931152" y="2633472"/>
            <a:ext cx="2103120" cy="201168"/>
          </a:xfrm>
          <a:prstGeom prst="rect">
            <a:avLst/>
          </a:prstGeom>
          <a:noFill/>
        </p:spPr>
        <p:txBody>
          <a:bodyPr wrap="square">
            <a:spAutoFit/>
          </a:bodyPr>
          <a:lstStyle/>
          <a:p>
            <a:pPr algn="l"/>
            <a:r>
              <a:rPr sz="800" b="1" i="0">
                <a:solidFill>
                  <a:srgbClr val="1A2B35"/>
                </a:solidFill>
                <a:latin typeface="Calibri"/>
              </a:rPr>
              <a:t>EXP-SYN-ILLUM (Mode C)</a:t>
            </a:r>
          </a:p>
        </p:txBody>
      </p:sp>
      <p:sp>
        <p:nvSpPr>
          <p:cNvPr id="46" name="TextBox 45"/>
          <p:cNvSpPr txBox="1"/>
          <p:nvPr/>
        </p:nvSpPr>
        <p:spPr>
          <a:xfrm>
            <a:off x="9098280" y="2633472"/>
            <a:ext cx="1783080" cy="201168"/>
          </a:xfrm>
          <a:prstGeom prst="rect">
            <a:avLst/>
          </a:prstGeom>
          <a:noFill/>
        </p:spPr>
        <p:txBody>
          <a:bodyPr wrap="square">
            <a:spAutoFit/>
          </a:bodyPr>
          <a:lstStyle/>
          <a:p>
            <a:pPr algn="l"/>
            <a:r>
              <a:rPr sz="800" b="0" i="0">
                <a:solidFill>
                  <a:srgbClr val="147D77"/>
                </a:solidFill>
                <a:latin typeface="Calibri"/>
              </a:rPr>
              <a:t>737–1,187 inliers (&gt;99% prec)</a:t>
            </a:r>
          </a:p>
        </p:txBody>
      </p:sp>
      <p:sp>
        <p:nvSpPr>
          <p:cNvPr id="47" name="TextBox 46"/>
          <p:cNvSpPr txBox="1"/>
          <p:nvPr/>
        </p:nvSpPr>
        <p:spPr>
          <a:xfrm>
            <a:off x="10927080" y="2633472"/>
            <a:ext cx="731520" cy="201168"/>
          </a:xfrm>
          <a:prstGeom prst="rect">
            <a:avLst/>
          </a:prstGeom>
          <a:noFill/>
        </p:spPr>
        <p:txBody>
          <a:bodyPr wrap="square">
            <a:spAutoFit/>
          </a:bodyPr>
          <a:lstStyle/>
          <a:p>
            <a:pPr algn="r"/>
            <a:r>
              <a:rPr sz="700" b="0" i="0">
                <a:solidFill>
                  <a:srgbClr val="6B7E88"/>
                </a:solidFill>
                <a:latin typeface="Calibri"/>
              </a:rPr>
              <a:t>[Simulation]</a:t>
            </a:r>
          </a:p>
        </p:txBody>
      </p:sp>
      <p:sp>
        <p:nvSpPr>
          <p:cNvPr id="48" name="Rectangle 47"/>
          <p:cNvSpPr/>
          <p:nvPr/>
        </p:nvSpPr>
        <p:spPr>
          <a:xfrm>
            <a:off x="6675120" y="2889504"/>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29984" y="2926080"/>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50" name="TextBox 49"/>
          <p:cNvSpPr txBox="1"/>
          <p:nvPr/>
        </p:nvSpPr>
        <p:spPr>
          <a:xfrm>
            <a:off x="6931152" y="2916936"/>
            <a:ext cx="2103120" cy="201168"/>
          </a:xfrm>
          <a:prstGeom prst="rect">
            <a:avLst/>
          </a:prstGeom>
          <a:noFill/>
        </p:spPr>
        <p:txBody>
          <a:bodyPr wrap="square">
            <a:spAutoFit/>
          </a:bodyPr>
          <a:lstStyle/>
          <a:p>
            <a:pPr algn="l"/>
            <a:r>
              <a:rPr sz="800" b="1" i="0">
                <a:solidFill>
                  <a:srgbClr val="1A2B35"/>
                </a:solidFill>
                <a:latin typeface="Calibri"/>
              </a:rPr>
              <a:t>Real cross-sensor overlap</a:t>
            </a:r>
          </a:p>
        </p:txBody>
      </p:sp>
      <p:sp>
        <p:nvSpPr>
          <p:cNvPr id="51" name="TextBox 50"/>
          <p:cNvSpPr txBox="1"/>
          <p:nvPr/>
        </p:nvSpPr>
        <p:spPr>
          <a:xfrm>
            <a:off x="9098280" y="2916936"/>
            <a:ext cx="1783080" cy="201168"/>
          </a:xfrm>
          <a:prstGeom prst="rect">
            <a:avLst/>
          </a:prstGeom>
          <a:noFill/>
        </p:spPr>
        <p:txBody>
          <a:bodyPr wrap="square">
            <a:spAutoFit/>
          </a:bodyPr>
          <a:lstStyle/>
          <a:p>
            <a:pPr algn="l"/>
            <a:r>
              <a:rPr sz="800" b="0" i="0">
                <a:solidFill>
                  <a:srgbClr val="C4891E"/>
                </a:solidFill>
                <a:latin typeface="Calibri"/>
              </a:rPr>
              <a:t>Ladder ready; overlap pending</a:t>
            </a:r>
          </a:p>
        </p:txBody>
      </p:sp>
      <p:sp>
        <p:nvSpPr>
          <p:cNvPr id="52" name="TextBox 51"/>
          <p:cNvSpPr txBox="1"/>
          <p:nvPr/>
        </p:nvSpPr>
        <p:spPr>
          <a:xfrm>
            <a:off x="10927080" y="2916936"/>
            <a:ext cx="731520" cy="201168"/>
          </a:xfrm>
          <a:prstGeom prst="rect">
            <a:avLst/>
          </a:prstGeom>
          <a:noFill/>
        </p:spPr>
        <p:txBody>
          <a:bodyPr wrap="square">
            <a:spAutoFit/>
          </a:bodyPr>
          <a:lstStyle/>
          <a:p>
            <a:pPr algn="r"/>
            <a:r>
              <a:rPr sz="700" b="0" i="0">
                <a:solidFill>
                  <a:srgbClr val="6B7E88"/>
                </a:solidFill>
                <a:latin typeface="Calibri"/>
              </a:rPr>
              <a:t>[Roadmap]</a:t>
            </a:r>
          </a:p>
        </p:txBody>
      </p:sp>
      <p:sp>
        <p:nvSpPr>
          <p:cNvPr id="53" name="Rectangle 52"/>
          <p:cNvSpPr/>
          <p:nvPr/>
        </p:nvSpPr>
        <p:spPr>
          <a:xfrm>
            <a:off x="6675120" y="3291840"/>
            <a:ext cx="505663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59" y="3310128"/>
            <a:ext cx="4919472" cy="201168"/>
          </a:xfrm>
          <a:prstGeom prst="rect">
            <a:avLst/>
          </a:prstGeom>
          <a:noFill/>
        </p:spPr>
        <p:txBody>
          <a:bodyPr wrap="square">
            <a:spAutoFit/>
          </a:bodyPr>
          <a:lstStyle/>
          <a:p>
            <a:pPr algn="l"/>
            <a:r>
              <a:rPr sz="800" b="1" i="0">
                <a:solidFill>
                  <a:srgbClr val="FFFFFF"/>
                </a:solidFill>
                <a:latin typeface="Calibri"/>
              </a:rPr>
              <a:t>REAL TMC-2 STEREO PRODUCTION REGISTRATION (EXP-TMC-E2E)</a:t>
            </a:r>
          </a:p>
        </p:txBody>
      </p:sp>
      <p:sp>
        <p:nvSpPr>
          <p:cNvPr id="55" name="Rectangle 54"/>
          <p:cNvSpPr/>
          <p:nvPr/>
        </p:nvSpPr>
        <p:spPr>
          <a:xfrm>
            <a:off x="6675120" y="3511296"/>
            <a:ext cx="5056632" cy="1691640"/>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766560" y="3547872"/>
            <a:ext cx="4873752" cy="164592"/>
          </a:xfrm>
          <a:prstGeom prst="rect">
            <a:avLst/>
          </a:prstGeom>
          <a:noFill/>
        </p:spPr>
        <p:txBody>
          <a:bodyPr wrap="square">
            <a:spAutoFit/>
          </a:bodyPr>
          <a:lstStyle/>
          <a:p>
            <a:pPr algn="l"/>
            <a:r>
              <a:rPr sz="850" b="1" i="0">
                <a:solidFill>
                  <a:srgbClr val="147D77"/>
                </a:solidFill>
                <a:latin typeface="Calibri"/>
              </a:rPr>
              <a:t>AUTONOMOUS PRODUCTION STEREO REGISTRATION (Fore vs Nadir, GSD ~5 m):</a:t>
            </a:r>
          </a:p>
        </p:txBody>
      </p:sp>
      <p:sp>
        <p:nvSpPr>
          <p:cNvPr id="57" name="TextBox 56"/>
          <p:cNvSpPr txBox="1"/>
          <p:nvPr/>
        </p:nvSpPr>
        <p:spPr>
          <a:xfrm>
            <a:off x="6766560" y="3730752"/>
            <a:ext cx="4873752" cy="1417320"/>
          </a:xfrm>
          <a:prstGeom prst="rect">
            <a:avLst/>
          </a:prstGeom>
          <a:noFill/>
        </p:spPr>
        <p:txBody>
          <a:bodyPr wrap="square">
            <a:spAutoFit/>
          </a:bodyPr>
          <a:lstStyle/>
          <a:p>
            <a:pPr algn="l"/>
            <a:r>
              <a:rPr sz="800" b="0" i="0">
                <a:solidFill>
                  <a:srgbClr val="1A2B35"/>
                </a:solidFill>
                <a:latin typeface="Calibri"/>
              </a:rPr>
              <a:t>• Match Yield &amp; Inliers: 660 inliers retained (76.1% ratio) on training partition.
• Spatial Coverage: 81.2% occupied bins across 8×8 grid; empty circle radius = 0.084.
• Autonomous Model Selection: Spatial autocorrelation S_relief = 0.725 &gt; 0.20 and fitting P95 = 1.43 px triggered elastic TPS over planar homography.
• Withheld Test Error (N=297): Held-out RMSE = 1.073 px (fitting: 0.647 px on N=660, median: 0.656 px, P95: 2.072 px).
• Operational Decision: ACCEPTED with Quality Score 0.742 (min_inliers=20 criterion met).</a:t>
            </a:r>
          </a:p>
        </p:txBody>
      </p:sp>
      <p:sp>
        <p:nvSpPr>
          <p:cNvPr id="58" name="Rectangle 57"/>
          <p:cNvSpPr/>
          <p:nvPr/>
        </p:nvSpPr>
        <p:spPr>
          <a:xfrm>
            <a:off x="6675120" y="5266944"/>
            <a:ext cx="505663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766559" y="5285231"/>
            <a:ext cx="4919472" cy="201168"/>
          </a:xfrm>
          <a:prstGeom prst="rect">
            <a:avLst/>
          </a:prstGeom>
          <a:noFill/>
        </p:spPr>
        <p:txBody>
          <a:bodyPr wrap="square">
            <a:spAutoFit/>
          </a:bodyPr>
          <a:lstStyle/>
          <a:p>
            <a:pPr algn="l"/>
            <a:r>
              <a:rPr sz="800" b="1" i="0">
                <a:solidFill>
                  <a:srgbClr val="FFFFFF"/>
                </a:solidFill>
                <a:latin typeface="Calibri"/>
              </a:rPr>
              <a:t>DISJOINT SCENE NEGATIVE CONTROL AUDIT (EXP-NEG-DISJOINT)</a:t>
            </a:r>
          </a:p>
        </p:txBody>
      </p:sp>
      <p:sp>
        <p:nvSpPr>
          <p:cNvPr id="60" name="Rectangle 59"/>
          <p:cNvSpPr/>
          <p:nvPr/>
        </p:nvSpPr>
        <p:spPr>
          <a:xfrm>
            <a:off x="6675120" y="5486400"/>
            <a:ext cx="5056632" cy="640080"/>
          </a:xfrm>
          <a:prstGeom prst="rect">
            <a:avLst/>
          </a:prstGeom>
          <a:solidFill>
            <a:srgbClr val="F0F4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0" y="5541264"/>
            <a:ext cx="4873752" cy="530352"/>
          </a:xfrm>
          <a:prstGeom prst="rect">
            <a:avLst/>
          </a:prstGeom>
          <a:noFill/>
        </p:spPr>
        <p:txBody>
          <a:bodyPr wrap="square">
            <a:spAutoFit/>
          </a:bodyPr>
          <a:lstStyle/>
          <a:p>
            <a:pPr algn="l"/>
            <a:r>
              <a:rPr sz="800" b="0" i="0">
                <a:solidFill>
                  <a:srgbClr val="1A2B35"/>
                </a:solidFill>
                <a:latin typeface="Calibri"/>
              </a:rPr>
              <a:t>• Tested on completely disjoint lunar scenes: South Pole OHRC vs Equatorial TMC-2.
• Result: The tested disjoint pair was rejected without an accepted registration; 5 candidates retained; QualityGate refused alignment with typed codes ['LOW_INLIERS', 'LOW_COVERAGE'].</a:t>
            </a:r>
          </a:p>
        </p:txBody>
      </p:sp>
      <p:sp>
        <p:nvSpPr>
          <p:cNvPr id="62" name="Rectangle 61"/>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CONTROLLED ILLUMINATION AND VALIDATION BOUNDARY</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05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7772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7635240" cy="201168"/>
          </a:xfrm>
          <a:prstGeom prst="rect">
            <a:avLst/>
          </a:prstGeom>
          <a:noFill/>
        </p:spPr>
        <p:txBody>
          <a:bodyPr wrap="square">
            <a:spAutoFit/>
          </a:bodyPr>
          <a:lstStyle/>
          <a:p>
            <a:pPr algn="l"/>
            <a:r>
              <a:rPr sz="800" b="1" i="0">
                <a:solidFill>
                  <a:srgbClr val="FFFFFF"/>
                </a:solidFill>
                <a:latin typeface="Calibri"/>
              </a:rPr>
              <a:t>LOLA-DEM CONTROLLED PHOTOMETRIC NORMALIZATION BENCHMARK (EXP-SYN-ILLUM)</a:t>
            </a:r>
          </a:p>
        </p:txBody>
      </p:sp>
      <p:pic>
        <p:nvPicPr>
          <p:cNvPr id="8" name="Picture 7" descr="fig5_sun_sweep.png"/>
          <p:cNvPicPr>
            <a:picLocks noChangeAspect="1"/>
          </p:cNvPicPr>
          <p:nvPr/>
        </p:nvPicPr>
        <p:blipFill>
          <a:blip r:embed="rId2"/>
          <a:stretch>
            <a:fillRect/>
          </a:stretch>
        </p:blipFill>
        <p:spPr>
          <a:xfrm>
            <a:off x="457200" y="960120"/>
            <a:ext cx="7772400" cy="2971800"/>
          </a:xfrm>
          <a:prstGeom prst="rect">
            <a:avLst/>
          </a:prstGeom>
        </p:spPr>
      </p:pic>
      <p:sp>
        <p:nvSpPr>
          <p:cNvPr id="9" name="Rectangle 8"/>
          <p:cNvSpPr/>
          <p:nvPr/>
        </p:nvSpPr>
        <p:spPr>
          <a:xfrm>
            <a:off x="457200" y="3986784"/>
            <a:ext cx="7772400" cy="27432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32504"/>
            <a:ext cx="7589520" cy="201168"/>
          </a:xfrm>
          <a:prstGeom prst="rect">
            <a:avLst/>
          </a:prstGeom>
          <a:noFill/>
        </p:spPr>
        <p:txBody>
          <a:bodyPr wrap="square">
            <a:spAutoFit/>
          </a:bodyPr>
          <a:lstStyle/>
          <a:p>
            <a:pPr algn="l"/>
            <a:r>
              <a:rPr sz="780" b="0" i="1">
                <a:solidFill>
                  <a:srgbClr val="6B7E88"/>
                </a:solidFill>
                <a:latin typeface="Calibri"/>
              </a:rPr>
              <a:t>CONTROLLED BENCHMARK NOTE: Controlled LOLA-DEM re-illumination validates renderer photometric reconstruction under known geometry; it does NOT substitute for real multi-phase flight validation.</a:t>
            </a:r>
          </a:p>
        </p:txBody>
      </p:sp>
      <p:sp>
        <p:nvSpPr>
          <p:cNvPr id="11" name="Rectangle 10"/>
          <p:cNvSpPr/>
          <p:nvPr/>
        </p:nvSpPr>
        <p:spPr>
          <a:xfrm>
            <a:off x="8458200" y="749808"/>
            <a:ext cx="3520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768096"/>
            <a:ext cx="3383280" cy="201168"/>
          </a:xfrm>
          <a:prstGeom prst="rect">
            <a:avLst/>
          </a:prstGeom>
          <a:noFill/>
        </p:spPr>
        <p:txBody>
          <a:bodyPr wrap="square">
            <a:spAutoFit/>
          </a:bodyPr>
          <a:lstStyle/>
          <a:p>
            <a:pPr algn="l"/>
            <a:r>
              <a:rPr sz="800" b="1" i="0">
                <a:solidFill>
                  <a:srgbClr val="FFFFFF"/>
                </a:solidFill>
                <a:latin typeface="Calibri"/>
              </a:rPr>
              <a:t>VALIDATION BOUNDARY: EVIDENCE STATUS</a:t>
            </a:r>
          </a:p>
        </p:txBody>
      </p:sp>
      <p:sp>
        <p:nvSpPr>
          <p:cNvPr id="13" name="Rectangle 12"/>
          <p:cNvSpPr/>
          <p:nvPr/>
        </p:nvSpPr>
        <p:spPr>
          <a:xfrm>
            <a:off x="8458200" y="960120"/>
            <a:ext cx="3520440" cy="1005840"/>
          </a:xfrm>
          <a:prstGeom prst="rect">
            <a:avLst/>
          </a:prstGeom>
          <a:solidFill>
            <a:srgbClr val="EAF6F0"/>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987552"/>
            <a:ext cx="3337560" cy="164592"/>
          </a:xfrm>
          <a:prstGeom prst="rect">
            <a:avLst/>
          </a:prstGeom>
          <a:noFill/>
        </p:spPr>
        <p:txBody>
          <a:bodyPr wrap="square">
            <a:spAutoFit/>
          </a:bodyPr>
          <a:lstStyle/>
          <a:p>
            <a:pPr algn="l"/>
            <a:r>
              <a:rPr sz="819" b="1" i="0">
                <a:solidFill>
                  <a:srgbClr val="2E9E6E"/>
                </a:solidFill>
                <a:latin typeface="Calibri"/>
              </a:rPr>
              <a:t>DEMONSTRATED ON REAL MISSION DATA:</a:t>
            </a:r>
          </a:p>
        </p:txBody>
      </p:sp>
      <p:sp>
        <p:nvSpPr>
          <p:cNvPr id="15" name="TextBox 14"/>
          <p:cNvSpPr txBox="1"/>
          <p:nvPr/>
        </p:nvSpPr>
        <p:spPr>
          <a:xfrm>
            <a:off x="8549640" y="1170432"/>
            <a:ext cx="3337560" cy="768096"/>
          </a:xfrm>
          <a:prstGeom prst="rect">
            <a:avLst/>
          </a:prstGeom>
          <a:noFill/>
        </p:spPr>
        <p:txBody>
          <a:bodyPr wrap="square">
            <a:spAutoFit/>
          </a:bodyPr>
          <a:lstStyle/>
          <a:p>
            <a:pPr algn="l"/>
            <a:r>
              <a:rPr sz="780" b="0" i="0">
                <a:solidFill>
                  <a:srgbClr val="1A2B35"/>
                </a:solidFill>
                <a:latin typeface="Calibri"/>
              </a:rPr>
              <a:t>✓ EXP-OHRC-E2E: 818 inliers, held-out RMSE 0.786 px
✓ EXP-TMC-E2E: 660 inliers, held-out RMSE 1.073 px
✓ EXP-TMC-FIXED: 1.606 → 0.836 px (47.9% gain on N=150)
✓ Safe rejection: Tested disjoint pair rejected without accepted registration</a:t>
            </a:r>
          </a:p>
        </p:txBody>
      </p:sp>
      <p:sp>
        <p:nvSpPr>
          <p:cNvPr id="16" name="Rectangle 15"/>
          <p:cNvSpPr/>
          <p:nvPr/>
        </p:nvSpPr>
        <p:spPr>
          <a:xfrm>
            <a:off x="8458200" y="2029968"/>
            <a:ext cx="3520440" cy="914400"/>
          </a:xfrm>
          <a:prstGeom prst="rect">
            <a:avLst/>
          </a:prstGeom>
          <a:solidFill>
            <a:srgbClr val="EEF5FA"/>
          </a:solidFill>
          <a:ln w="635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057400"/>
            <a:ext cx="3337560" cy="164592"/>
          </a:xfrm>
          <a:prstGeom prst="rect">
            <a:avLst/>
          </a:prstGeom>
          <a:noFill/>
        </p:spPr>
        <p:txBody>
          <a:bodyPr wrap="square">
            <a:spAutoFit/>
          </a:bodyPr>
          <a:lstStyle/>
          <a:p>
            <a:pPr algn="l"/>
            <a:r>
              <a:rPr sz="819" b="1" i="0">
                <a:solidFill>
                  <a:srgbClr val="147D77"/>
                </a:solidFill>
                <a:latin typeface="Calibri"/>
              </a:rPr>
              <a:t>CONTROLLED SIMULATION (LOLA DEM — EXP-SYN-ILLUM):</a:t>
            </a:r>
          </a:p>
        </p:txBody>
      </p:sp>
      <p:sp>
        <p:nvSpPr>
          <p:cNvPr id="18" name="TextBox 17"/>
          <p:cNvSpPr txBox="1"/>
          <p:nvPr/>
        </p:nvSpPr>
        <p:spPr>
          <a:xfrm>
            <a:off x="8549640" y="2240280"/>
            <a:ext cx="3337560" cy="685800"/>
          </a:xfrm>
          <a:prstGeom prst="rect">
            <a:avLst/>
          </a:prstGeom>
          <a:noFill/>
        </p:spPr>
        <p:txBody>
          <a:bodyPr wrap="square">
            <a:spAutoFit/>
          </a:bodyPr>
          <a:lstStyle/>
          <a:p>
            <a:pPr algn="l"/>
            <a:r>
              <a:rPr sz="780" b="0" i="0">
                <a:solidFill>
                  <a:srgbClr val="1A2B35"/>
                </a:solidFill>
                <a:latin typeface="Calibri"/>
              </a:rPr>
              <a:t>• Mode C recovers 737–1,187 inliers across 0°–180°
• Controlled Precision @ 1px: &gt;99.1% under matched lighting
• Direct matching collapses at Δ ≥ 45° (28 inliers, 0% prec)</a:t>
            </a:r>
          </a:p>
        </p:txBody>
      </p:sp>
      <p:sp>
        <p:nvSpPr>
          <p:cNvPr id="19" name="Rectangle 18"/>
          <p:cNvSpPr/>
          <p:nvPr/>
        </p:nvSpPr>
        <p:spPr>
          <a:xfrm>
            <a:off x="8458200" y="2999232"/>
            <a:ext cx="3520440" cy="1261872"/>
          </a:xfrm>
          <a:prstGeom prst="rect">
            <a:avLst/>
          </a:prstGeom>
          <a:solidFill>
            <a:srgbClr val="FFF8EE"/>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3026664"/>
            <a:ext cx="3337560" cy="164592"/>
          </a:xfrm>
          <a:prstGeom prst="rect">
            <a:avLst/>
          </a:prstGeom>
          <a:noFill/>
        </p:spPr>
        <p:txBody>
          <a:bodyPr wrap="square">
            <a:spAutoFit/>
          </a:bodyPr>
          <a:lstStyle/>
          <a:p>
            <a:pPr algn="l"/>
            <a:r>
              <a:rPr sz="819" b="1" i="0">
                <a:solidFill>
                  <a:srgbClr val="C4891E"/>
                </a:solidFill>
                <a:latin typeface="Calibri"/>
              </a:rPr>
              <a:t>PENDING SCIENTIFIC VALIDATION:</a:t>
            </a:r>
          </a:p>
        </p:txBody>
      </p:sp>
      <p:sp>
        <p:nvSpPr>
          <p:cNvPr id="21" name="TextBox 20"/>
          <p:cNvSpPr txBox="1"/>
          <p:nvPr/>
        </p:nvSpPr>
        <p:spPr>
          <a:xfrm>
            <a:off x="8549640" y="3209544"/>
            <a:ext cx="3337560" cy="1024128"/>
          </a:xfrm>
          <a:prstGeom prst="rect">
            <a:avLst/>
          </a:prstGeom>
          <a:noFill/>
        </p:spPr>
        <p:txBody>
          <a:bodyPr wrap="square">
            <a:spAutoFit/>
          </a:bodyPr>
          <a:lstStyle/>
          <a:p>
            <a:pPr algn="l"/>
            <a:r>
              <a:rPr sz="780" b="0" i="0">
                <a:solidFill>
                  <a:srgbClr val="1A2B35"/>
                </a:solidFill>
                <a:latin typeface="Calibri"/>
              </a:rPr>
              <a:t>⏳ Real cross-sensor correspondence: OHRC ↔ TMC-2 ↔ IIRS
⏳ Independent geodetic ground truth: LOLA laser altimetry
⏳ Real multi-phase flight pairs: Extreme phase angles
⏳ Regional holdout: Polar, mare, and highland terrains</a:t>
            </a:r>
          </a:p>
        </p:txBody>
      </p:sp>
      <p:sp>
        <p:nvSpPr>
          <p:cNvPr id="22" name="Rectangle 21"/>
          <p:cNvSpPr/>
          <p:nvPr/>
        </p:nvSpPr>
        <p:spPr>
          <a:xfrm>
            <a:off x="45720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70831"/>
            <a:ext cx="3429000" cy="201168"/>
          </a:xfrm>
          <a:prstGeom prst="rect">
            <a:avLst/>
          </a:prstGeom>
          <a:noFill/>
        </p:spPr>
        <p:txBody>
          <a:bodyPr wrap="square">
            <a:spAutoFit/>
          </a:bodyPr>
          <a:lstStyle/>
          <a:p>
            <a:pPr algn="l"/>
            <a:r>
              <a:rPr sz="800" b="1" i="0">
                <a:solidFill>
                  <a:srgbClr val="FFFFFF"/>
                </a:solidFill>
                <a:latin typeface="Calibri"/>
              </a:rPr>
              <a:t>GROUND-TRUTH HIERARCHY</a:t>
            </a:r>
          </a:p>
        </p:txBody>
      </p:sp>
      <p:sp>
        <p:nvSpPr>
          <p:cNvPr id="24" name="Rectangle 23"/>
          <p:cNvSpPr/>
          <p:nvPr/>
        </p:nvSpPr>
        <p:spPr>
          <a:xfrm>
            <a:off x="45720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4608576"/>
            <a:ext cx="1325880" cy="201168"/>
          </a:xfrm>
          <a:prstGeom prst="rect">
            <a:avLst/>
          </a:prstGeom>
          <a:noFill/>
        </p:spPr>
        <p:txBody>
          <a:bodyPr wrap="square">
            <a:spAutoFit/>
          </a:bodyPr>
          <a:lstStyle/>
          <a:p>
            <a:pPr algn="l"/>
            <a:r>
              <a:rPr sz="800" b="1" i="0">
                <a:solidFill>
                  <a:srgbClr val="147D77"/>
                </a:solidFill>
                <a:latin typeface="Calibri"/>
              </a:rPr>
              <a:t>L1 Synthetic Identity</a:t>
            </a:r>
          </a:p>
        </p:txBody>
      </p:sp>
      <p:sp>
        <p:nvSpPr>
          <p:cNvPr id="26" name="TextBox 25"/>
          <p:cNvSpPr txBox="1"/>
          <p:nvPr/>
        </p:nvSpPr>
        <p:spPr>
          <a:xfrm>
            <a:off x="1874519" y="4608576"/>
            <a:ext cx="2103120" cy="201168"/>
          </a:xfrm>
          <a:prstGeom prst="rect">
            <a:avLst/>
          </a:prstGeom>
          <a:noFill/>
        </p:spPr>
        <p:txBody>
          <a:bodyPr wrap="square">
            <a:spAutoFit/>
          </a:bodyPr>
          <a:lstStyle/>
          <a:p>
            <a:pPr algn="l"/>
            <a:r>
              <a:rPr sz="800" b="0" i="0">
                <a:solidFill>
                  <a:srgbClr val="1A2B35"/>
                </a:solidFill>
                <a:latin typeface="Calibri"/>
              </a:rPr>
              <a:t>Controlled re-illumination; exact GT field.</a:t>
            </a:r>
          </a:p>
        </p:txBody>
      </p:sp>
      <p:sp>
        <p:nvSpPr>
          <p:cNvPr id="27" name="Rectangle 26"/>
          <p:cNvSpPr/>
          <p:nvPr/>
        </p:nvSpPr>
        <p:spPr>
          <a:xfrm>
            <a:off x="45720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937760"/>
            <a:ext cx="1325880" cy="201168"/>
          </a:xfrm>
          <a:prstGeom prst="rect">
            <a:avLst/>
          </a:prstGeom>
          <a:noFill/>
        </p:spPr>
        <p:txBody>
          <a:bodyPr wrap="square">
            <a:spAutoFit/>
          </a:bodyPr>
          <a:lstStyle/>
          <a:p>
            <a:pPr algn="l"/>
            <a:r>
              <a:rPr sz="800" b="1" i="0">
                <a:solidFill>
                  <a:srgbClr val="147D77"/>
                </a:solidFill>
                <a:latin typeface="Calibri"/>
              </a:rPr>
              <a:t>L2 LOLA Altimetry</a:t>
            </a:r>
          </a:p>
        </p:txBody>
      </p:sp>
      <p:sp>
        <p:nvSpPr>
          <p:cNvPr id="29" name="TextBox 28"/>
          <p:cNvSpPr txBox="1"/>
          <p:nvPr/>
        </p:nvSpPr>
        <p:spPr>
          <a:xfrm>
            <a:off x="1874519" y="4937760"/>
            <a:ext cx="2103120" cy="201168"/>
          </a:xfrm>
          <a:prstGeom prst="rect">
            <a:avLst/>
          </a:prstGeom>
          <a:noFill/>
        </p:spPr>
        <p:txBody>
          <a:bodyPr wrap="square">
            <a:spAutoFit/>
          </a:bodyPr>
          <a:lstStyle/>
          <a:p>
            <a:pPr algn="l"/>
            <a:r>
              <a:rPr sz="800" b="0" i="0">
                <a:solidFill>
                  <a:srgbClr val="1A2B35"/>
                </a:solidFill>
                <a:latin typeface="Calibri"/>
              </a:rPr>
              <a:t>Laser shots independent of image pipeline (Pending).</a:t>
            </a:r>
          </a:p>
        </p:txBody>
      </p:sp>
      <p:sp>
        <p:nvSpPr>
          <p:cNvPr id="30" name="Rectangle 29"/>
          <p:cNvSpPr/>
          <p:nvPr/>
        </p:nvSpPr>
        <p:spPr>
          <a:xfrm>
            <a:off x="45720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5266944"/>
            <a:ext cx="1325880" cy="201168"/>
          </a:xfrm>
          <a:prstGeom prst="rect">
            <a:avLst/>
          </a:prstGeom>
          <a:noFill/>
        </p:spPr>
        <p:txBody>
          <a:bodyPr wrap="square">
            <a:spAutoFit/>
          </a:bodyPr>
          <a:lstStyle/>
          <a:p>
            <a:pPr algn="l"/>
            <a:r>
              <a:rPr sz="800" b="1" i="0">
                <a:solidFill>
                  <a:srgbClr val="147D77"/>
                </a:solidFill>
                <a:latin typeface="Calibri"/>
              </a:rPr>
              <a:t>L3 Manual Tie Points</a:t>
            </a:r>
          </a:p>
        </p:txBody>
      </p:sp>
      <p:sp>
        <p:nvSpPr>
          <p:cNvPr id="32" name="TextBox 31"/>
          <p:cNvSpPr txBox="1"/>
          <p:nvPr/>
        </p:nvSpPr>
        <p:spPr>
          <a:xfrm>
            <a:off x="1874519" y="5266944"/>
            <a:ext cx="2103120" cy="201168"/>
          </a:xfrm>
          <a:prstGeom prst="rect">
            <a:avLst/>
          </a:prstGeom>
          <a:noFill/>
        </p:spPr>
        <p:txBody>
          <a:bodyPr wrap="square">
            <a:spAutoFit/>
          </a:bodyPr>
          <a:lstStyle/>
          <a:p>
            <a:pPr algn="l"/>
            <a:r>
              <a:rPr sz="800" b="0" i="0">
                <a:solidFill>
                  <a:srgbClr val="1A2B35"/>
                </a:solidFill>
                <a:latin typeface="Calibri"/>
              </a:rPr>
              <a:t>Expert-annotated control network (Pending).</a:t>
            </a:r>
          </a:p>
        </p:txBody>
      </p:sp>
      <p:sp>
        <p:nvSpPr>
          <p:cNvPr id="33" name="Rectangle 32"/>
          <p:cNvSpPr/>
          <p:nvPr/>
        </p:nvSpPr>
        <p:spPr>
          <a:xfrm>
            <a:off x="45720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5596128"/>
            <a:ext cx="1325880" cy="201168"/>
          </a:xfrm>
          <a:prstGeom prst="rect">
            <a:avLst/>
          </a:prstGeom>
          <a:noFill/>
        </p:spPr>
        <p:txBody>
          <a:bodyPr wrap="square">
            <a:spAutoFit/>
          </a:bodyPr>
          <a:lstStyle/>
          <a:p>
            <a:pPr algn="l"/>
            <a:r>
              <a:rPr sz="800" b="1" i="0">
                <a:solidFill>
                  <a:srgbClr val="147D77"/>
                </a:solidFill>
                <a:latin typeface="Calibri"/>
              </a:rPr>
              <a:t>L4 SIH Official GT</a:t>
            </a:r>
          </a:p>
        </p:txBody>
      </p:sp>
      <p:sp>
        <p:nvSpPr>
          <p:cNvPr id="35" name="TextBox 34"/>
          <p:cNvSpPr txBox="1"/>
          <p:nvPr/>
        </p:nvSpPr>
        <p:spPr>
          <a:xfrm>
            <a:off x="1874519" y="5596128"/>
            <a:ext cx="2103120" cy="201168"/>
          </a:xfrm>
          <a:prstGeom prst="rect">
            <a:avLst/>
          </a:prstGeom>
          <a:noFill/>
        </p:spPr>
        <p:txBody>
          <a:bodyPr wrap="square">
            <a:spAutoFit/>
          </a:bodyPr>
          <a:lstStyle/>
          <a:p>
            <a:pPr algn="l"/>
            <a:r>
              <a:rPr sz="800" b="0" i="0">
                <a:solidFill>
                  <a:srgbClr val="1A2B35"/>
                </a:solidFill>
                <a:latin typeface="Calibri"/>
              </a:rPr>
              <a:t>Official evaluation dataset from ISRO (Awaiting).</a:t>
            </a:r>
          </a:p>
        </p:txBody>
      </p:sp>
      <p:sp>
        <p:nvSpPr>
          <p:cNvPr id="36" name="Rectangle 35"/>
          <p:cNvSpPr/>
          <p:nvPr/>
        </p:nvSpPr>
        <p:spPr>
          <a:xfrm>
            <a:off x="429768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0" y="4370831"/>
            <a:ext cx="3429000" cy="201168"/>
          </a:xfrm>
          <a:prstGeom prst="rect">
            <a:avLst/>
          </a:prstGeom>
          <a:noFill/>
        </p:spPr>
        <p:txBody>
          <a:bodyPr wrap="square">
            <a:spAutoFit/>
          </a:bodyPr>
          <a:lstStyle/>
          <a:p>
            <a:pPr algn="l"/>
            <a:r>
              <a:rPr sz="800" b="1" i="0">
                <a:solidFill>
                  <a:srgbClr val="FFFFFF"/>
                </a:solidFill>
                <a:latin typeface="Calibri"/>
              </a:rPr>
              <a:t>RISK AND MITIGATION STRATEGY</a:t>
            </a:r>
          </a:p>
        </p:txBody>
      </p:sp>
      <p:sp>
        <p:nvSpPr>
          <p:cNvPr id="38" name="Rectangle 37"/>
          <p:cNvSpPr/>
          <p:nvPr/>
        </p:nvSpPr>
        <p:spPr>
          <a:xfrm>
            <a:off x="429768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70832" y="4608576"/>
            <a:ext cx="1508760" cy="201168"/>
          </a:xfrm>
          <a:prstGeom prst="rect">
            <a:avLst/>
          </a:prstGeom>
          <a:noFill/>
        </p:spPr>
        <p:txBody>
          <a:bodyPr wrap="square">
            <a:spAutoFit/>
          </a:bodyPr>
          <a:lstStyle/>
          <a:p>
            <a:pPr algn="l"/>
            <a:r>
              <a:rPr sz="800" b="1" i="0">
                <a:solidFill>
                  <a:srgbClr val="E07C1A"/>
                </a:solidFill>
                <a:latin typeface="Calibri"/>
              </a:rPr>
              <a:t>RISK: Illumination Inversion</a:t>
            </a:r>
          </a:p>
        </p:txBody>
      </p:sp>
      <p:sp>
        <p:nvSpPr>
          <p:cNvPr id="40" name="TextBox 39"/>
          <p:cNvSpPr txBox="1"/>
          <p:nvPr/>
        </p:nvSpPr>
        <p:spPr>
          <a:xfrm>
            <a:off x="5897880" y="4608576"/>
            <a:ext cx="1920240" cy="201168"/>
          </a:xfrm>
          <a:prstGeom prst="rect">
            <a:avLst/>
          </a:prstGeom>
          <a:noFill/>
        </p:spPr>
        <p:txBody>
          <a:bodyPr wrap="square">
            <a:spAutoFit/>
          </a:bodyPr>
          <a:lstStyle/>
          <a:p>
            <a:pPr algn="l"/>
            <a:r>
              <a:rPr sz="800" b="0" i="0">
                <a:solidFill>
                  <a:srgbClr val="1A2B35"/>
                </a:solidFill>
                <a:latin typeface="Calibri"/>
              </a:rPr>
              <a:t>→ LCN normalization; Mode C (physics branch)</a:t>
            </a:r>
          </a:p>
        </p:txBody>
      </p:sp>
      <p:sp>
        <p:nvSpPr>
          <p:cNvPr id="41" name="Rectangle 40"/>
          <p:cNvSpPr/>
          <p:nvPr/>
        </p:nvSpPr>
        <p:spPr>
          <a:xfrm>
            <a:off x="429768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0832" y="4937760"/>
            <a:ext cx="1508760" cy="201168"/>
          </a:xfrm>
          <a:prstGeom prst="rect">
            <a:avLst/>
          </a:prstGeom>
          <a:noFill/>
        </p:spPr>
        <p:txBody>
          <a:bodyPr wrap="square">
            <a:spAutoFit/>
          </a:bodyPr>
          <a:lstStyle/>
          <a:p>
            <a:pPr algn="l"/>
            <a:r>
              <a:rPr sz="800" b="1" i="0">
                <a:solidFill>
                  <a:srgbClr val="E07C1A"/>
                </a:solidFill>
                <a:latin typeface="Calibri"/>
              </a:rPr>
              <a:t>RISK: No Real Overlap</a:t>
            </a:r>
          </a:p>
        </p:txBody>
      </p:sp>
      <p:sp>
        <p:nvSpPr>
          <p:cNvPr id="43" name="TextBox 42"/>
          <p:cNvSpPr txBox="1"/>
          <p:nvPr/>
        </p:nvSpPr>
        <p:spPr>
          <a:xfrm>
            <a:off x="5897880" y="4937760"/>
            <a:ext cx="1920240" cy="201168"/>
          </a:xfrm>
          <a:prstGeom prst="rect">
            <a:avLst/>
          </a:prstGeom>
          <a:noFill/>
        </p:spPr>
        <p:txBody>
          <a:bodyPr wrap="square">
            <a:spAutoFit/>
          </a:bodyPr>
          <a:lstStyle/>
          <a:p>
            <a:pPr algn="l"/>
            <a:r>
              <a:rPr sz="800" b="0" i="0">
                <a:solidFill>
                  <a:srgbClr val="1A2B35"/>
                </a:solidFill>
                <a:latin typeface="Calibri"/>
              </a:rPr>
              <a:t>→ Detect spatial overlap first; route to search/abstain</a:t>
            </a:r>
          </a:p>
        </p:txBody>
      </p:sp>
      <p:sp>
        <p:nvSpPr>
          <p:cNvPr id="44" name="Rectangle 43"/>
          <p:cNvSpPr/>
          <p:nvPr/>
        </p:nvSpPr>
        <p:spPr>
          <a:xfrm>
            <a:off x="429768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70832" y="5266944"/>
            <a:ext cx="1508760" cy="201168"/>
          </a:xfrm>
          <a:prstGeom prst="rect">
            <a:avLst/>
          </a:prstGeom>
          <a:noFill/>
        </p:spPr>
        <p:txBody>
          <a:bodyPr wrap="square">
            <a:spAutoFit/>
          </a:bodyPr>
          <a:lstStyle/>
          <a:p>
            <a:pPr algn="l"/>
            <a:r>
              <a:rPr sz="800" b="1" i="0">
                <a:solidFill>
                  <a:srgbClr val="E07C1A"/>
                </a:solidFill>
                <a:latin typeface="Calibri"/>
              </a:rPr>
              <a:t>RISK: Sub-pixel Claim w/o GT</a:t>
            </a:r>
          </a:p>
        </p:txBody>
      </p:sp>
      <p:sp>
        <p:nvSpPr>
          <p:cNvPr id="46" name="TextBox 45"/>
          <p:cNvSpPr txBox="1"/>
          <p:nvPr/>
        </p:nvSpPr>
        <p:spPr>
          <a:xfrm>
            <a:off x="5897880" y="5266944"/>
            <a:ext cx="1920240" cy="201168"/>
          </a:xfrm>
          <a:prstGeom prst="rect">
            <a:avLst/>
          </a:prstGeom>
          <a:noFill/>
        </p:spPr>
        <p:txBody>
          <a:bodyPr wrap="square">
            <a:spAutoFit/>
          </a:bodyPr>
          <a:lstStyle/>
          <a:p>
            <a:pPr algn="l"/>
            <a:r>
              <a:rPr sz="800" b="0" i="0">
                <a:solidFill>
                  <a:srgbClr val="1A2B35"/>
                </a:solidFill>
                <a:latin typeface="Calibri"/>
              </a:rPr>
              <a:t>→ Explicitly labeled 'held-out', not geodetic GT</a:t>
            </a:r>
          </a:p>
        </p:txBody>
      </p:sp>
      <p:sp>
        <p:nvSpPr>
          <p:cNvPr id="47" name="Rectangle 46"/>
          <p:cNvSpPr/>
          <p:nvPr/>
        </p:nvSpPr>
        <p:spPr>
          <a:xfrm>
            <a:off x="429768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70832" y="5596128"/>
            <a:ext cx="1508760" cy="201168"/>
          </a:xfrm>
          <a:prstGeom prst="rect">
            <a:avLst/>
          </a:prstGeom>
          <a:noFill/>
        </p:spPr>
        <p:txBody>
          <a:bodyPr wrap="square">
            <a:spAutoFit/>
          </a:bodyPr>
          <a:lstStyle/>
          <a:p>
            <a:pPr algn="l"/>
            <a:r>
              <a:rPr sz="800" b="1" i="0">
                <a:solidFill>
                  <a:srgbClr val="E07C1A"/>
                </a:solidFill>
                <a:latin typeface="Calibri"/>
              </a:rPr>
              <a:t>RISK: IIRS 320× Scale Gap</a:t>
            </a:r>
          </a:p>
        </p:txBody>
      </p:sp>
      <p:sp>
        <p:nvSpPr>
          <p:cNvPr id="49" name="TextBox 48"/>
          <p:cNvSpPr txBox="1"/>
          <p:nvPr/>
        </p:nvSpPr>
        <p:spPr>
          <a:xfrm>
            <a:off x="5897880" y="5596128"/>
            <a:ext cx="1920240" cy="201168"/>
          </a:xfrm>
          <a:prstGeom prst="rect">
            <a:avLst/>
          </a:prstGeom>
          <a:noFill/>
        </p:spPr>
        <p:txBody>
          <a:bodyPr wrap="square">
            <a:spAutoFit/>
          </a:bodyPr>
          <a:lstStyle/>
          <a:p>
            <a:pPr algn="l"/>
            <a:r>
              <a:rPr sz="800" b="0" i="0">
                <a:solidFill>
                  <a:srgbClr val="1A2B35"/>
                </a:solidFill>
                <a:latin typeface="Calibri"/>
              </a:rPr>
              <a:t>→ Proposed mitigation: pyramid matching (pending)</a:t>
            </a:r>
          </a:p>
        </p:txBody>
      </p:sp>
      <p:sp>
        <p:nvSpPr>
          <p:cNvPr id="50" name="Rectangle 49"/>
          <p:cNvSpPr/>
          <p:nvPr/>
        </p:nvSpPr>
        <p:spPr>
          <a:xfrm>
            <a:off x="813816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600" y="4370831"/>
            <a:ext cx="3429000" cy="201168"/>
          </a:xfrm>
          <a:prstGeom prst="rect">
            <a:avLst/>
          </a:prstGeom>
          <a:noFill/>
        </p:spPr>
        <p:txBody>
          <a:bodyPr wrap="square">
            <a:spAutoFit/>
          </a:bodyPr>
          <a:lstStyle/>
          <a:p>
            <a:pPr algn="l"/>
            <a:r>
              <a:rPr sz="800" b="1" i="0">
                <a:solidFill>
                  <a:srgbClr val="FFFFFF"/>
                </a:solidFill>
                <a:latin typeface="Calibri"/>
              </a:rPr>
              <a:t>TEAM SCIENTIFIC COMMITMENTS</a:t>
            </a:r>
          </a:p>
        </p:txBody>
      </p:sp>
      <p:sp>
        <p:nvSpPr>
          <p:cNvPr id="52" name="Rectangle 51"/>
          <p:cNvSpPr/>
          <p:nvPr/>
        </p:nvSpPr>
        <p:spPr>
          <a:xfrm>
            <a:off x="813816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11312" y="4608576"/>
            <a:ext cx="3429000" cy="201168"/>
          </a:xfrm>
          <a:prstGeom prst="rect">
            <a:avLst/>
          </a:prstGeom>
          <a:noFill/>
        </p:spPr>
        <p:txBody>
          <a:bodyPr wrap="square">
            <a:spAutoFit/>
          </a:bodyPr>
          <a:lstStyle/>
          <a:p>
            <a:pPr algn="l"/>
            <a:r>
              <a:rPr sz="800" b="0" i="0">
                <a:solidFill>
                  <a:srgbClr val="1A2B35"/>
                </a:solidFill>
                <a:latin typeface="Calibri"/>
              </a:rPr>
              <a:t>✓  No claim without reproducible experiment in manifest.</a:t>
            </a:r>
          </a:p>
        </p:txBody>
      </p:sp>
      <p:sp>
        <p:nvSpPr>
          <p:cNvPr id="54" name="Rectangle 53"/>
          <p:cNvSpPr/>
          <p:nvPr/>
        </p:nvSpPr>
        <p:spPr>
          <a:xfrm>
            <a:off x="813816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11312" y="4937760"/>
            <a:ext cx="3429000" cy="201168"/>
          </a:xfrm>
          <a:prstGeom prst="rect">
            <a:avLst/>
          </a:prstGeom>
          <a:noFill/>
        </p:spPr>
        <p:txBody>
          <a:bodyPr wrap="square">
            <a:spAutoFit/>
          </a:bodyPr>
          <a:lstStyle/>
          <a:p>
            <a:pPr algn="l"/>
            <a:r>
              <a:rPr sz="800" b="0" i="0">
                <a:solidFill>
                  <a:srgbClr val="1A2B35"/>
                </a:solidFill>
                <a:latin typeface="Calibri"/>
              </a:rPr>
              <a:t>✓  Freeze datasets, splits, metrics, seeds &amp; thresholds.</a:t>
            </a:r>
          </a:p>
        </p:txBody>
      </p:sp>
      <p:sp>
        <p:nvSpPr>
          <p:cNvPr id="56" name="Rectangle 55"/>
          <p:cNvSpPr/>
          <p:nvPr/>
        </p:nvSpPr>
        <p:spPr>
          <a:xfrm>
            <a:off x="813816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11312" y="5266944"/>
            <a:ext cx="3429000" cy="201168"/>
          </a:xfrm>
          <a:prstGeom prst="rect">
            <a:avLst/>
          </a:prstGeom>
          <a:noFill/>
        </p:spPr>
        <p:txBody>
          <a:bodyPr wrap="square">
            <a:spAutoFit/>
          </a:bodyPr>
          <a:lstStyle/>
          <a:p>
            <a:pPr algn="l"/>
            <a:r>
              <a:rPr sz="800" b="0" i="0">
                <a:solidFill>
                  <a:srgbClr val="1A2B35"/>
                </a:solidFill>
                <a:latin typeface="Calibri"/>
              </a:rPr>
              <a:t>✓  Sub-pixel claims only after independent geodetic GT.</a:t>
            </a:r>
          </a:p>
        </p:txBody>
      </p:sp>
      <p:sp>
        <p:nvSpPr>
          <p:cNvPr id="58" name="Rectangle 57"/>
          <p:cNvSpPr/>
          <p:nvPr/>
        </p:nvSpPr>
        <p:spPr>
          <a:xfrm>
            <a:off x="813816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11312" y="5596128"/>
            <a:ext cx="3429000" cy="201168"/>
          </a:xfrm>
          <a:prstGeom prst="rect">
            <a:avLst/>
          </a:prstGeom>
          <a:noFill/>
        </p:spPr>
        <p:txBody>
          <a:bodyPr wrap="square">
            <a:spAutoFit/>
          </a:bodyPr>
          <a:lstStyle/>
          <a:p>
            <a:pPr algn="l"/>
            <a:r>
              <a:rPr sz="800" b="0" i="0">
                <a:solidFill>
                  <a:srgbClr val="1A2B35"/>
                </a:solidFill>
                <a:latin typeface="Calibri"/>
              </a:rPr>
              <a:t>✓  No 'AI &gt; non-AI' without same-data baseline.</a:t>
            </a:r>
          </a:p>
        </p:txBody>
      </p:sp>
      <p:sp>
        <p:nvSpPr>
          <p:cNvPr id="60" name="Rectangle 59"/>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SUMMARY, SCIENTIFIC BOUNDARIES AND REFERENCES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06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6812279" cy="201168"/>
          </a:xfrm>
          <a:prstGeom prst="rect">
            <a:avLst/>
          </a:prstGeom>
          <a:noFill/>
        </p:spPr>
        <p:txBody>
          <a:bodyPr wrap="square">
            <a:spAutoFit/>
          </a:bodyPr>
          <a:lstStyle/>
          <a:p>
            <a:pPr algn="l"/>
            <a:r>
              <a:rPr sz="800" b="1" i="0">
                <a:solidFill>
                  <a:srgbClr val="FFFFFF"/>
                </a:solidFill>
                <a:latin typeface="Calibri"/>
              </a:rPr>
              <a:t>SELECTED PRIMARY REFERENCES  /  VERIFIED AGAINST SOURCES</a:t>
            </a:r>
          </a:p>
        </p:txBody>
      </p:sp>
      <p:sp>
        <p:nvSpPr>
          <p:cNvPr id="8" name="TextBox 7"/>
          <p:cNvSpPr txBox="1"/>
          <p:nvPr/>
        </p:nvSpPr>
        <p:spPr>
          <a:xfrm>
            <a:off x="502920" y="969264"/>
            <a:ext cx="6858000" cy="292608"/>
          </a:xfrm>
          <a:prstGeom prst="rect">
            <a:avLst/>
          </a:prstGeom>
          <a:noFill/>
        </p:spPr>
        <p:txBody>
          <a:bodyPr wrap="square">
            <a:spAutoFit/>
          </a:bodyPr>
          <a:lstStyle/>
          <a:p>
            <a:pPr algn="l"/>
            <a:r>
              <a:rPr sz="819" b="0" i="0">
                <a:solidFill>
                  <a:srgbClr val="1A2B35"/>
                </a:solidFill>
                <a:latin typeface="Calibri"/>
              </a:rPr>
              <a:t>[1] ISRO / ISSDC. Chandrayaan-2 Science Data Archive (PRADAN). PDS4 data format; non-profit research terms.</a:t>
            </a:r>
          </a:p>
        </p:txBody>
      </p:sp>
      <p:sp>
        <p:nvSpPr>
          <p:cNvPr id="9" name="TextBox 8"/>
          <p:cNvSpPr txBox="1"/>
          <p:nvPr/>
        </p:nvSpPr>
        <p:spPr>
          <a:xfrm>
            <a:off x="502920" y="1280160"/>
            <a:ext cx="6858000" cy="292608"/>
          </a:xfrm>
          <a:prstGeom prst="rect">
            <a:avLst/>
          </a:prstGeom>
          <a:noFill/>
        </p:spPr>
        <p:txBody>
          <a:bodyPr wrap="square">
            <a:spAutoFit/>
          </a:bodyPr>
          <a:lstStyle/>
          <a:p>
            <a:pPr algn="l"/>
            <a:r>
              <a:rPr sz="819" b="0" i="0">
                <a:solidFill>
                  <a:srgbClr val="1A2B35"/>
                </a:solidFill>
                <a:latin typeface="Calibri"/>
              </a:rPr>
              <a:t>[2] Ames Stereo Pipeline (ASP). Chandrayaan-2 workflow: OHRC pointing error, bundle adjustment &amp; illumination.</a:t>
            </a:r>
          </a:p>
        </p:txBody>
      </p:sp>
      <p:sp>
        <p:nvSpPr>
          <p:cNvPr id="10" name="TextBox 9"/>
          <p:cNvSpPr txBox="1"/>
          <p:nvPr/>
        </p:nvSpPr>
        <p:spPr>
          <a:xfrm>
            <a:off x="502920" y="1591056"/>
            <a:ext cx="6858000" cy="292608"/>
          </a:xfrm>
          <a:prstGeom prst="rect">
            <a:avLst/>
          </a:prstGeom>
          <a:noFill/>
        </p:spPr>
        <p:txBody>
          <a:bodyPr wrap="square">
            <a:spAutoFit/>
          </a:bodyPr>
          <a:lstStyle/>
          <a:p>
            <a:pPr algn="l"/>
            <a:r>
              <a:rPr sz="819" b="0" i="0">
                <a:solidFill>
                  <a:srgbClr val="1A2B35"/>
                </a:solidFill>
                <a:latin typeface="Calibri"/>
              </a:rPr>
              <a:t>[3] Barath D. et al. MAGSAC++. CVPR 2020. Margin-based robust estimator for outlier rejection.</a:t>
            </a:r>
          </a:p>
        </p:txBody>
      </p:sp>
      <p:sp>
        <p:nvSpPr>
          <p:cNvPr id="11" name="TextBox 10"/>
          <p:cNvSpPr txBox="1"/>
          <p:nvPr/>
        </p:nvSpPr>
        <p:spPr>
          <a:xfrm>
            <a:off x="502920" y="1901952"/>
            <a:ext cx="6858000" cy="292608"/>
          </a:xfrm>
          <a:prstGeom prst="rect">
            <a:avLst/>
          </a:prstGeom>
          <a:noFill/>
        </p:spPr>
        <p:txBody>
          <a:bodyPr wrap="square">
            <a:spAutoFit/>
          </a:bodyPr>
          <a:lstStyle/>
          <a:p>
            <a:pPr algn="l"/>
            <a:r>
              <a:rPr sz="819" b="0" i="0">
                <a:solidFill>
                  <a:srgbClr val="1A2B35"/>
                </a:solidFill>
                <a:latin typeface="Calibri"/>
              </a:rPr>
              <a:t>[4] Li J. et al. RIFT multi-modal feature matcher. IEEE TIP 2020. doi:10.1109/TIP.2019.2959244.</a:t>
            </a:r>
          </a:p>
        </p:txBody>
      </p:sp>
      <p:sp>
        <p:nvSpPr>
          <p:cNvPr id="12" name="TextBox 11"/>
          <p:cNvSpPr txBox="1"/>
          <p:nvPr/>
        </p:nvSpPr>
        <p:spPr>
          <a:xfrm>
            <a:off x="502920" y="2212848"/>
            <a:ext cx="6858000" cy="292608"/>
          </a:xfrm>
          <a:prstGeom prst="rect">
            <a:avLst/>
          </a:prstGeom>
          <a:noFill/>
        </p:spPr>
        <p:txBody>
          <a:bodyPr wrap="square">
            <a:spAutoFit/>
          </a:bodyPr>
          <a:lstStyle/>
          <a:p>
            <a:pPr algn="l"/>
            <a:r>
              <a:rPr sz="819" b="0" i="0">
                <a:solidFill>
                  <a:srgbClr val="1A2B35"/>
                </a:solidFill>
                <a:latin typeface="Calibri"/>
              </a:rPr>
              <a:t>[5] Scheffler D. et al. AROSICS sub-pixel co-registration. Remote Sensing 2017, 9(7), 676.</a:t>
            </a:r>
          </a:p>
        </p:txBody>
      </p:sp>
      <p:sp>
        <p:nvSpPr>
          <p:cNvPr id="13" name="Rectangle 12"/>
          <p:cNvSpPr/>
          <p:nvPr/>
        </p:nvSpPr>
        <p:spPr>
          <a:xfrm>
            <a:off x="457200" y="2670048"/>
            <a:ext cx="6949440" cy="402336"/>
          </a:xfrm>
          <a:prstGeom prst="rect">
            <a:avLst/>
          </a:prstGeom>
          <a:solidFill>
            <a:srgbClr val="FFF7E8"/>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06624"/>
            <a:ext cx="6766560" cy="329184"/>
          </a:xfrm>
          <a:prstGeom prst="rect">
            <a:avLst/>
          </a:prstGeom>
          <a:noFill/>
        </p:spPr>
        <p:txBody>
          <a:bodyPr wrap="square">
            <a:spAutoFit/>
          </a:bodyPr>
          <a:lstStyle/>
          <a:p>
            <a:pPr algn="l"/>
            <a:r>
              <a:rPr sz="819" b="0" i="1">
                <a:solidFill>
                  <a:srgbClr val="E07C1A"/>
                </a:solidFill>
                <a:latin typeface="Calibri"/>
              </a:rPr>
              <a:t>Evidence boundary: literature references support the render-and-match / control-network methodology — they do NOT substitute for LUNA-CORR's own empirical measurements on real Chandrayaan-2 data.</a:t>
            </a:r>
          </a:p>
        </p:txBody>
      </p:sp>
      <p:sp>
        <p:nvSpPr>
          <p:cNvPr id="15" name="Rectangle 14"/>
          <p:cNvSpPr/>
          <p:nvPr/>
        </p:nvSpPr>
        <p:spPr>
          <a:xfrm>
            <a:off x="457200" y="3182112"/>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200400"/>
            <a:ext cx="6812279" cy="201168"/>
          </a:xfrm>
          <a:prstGeom prst="rect">
            <a:avLst/>
          </a:prstGeom>
          <a:noFill/>
        </p:spPr>
        <p:txBody>
          <a:bodyPr wrap="square">
            <a:spAutoFit/>
          </a:bodyPr>
          <a:lstStyle/>
          <a:p>
            <a:pPr algn="l"/>
            <a:r>
              <a:rPr sz="800" b="1" i="0">
                <a:solidFill>
                  <a:srgbClr val="FFFFFF"/>
                </a:solidFill>
                <a:latin typeface="Calibri"/>
              </a:rPr>
              <a:t>WHAT WE DO NOT CLAIM (PRECISE SCIENTIFIC GUARDRAILS)</a:t>
            </a:r>
          </a:p>
        </p:txBody>
      </p:sp>
      <p:sp>
        <p:nvSpPr>
          <p:cNvPr id="17" name="TextBox 16"/>
          <p:cNvSpPr txBox="1"/>
          <p:nvPr/>
        </p:nvSpPr>
        <p:spPr>
          <a:xfrm>
            <a:off x="548640" y="3419856"/>
            <a:ext cx="6766560" cy="256032"/>
          </a:xfrm>
          <a:prstGeom prst="rect">
            <a:avLst/>
          </a:prstGeom>
          <a:noFill/>
        </p:spPr>
        <p:txBody>
          <a:bodyPr wrap="square">
            <a:spAutoFit/>
          </a:bodyPr>
          <a:lstStyle/>
          <a:p>
            <a:pPr algn="l"/>
            <a:r>
              <a:rPr sz="850" b="0" i="0">
                <a:solidFill>
                  <a:srgbClr val="BB3333"/>
                </a:solidFill>
                <a:latin typeface="Calibri"/>
              </a:rPr>
              <a:t>✗  ISRO endorsement or official approval of this system.</a:t>
            </a:r>
          </a:p>
        </p:txBody>
      </p:sp>
      <p:sp>
        <p:nvSpPr>
          <p:cNvPr id="18" name="TextBox 17"/>
          <p:cNvSpPr txBox="1"/>
          <p:nvPr/>
        </p:nvSpPr>
        <p:spPr>
          <a:xfrm>
            <a:off x="548640" y="3694176"/>
            <a:ext cx="6766560" cy="256032"/>
          </a:xfrm>
          <a:prstGeom prst="rect">
            <a:avLst/>
          </a:prstGeom>
          <a:noFill/>
        </p:spPr>
        <p:txBody>
          <a:bodyPr wrap="square">
            <a:spAutoFit/>
          </a:bodyPr>
          <a:lstStyle/>
          <a:p>
            <a:pPr algn="l"/>
            <a:r>
              <a:rPr sz="850" b="0" i="0">
                <a:solidFill>
                  <a:srgbClr val="BB3333"/>
                </a:solidFill>
                <a:latin typeface="Calibri"/>
              </a:rPr>
              <a:t>✗  Sub-pixel accuracy without independent geodetic ground-truth validation (pending).</a:t>
            </a:r>
          </a:p>
        </p:txBody>
      </p:sp>
      <p:sp>
        <p:nvSpPr>
          <p:cNvPr id="19" name="TextBox 18"/>
          <p:cNvSpPr txBox="1"/>
          <p:nvPr/>
        </p:nvSpPr>
        <p:spPr>
          <a:xfrm>
            <a:off x="548640" y="3968496"/>
            <a:ext cx="6766560" cy="256032"/>
          </a:xfrm>
          <a:prstGeom prst="rect">
            <a:avLst/>
          </a:prstGeom>
          <a:noFill/>
        </p:spPr>
        <p:txBody>
          <a:bodyPr wrap="square">
            <a:spAutoFit/>
          </a:bodyPr>
          <a:lstStyle/>
          <a:p>
            <a:pPr algn="l"/>
            <a:r>
              <a:rPr sz="850" b="0" i="0">
                <a:solidFill>
                  <a:srgbClr val="BB3333"/>
                </a:solidFill>
                <a:latin typeface="Calibri"/>
              </a:rPr>
              <a:t>✗  Generalisation beyond tested regions (regional holdout across 3 terrain types pending).</a:t>
            </a:r>
          </a:p>
        </p:txBody>
      </p:sp>
      <p:sp>
        <p:nvSpPr>
          <p:cNvPr id="20" name="TextBox 19"/>
          <p:cNvSpPr txBox="1"/>
          <p:nvPr/>
        </p:nvSpPr>
        <p:spPr>
          <a:xfrm>
            <a:off x="548640" y="4242816"/>
            <a:ext cx="6766560" cy="256032"/>
          </a:xfrm>
          <a:prstGeom prst="rect">
            <a:avLst/>
          </a:prstGeom>
          <a:noFill/>
        </p:spPr>
        <p:txBody>
          <a:bodyPr wrap="square">
            <a:spAutoFit/>
          </a:bodyPr>
          <a:lstStyle/>
          <a:p>
            <a:pPr algn="l"/>
            <a:r>
              <a:rPr sz="850" b="0" i="0">
                <a:solidFill>
                  <a:srgbClr val="BB3333"/>
                </a:solidFill>
                <a:latin typeface="Calibri"/>
              </a:rPr>
              <a:t>✗  IIRS cross-modal hyperspectral registration (not attempted).</a:t>
            </a:r>
          </a:p>
        </p:txBody>
      </p:sp>
      <p:sp>
        <p:nvSpPr>
          <p:cNvPr id="21" name="TextBox 20"/>
          <p:cNvSpPr txBox="1"/>
          <p:nvPr/>
        </p:nvSpPr>
        <p:spPr>
          <a:xfrm>
            <a:off x="548640" y="4517136"/>
            <a:ext cx="6766560" cy="256032"/>
          </a:xfrm>
          <a:prstGeom prst="rect">
            <a:avLst/>
          </a:prstGeom>
          <a:noFill/>
        </p:spPr>
        <p:txBody>
          <a:bodyPr wrap="square">
            <a:spAutoFit/>
          </a:bodyPr>
          <a:lstStyle/>
          <a:p>
            <a:pPr algn="l"/>
            <a:r>
              <a:rPr sz="850" b="0" i="0">
                <a:solidFill>
                  <a:srgbClr val="BB3333"/>
                </a:solidFill>
                <a:latin typeface="Calibri"/>
              </a:rPr>
              <a:t>✗  Published literature benchmark numbers as our own targets.</a:t>
            </a:r>
          </a:p>
        </p:txBody>
      </p:sp>
      <p:sp>
        <p:nvSpPr>
          <p:cNvPr id="22" name="Rectangle 21"/>
          <p:cNvSpPr/>
          <p:nvPr/>
        </p:nvSpPr>
        <p:spPr>
          <a:xfrm>
            <a:off x="7635240" y="749808"/>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768096"/>
            <a:ext cx="4206240" cy="201168"/>
          </a:xfrm>
          <a:prstGeom prst="rect">
            <a:avLst/>
          </a:prstGeom>
          <a:noFill/>
        </p:spPr>
        <p:txBody>
          <a:bodyPr wrap="square">
            <a:spAutoFit/>
          </a:bodyPr>
          <a:lstStyle/>
          <a:p>
            <a:pPr algn="l"/>
            <a:r>
              <a:rPr sz="800" b="1" i="0">
                <a:solidFill>
                  <a:srgbClr val="FFFFFF"/>
                </a:solidFill>
                <a:latin typeface="Calibri"/>
              </a:rPr>
              <a:t>THREE CORE SCIENTIFIC TAKEAWAYS</a:t>
            </a:r>
          </a:p>
        </p:txBody>
      </p:sp>
      <p:sp>
        <p:nvSpPr>
          <p:cNvPr id="24" name="Rectangle 23"/>
          <p:cNvSpPr/>
          <p:nvPr/>
        </p:nvSpPr>
        <p:spPr>
          <a:xfrm>
            <a:off x="7635240" y="969264"/>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635240" y="969264"/>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18120" y="1024128"/>
            <a:ext cx="4069080" cy="201168"/>
          </a:xfrm>
          <a:prstGeom prst="rect">
            <a:avLst/>
          </a:prstGeom>
          <a:noFill/>
        </p:spPr>
        <p:txBody>
          <a:bodyPr wrap="square">
            <a:spAutoFit/>
          </a:bodyPr>
          <a:lstStyle/>
          <a:p>
            <a:pPr algn="l"/>
            <a:r>
              <a:rPr sz="950" b="1" i="0">
                <a:solidFill>
                  <a:srgbClr val="147D77"/>
                </a:solidFill>
                <a:latin typeface="Calibri"/>
              </a:rPr>
              <a:t>1. Physics-Conditioned Appearance</a:t>
            </a:r>
          </a:p>
        </p:txBody>
      </p:sp>
      <p:sp>
        <p:nvSpPr>
          <p:cNvPr id="27" name="TextBox 26"/>
          <p:cNvSpPr txBox="1"/>
          <p:nvPr/>
        </p:nvSpPr>
        <p:spPr>
          <a:xfrm>
            <a:off x="7818120" y="1243584"/>
            <a:ext cx="4069080" cy="548640"/>
          </a:xfrm>
          <a:prstGeom prst="rect">
            <a:avLst/>
          </a:prstGeom>
          <a:noFill/>
        </p:spPr>
        <p:txBody>
          <a:bodyPr wrap="square">
            <a:spAutoFit/>
          </a:bodyPr>
          <a:lstStyle/>
          <a:p>
            <a:pPr algn="l"/>
            <a:r>
              <a:rPr sz="819" b="0" i="0">
                <a:solidFill>
                  <a:srgbClr val="1A2B35"/>
                </a:solidFill>
                <a:latin typeface="Calibri"/>
              </a:rPr>
              <a:t>Directly addresses lunar illumination physics via LCN (core pipeline) and DEM reflectance simulation (experimental branch) to mitigate correspondence collapse across extreme sun angles.</a:t>
            </a:r>
          </a:p>
        </p:txBody>
      </p:sp>
      <p:sp>
        <p:nvSpPr>
          <p:cNvPr id="28" name="Rectangle 27"/>
          <p:cNvSpPr/>
          <p:nvPr/>
        </p:nvSpPr>
        <p:spPr>
          <a:xfrm>
            <a:off x="7635240" y="1956816"/>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35240" y="1956816"/>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2011680"/>
            <a:ext cx="4069080" cy="201168"/>
          </a:xfrm>
          <a:prstGeom prst="rect">
            <a:avLst/>
          </a:prstGeom>
          <a:noFill/>
        </p:spPr>
        <p:txBody>
          <a:bodyPr wrap="square">
            <a:spAutoFit/>
          </a:bodyPr>
          <a:lstStyle/>
          <a:p>
            <a:pPr algn="l"/>
            <a:r>
              <a:rPr sz="950" b="1" i="0">
                <a:solidFill>
                  <a:srgbClr val="147D77"/>
                </a:solidFill>
                <a:latin typeface="Calibri"/>
              </a:rPr>
              <a:t>2. Adaptive Geometry for Relief</a:t>
            </a:r>
          </a:p>
        </p:txBody>
      </p:sp>
      <p:sp>
        <p:nvSpPr>
          <p:cNvPr id="31" name="TextBox 30"/>
          <p:cNvSpPr txBox="1"/>
          <p:nvPr/>
        </p:nvSpPr>
        <p:spPr>
          <a:xfrm>
            <a:off x="7818120" y="2231136"/>
            <a:ext cx="4069080" cy="548640"/>
          </a:xfrm>
          <a:prstGeom prst="rect">
            <a:avLst/>
          </a:prstGeom>
          <a:noFill/>
        </p:spPr>
        <p:txBody>
          <a:bodyPr wrap="square">
            <a:spAutoFit/>
          </a:bodyPr>
          <a:lstStyle/>
          <a:p>
            <a:pPr algn="l"/>
            <a:r>
              <a:rPr sz="819" b="0" i="0">
                <a:solidFill>
                  <a:srgbClr val="1A2B35"/>
                </a:solidFill>
                <a:latin typeface="Calibri"/>
              </a:rPr>
              <a:t>Coherence-gated TPS elastic warping compensates apparent relief-induced 2D displacement without forcing an oversimplified planar homography across complex 3D crater terrain.</a:t>
            </a:r>
          </a:p>
        </p:txBody>
      </p:sp>
      <p:sp>
        <p:nvSpPr>
          <p:cNvPr id="32" name="Rectangle 31"/>
          <p:cNvSpPr/>
          <p:nvPr/>
        </p:nvSpPr>
        <p:spPr>
          <a:xfrm>
            <a:off x="7635240" y="2944368"/>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635240" y="2944368"/>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18120" y="2999232"/>
            <a:ext cx="4069080" cy="201168"/>
          </a:xfrm>
          <a:prstGeom prst="rect">
            <a:avLst/>
          </a:prstGeom>
          <a:noFill/>
        </p:spPr>
        <p:txBody>
          <a:bodyPr wrap="square">
            <a:spAutoFit/>
          </a:bodyPr>
          <a:lstStyle/>
          <a:p>
            <a:pPr algn="l"/>
            <a:r>
              <a:rPr sz="950" b="1" i="0">
                <a:solidFill>
                  <a:srgbClr val="147D77"/>
                </a:solidFill>
                <a:latin typeface="Calibri"/>
              </a:rPr>
              <a:t>3. Fail-Safe Quality Control</a:t>
            </a:r>
          </a:p>
        </p:txBody>
      </p:sp>
      <p:sp>
        <p:nvSpPr>
          <p:cNvPr id="35" name="TextBox 34"/>
          <p:cNvSpPr txBox="1"/>
          <p:nvPr/>
        </p:nvSpPr>
        <p:spPr>
          <a:xfrm>
            <a:off x="7818120" y="3218688"/>
            <a:ext cx="4069080" cy="548640"/>
          </a:xfrm>
          <a:prstGeom prst="rect">
            <a:avLst/>
          </a:prstGeom>
          <a:noFill/>
        </p:spPr>
        <p:txBody>
          <a:bodyPr wrap="square">
            <a:spAutoFit/>
          </a:bodyPr>
          <a:lstStyle/>
          <a:p>
            <a:pPr algn="l"/>
            <a:r>
              <a:rPr sz="819" b="0" i="0">
                <a:solidFill>
                  <a:srgbClr val="1A2B35"/>
                </a:solidFill>
                <a:latin typeface="Calibri"/>
              </a:rPr>
              <a:t>Rejects invalid or ambiguous registrations with explicit reason codes rather than forcing alignment on unmatchable scenes (demonstrated on disjoint negative-control test).</a:t>
            </a:r>
          </a:p>
        </p:txBody>
      </p:sp>
      <p:sp>
        <p:nvSpPr>
          <p:cNvPr id="36" name="Rectangle 35"/>
          <p:cNvSpPr/>
          <p:nvPr/>
        </p:nvSpPr>
        <p:spPr>
          <a:xfrm>
            <a:off x="7635240" y="3931920"/>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79" y="3950207"/>
            <a:ext cx="4206240" cy="201168"/>
          </a:xfrm>
          <a:prstGeom prst="rect">
            <a:avLst/>
          </a:prstGeom>
          <a:noFill/>
        </p:spPr>
        <p:txBody>
          <a:bodyPr wrap="square">
            <a:spAutoFit/>
          </a:bodyPr>
          <a:lstStyle/>
          <a:p>
            <a:pPr algn="l"/>
            <a:r>
              <a:rPr sz="800" b="1" i="0">
                <a:solidFill>
                  <a:srgbClr val="FFFFFF"/>
                </a:solidFill>
                <a:latin typeface="Calibri"/>
              </a:rPr>
              <a:t>PROJECT REPOSITORY &amp; DETAILS</a:t>
            </a:r>
          </a:p>
        </p:txBody>
      </p:sp>
      <p:sp>
        <p:nvSpPr>
          <p:cNvPr id="38" name="Rectangle 37"/>
          <p:cNvSpPr/>
          <p:nvPr/>
        </p:nvSpPr>
        <p:spPr>
          <a:xfrm>
            <a:off x="7635240" y="4151376"/>
            <a:ext cx="4343400" cy="192024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4251960"/>
            <a:ext cx="1280160" cy="219456"/>
          </a:xfrm>
          <a:prstGeom prst="rect">
            <a:avLst/>
          </a:prstGeom>
          <a:noFill/>
        </p:spPr>
        <p:txBody>
          <a:bodyPr wrap="square">
            <a:spAutoFit/>
          </a:bodyPr>
          <a:lstStyle/>
          <a:p>
            <a:pPr algn="l"/>
            <a:r>
              <a:rPr sz="850" b="1" i="0">
                <a:solidFill>
                  <a:srgbClr val="147D77"/>
                </a:solidFill>
                <a:latin typeface="Calibri"/>
              </a:rPr>
              <a:t>GitHub (Public):</a:t>
            </a:r>
          </a:p>
        </p:txBody>
      </p:sp>
      <p:sp>
        <p:nvSpPr>
          <p:cNvPr id="40" name="TextBox 39"/>
          <p:cNvSpPr txBox="1"/>
          <p:nvPr/>
        </p:nvSpPr>
        <p:spPr>
          <a:xfrm>
            <a:off x="9098280" y="4251960"/>
            <a:ext cx="2788920" cy="219456"/>
          </a:xfrm>
          <a:prstGeom prst="rect">
            <a:avLst/>
          </a:prstGeom>
          <a:noFill/>
        </p:spPr>
        <p:txBody>
          <a:bodyPr wrap="square">
            <a:spAutoFit/>
          </a:bodyPr>
          <a:lstStyle/>
          <a:p>
            <a:pPr algn="l"/>
            <a:r>
              <a:rPr sz="850" b="1">
                <a:solidFill>
                  <a:srgbClr val="147D77"/>
                </a:solidFill>
                <a:latin typeface="Calibri"/>
                <a:hlinkClick r:id="rId2"/>
              </a:rPr>
              <a:t>github.com/TanukuSai/luna-corr</a:t>
            </a:r>
          </a:p>
        </p:txBody>
      </p:sp>
      <p:sp>
        <p:nvSpPr>
          <p:cNvPr id="41" name="TextBox 40"/>
          <p:cNvSpPr txBox="1"/>
          <p:nvPr/>
        </p:nvSpPr>
        <p:spPr>
          <a:xfrm>
            <a:off x="7772400" y="4572000"/>
            <a:ext cx="1280160" cy="201168"/>
          </a:xfrm>
          <a:prstGeom prst="rect">
            <a:avLst/>
          </a:prstGeom>
          <a:noFill/>
        </p:spPr>
        <p:txBody>
          <a:bodyPr wrap="square">
            <a:spAutoFit/>
          </a:bodyPr>
          <a:lstStyle/>
          <a:p>
            <a:pPr algn="l"/>
            <a:r>
              <a:rPr sz="800" b="1" i="0">
                <a:solidFill>
                  <a:srgbClr val="147D77"/>
                </a:solidFill>
                <a:latin typeface="Calibri"/>
              </a:rPr>
              <a:t>Team Name:</a:t>
            </a:r>
          </a:p>
        </p:txBody>
      </p:sp>
      <p:sp>
        <p:nvSpPr>
          <p:cNvPr id="42" name="TextBox 41"/>
          <p:cNvSpPr txBox="1"/>
          <p:nvPr/>
        </p:nvSpPr>
        <p:spPr>
          <a:xfrm>
            <a:off x="9098280" y="4572000"/>
            <a:ext cx="2788920" cy="201168"/>
          </a:xfrm>
          <a:prstGeom prst="rect">
            <a:avLst/>
          </a:prstGeom>
          <a:noFill/>
        </p:spPr>
        <p:txBody>
          <a:bodyPr wrap="square">
            <a:spAutoFit/>
          </a:bodyPr>
          <a:lstStyle/>
          <a:p>
            <a:pPr algn="l"/>
            <a:r>
              <a:rPr sz="800" b="0" i="0">
                <a:solidFill>
                  <a:srgbClr val="1A2B35"/>
                </a:solidFill>
                <a:latin typeface="Calibri"/>
              </a:rPr>
              <a:t>R9@MedMitra (Team ID: 189281)</a:t>
            </a:r>
          </a:p>
        </p:txBody>
      </p:sp>
      <p:sp>
        <p:nvSpPr>
          <p:cNvPr id="43" name="TextBox 42"/>
          <p:cNvSpPr txBox="1"/>
          <p:nvPr/>
        </p:nvSpPr>
        <p:spPr>
          <a:xfrm>
            <a:off x="7772400" y="4864608"/>
            <a:ext cx="1280160" cy="201168"/>
          </a:xfrm>
          <a:prstGeom prst="rect">
            <a:avLst/>
          </a:prstGeom>
          <a:noFill/>
        </p:spPr>
        <p:txBody>
          <a:bodyPr wrap="square">
            <a:spAutoFit/>
          </a:bodyPr>
          <a:lstStyle/>
          <a:p>
            <a:pPr algn="l"/>
            <a:r>
              <a:rPr sz="800" b="1" i="0">
                <a:solidFill>
                  <a:srgbClr val="147D77"/>
                </a:solidFill>
                <a:latin typeface="Calibri"/>
              </a:rPr>
              <a:t>Problem Stmt:</a:t>
            </a:r>
          </a:p>
        </p:txBody>
      </p:sp>
      <p:sp>
        <p:nvSpPr>
          <p:cNvPr id="44" name="TextBox 43"/>
          <p:cNvSpPr txBox="1"/>
          <p:nvPr/>
        </p:nvSpPr>
        <p:spPr>
          <a:xfrm>
            <a:off x="9098280" y="4864608"/>
            <a:ext cx="2788920" cy="201168"/>
          </a:xfrm>
          <a:prstGeom prst="rect">
            <a:avLst/>
          </a:prstGeom>
          <a:noFill/>
        </p:spPr>
        <p:txBody>
          <a:bodyPr wrap="square">
            <a:spAutoFit/>
          </a:bodyPr>
          <a:lstStyle/>
          <a:p>
            <a:pPr algn="l"/>
            <a:r>
              <a:rPr sz="800" b="0" i="0">
                <a:solidFill>
                  <a:srgbClr val="1A2B35"/>
                </a:solidFill>
                <a:latin typeface="Calibri"/>
              </a:rPr>
              <a:t>PS 26166 | Space Applications Centre (SAC), ISRO</a:t>
            </a:r>
          </a:p>
        </p:txBody>
      </p:sp>
      <p:sp>
        <p:nvSpPr>
          <p:cNvPr id="45" name="TextBox 44"/>
          <p:cNvSpPr txBox="1"/>
          <p:nvPr/>
        </p:nvSpPr>
        <p:spPr>
          <a:xfrm>
            <a:off x="7772400" y="5157216"/>
            <a:ext cx="1280160" cy="201168"/>
          </a:xfrm>
          <a:prstGeom prst="rect">
            <a:avLst/>
          </a:prstGeom>
          <a:noFill/>
        </p:spPr>
        <p:txBody>
          <a:bodyPr wrap="square">
            <a:spAutoFit/>
          </a:bodyPr>
          <a:lstStyle/>
          <a:p>
            <a:pPr algn="l"/>
            <a:r>
              <a:rPr sz="800" b="1" i="0">
                <a:solidFill>
                  <a:srgbClr val="147D77"/>
                </a:solidFill>
                <a:latin typeface="Calibri"/>
              </a:rPr>
              <a:t>Theme / Category:</a:t>
            </a:r>
          </a:p>
        </p:txBody>
      </p:sp>
      <p:sp>
        <p:nvSpPr>
          <p:cNvPr id="46" name="TextBox 45"/>
          <p:cNvSpPr txBox="1"/>
          <p:nvPr/>
        </p:nvSpPr>
        <p:spPr>
          <a:xfrm>
            <a:off x="9098280" y="5157216"/>
            <a:ext cx="2788920" cy="201168"/>
          </a:xfrm>
          <a:prstGeom prst="rect">
            <a:avLst/>
          </a:prstGeom>
          <a:noFill/>
        </p:spPr>
        <p:txBody>
          <a:bodyPr wrap="square">
            <a:spAutoFit/>
          </a:bodyPr>
          <a:lstStyle/>
          <a:p>
            <a:pPr algn="l"/>
            <a:r>
              <a:rPr sz="800" b="0" i="0">
                <a:solidFill>
                  <a:srgbClr val="1A2B35"/>
                </a:solidFill>
                <a:latin typeface="Calibri"/>
              </a:rPr>
              <a:t>Space Technology  |  Software</a:t>
            </a:r>
          </a:p>
        </p:txBody>
      </p:sp>
      <p:sp>
        <p:nvSpPr>
          <p:cNvPr id="47" name="TextBox 46"/>
          <p:cNvSpPr txBox="1"/>
          <p:nvPr/>
        </p:nvSpPr>
        <p:spPr>
          <a:xfrm>
            <a:off x="7772400" y="5449824"/>
            <a:ext cx="1280160" cy="201168"/>
          </a:xfrm>
          <a:prstGeom prst="rect">
            <a:avLst/>
          </a:prstGeom>
          <a:noFill/>
        </p:spPr>
        <p:txBody>
          <a:bodyPr wrap="square">
            <a:spAutoFit/>
          </a:bodyPr>
          <a:lstStyle/>
          <a:p>
            <a:pPr algn="l"/>
            <a:r>
              <a:rPr sz="800" b="1" i="0">
                <a:solidFill>
                  <a:srgbClr val="147D77"/>
                </a:solidFill>
                <a:latin typeface="Calibri"/>
              </a:rPr>
              <a:t>Packaging / CI:</a:t>
            </a:r>
          </a:p>
        </p:txBody>
      </p:sp>
      <p:sp>
        <p:nvSpPr>
          <p:cNvPr id="48" name="TextBox 47"/>
          <p:cNvSpPr txBox="1"/>
          <p:nvPr/>
        </p:nvSpPr>
        <p:spPr>
          <a:xfrm>
            <a:off x="9098280" y="5449824"/>
            <a:ext cx="2788920" cy="201168"/>
          </a:xfrm>
          <a:prstGeom prst="rect">
            <a:avLst/>
          </a:prstGeom>
          <a:noFill/>
        </p:spPr>
        <p:txBody>
          <a:bodyPr wrap="square">
            <a:spAutoFit/>
          </a:bodyPr>
          <a:lstStyle/>
          <a:p>
            <a:pPr algn="l"/>
            <a:r>
              <a:rPr sz="800" b="0" i="0">
                <a:solidFill>
                  <a:srgbClr val="1A2B35"/>
                </a:solidFill>
                <a:latin typeface="Calibri"/>
              </a:rPr>
              <a:t>Dockerfile, pyproject.toml, pytest suite (15 passed)</a:t>
            </a:r>
          </a:p>
        </p:txBody>
      </p:sp>
      <p:sp>
        <p:nvSpPr>
          <p:cNvPr id="49" name="TextBox 48"/>
          <p:cNvSpPr txBox="1"/>
          <p:nvPr/>
        </p:nvSpPr>
        <p:spPr>
          <a:xfrm>
            <a:off x="7772400" y="5742432"/>
            <a:ext cx="1280160" cy="201168"/>
          </a:xfrm>
          <a:prstGeom prst="rect">
            <a:avLst/>
          </a:prstGeom>
          <a:noFill/>
        </p:spPr>
        <p:txBody>
          <a:bodyPr wrap="square">
            <a:spAutoFit/>
          </a:bodyPr>
          <a:lstStyle/>
          <a:p>
            <a:pPr algn="l"/>
            <a:r>
              <a:rPr sz="800" b="1" i="0">
                <a:solidFill>
                  <a:srgbClr val="147D77"/>
                </a:solidFill>
                <a:latin typeface="Calibri"/>
              </a:rPr>
              <a:t>Benchmark Specs:</a:t>
            </a:r>
          </a:p>
        </p:txBody>
      </p:sp>
      <p:sp>
        <p:nvSpPr>
          <p:cNvPr id="50" name="TextBox 49"/>
          <p:cNvSpPr txBox="1"/>
          <p:nvPr/>
        </p:nvSpPr>
        <p:spPr>
          <a:xfrm>
            <a:off x="9098280" y="5742432"/>
            <a:ext cx="2788920" cy="201168"/>
          </a:xfrm>
          <a:prstGeom prst="rect">
            <a:avLst/>
          </a:prstGeom>
          <a:noFill/>
        </p:spPr>
        <p:txBody>
          <a:bodyPr wrap="square">
            <a:spAutoFit/>
          </a:bodyPr>
          <a:lstStyle/>
          <a:p>
            <a:pPr algn="l"/>
            <a:r>
              <a:rPr sz="800" b="0" i="0">
                <a:solidFill>
                  <a:srgbClr val="1A2B35"/>
                </a:solidFill>
                <a:latin typeface="Calibri"/>
              </a:rPr>
              <a:t>BENCHMARK_MANIFEST.md (canonical experiment registry)</a:t>
            </a:r>
          </a:p>
        </p:txBody>
      </p:sp>
      <p:sp>
        <p:nvSpPr>
          <p:cNvPr id="51" name="Rectangle 5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