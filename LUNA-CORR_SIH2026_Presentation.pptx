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400" b="1" i="0">
                <a:solidFill>
                  <a:srgbClr val="FFFFFF"/>
                </a:solidFill>
                <a:latin typeface="Calibri"/>
              </a:rPr>
              <a:t>LUNA-CORR</a:t>
            </a:r>
          </a:p>
        </p:txBody>
      </p:sp>
      <p:sp>
        <p:nvSpPr>
          <p:cNvPr id="5" name="TextBox 4"/>
          <p:cNvSpPr txBox="1"/>
          <p:nvPr/>
        </p:nvSpPr>
        <p:spPr>
          <a:xfrm>
            <a:off x="274320" y="932688"/>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09344"/>
            <a:ext cx="3383280" cy="411480"/>
          </a:xfrm>
          <a:prstGeom prst="rect">
            <a:avLst/>
          </a:prstGeom>
          <a:noFill/>
        </p:spPr>
        <p:txBody>
          <a:bodyPr wrap="square">
            <a:spAutoFit/>
          </a:bodyPr>
          <a:lstStyle/>
          <a:p>
            <a:pPr algn="l"/>
            <a:r>
              <a:rPr sz="80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0312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40280"/>
            <a:ext cx="3200400" cy="164592"/>
          </a:xfrm>
          <a:prstGeom prst="rect">
            <a:avLst/>
          </a:prstGeom>
          <a:noFill/>
        </p:spPr>
        <p:txBody>
          <a:bodyPr wrap="square">
            <a:spAutoFit/>
          </a:bodyPr>
          <a:lstStyle/>
          <a:p>
            <a:pPr algn="l"/>
            <a:r>
              <a:rPr sz="750" b="1" i="0">
                <a:solidFill>
                  <a:srgbClr val="147D77"/>
                </a:solidFill>
                <a:latin typeface="Calibri"/>
              </a:rPr>
              <a:t>PROBLEM STATEMENT</a:t>
            </a:r>
          </a:p>
        </p:txBody>
      </p:sp>
      <p:sp>
        <p:nvSpPr>
          <p:cNvPr id="9" name="TextBox 8"/>
          <p:cNvSpPr txBox="1"/>
          <p:nvPr/>
        </p:nvSpPr>
        <p:spPr>
          <a:xfrm>
            <a:off x="274320" y="2404872"/>
            <a:ext cx="3200400" cy="237744"/>
          </a:xfrm>
          <a:prstGeom prst="rect">
            <a:avLst/>
          </a:prstGeom>
          <a:noFill/>
        </p:spPr>
        <p:txBody>
          <a:bodyPr wrap="square">
            <a:spAutoFit/>
          </a:bodyPr>
          <a:lstStyle/>
          <a:p>
            <a:pPr algn="l"/>
            <a:r>
              <a:rPr sz="1050" b="0" i="0">
                <a:solidFill>
                  <a:srgbClr val="F0F4F6"/>
                </a:solidFill>
                <a:latin typeface="Calibri"/>
              </a:rPr>
              <a:t>PS  26166</a:t>
            </a:r>
          </a:p>
        </p:txBody>
      </p:sp>
      <p:sp>
        <p:nvSpPr>
          <p:cNvPr id="10" name="TextBox 9"/>
          <p:cNvSpPr txBox="1"/>
          <p:nvPr/>
        </p:nvSpPr>
        <p:spPr>
          <a:xfrm>
            <a:off x="274320" y="2697480"/>
            <a:ext cx="3200400" cy="164592"/>
          </a:xfrm>
          <a:prstGeom prst="rect">
            <a:avLst/>
          </a:prstGeom>
          <a:noFill/>
        </p:spPr>
        <p:txBody>
          <a:bodyPr wrap="square">
            <a:spAutoFit/>
          </a:bodyPr>
          <a:lstStyle/>
          <a:p>
            <a:pPr algn="l"/>
            <a:r>
              <a:rPr sz="750" b="1" i="0">
                <a:solidFill>
                  <a:srgbClr val="147D77"/>
                </a:solidFill>
                <a:latin typeface="Calibri"/>
              </a:rPr>
              <a:t>THEME</a:t>
            </a:r>
          </a:p>
        </p:txBody>
      </p:sp>
      <p:sp>
        <p:nvSpPr>
          <p:cNvPr id="11" name="TextBox 10"/>
          <p:cNvSpPr txBox="1"/>
          <p:nvPr/>
        </p:nvSpPr>
        <p:spPr>
          <a:xfrm>
            <a:off x="274320" y="2862072"/>
            <a:ext cx="3200400" cy="237744"/>
          </a:xfrm>
          <a:prstGeom prst="rect">
            <a:avLst/>
          </a:prstGeom>
          <a:noFill/>
        </p:spPr>
        <p:txBody>
          <a:bodyPr wrap="square">
            <a:spAutoFit/>
          </a:bodyPr>
          <a:lstStyle/>
          <a:p>
            <a:pPr algn="l"/>
            <a:r>
              <a:rPr sz="1050" b="0" i="0">
                <a:solidFill>
                  <a:srgbClr val="F0F4F6"/>
                </a:solidFill>
                <a:latin typeface="Calibri"/>
              </a:rPr>
              <a:t>Space Technology</a:t>
            </a:r>
          </a:p>
        </p:txBody>
      </p:sp>
      <p:sp>
        <p:nvSpPr>
          <p:cNvPr id="12" name="TextBox 11"/>
          <p:cNvSpPr txBox="1"/>
          <p:nvPr/>
        </p:nvSpPr>
        <p:spPr>
          <a:xfrm>
            <a:off x="274320" y="3154680"/>
            <a:ext cx="3200400" cy="164592"/>
          </a:xfrm>
          <a:prstGeom prst="rect">
            <a:avLst/>
          </a:prstGeom>
          <a:noFill/>
        </p:spPr>
        <p:txBody>
          <a:bodyPr wrap="square">
            <a:spAutoFit/>
          </a:bodyPr>
          <a:lstStyle/>
          <a:p>
            <a:pPr algn="l"/>
            <a:r>
              <a:rPr sz="750" b="1" i="0">
                <a:solidFill>
                  <a:srgbClr val="147D77"/>
                </a:solidFill>
                <a:latin typeface="Calibri"/>
              </a:rPr>
              <a:t>PS CATEGORY</a:t>
            </a:r>
          </a:p>
        </p:txBody>
      </p:sp>
      <p:sp>
        <p:nvSpPr>
          <p:cNvPr id="13" name="TextBox 12"/>
          <p:cNvSpPr txBox="1"/>
          <p:nvPr/>
        </p:nvSpPr>
        <p:spPr>
          <a:xfrm>
            <a:off x="274320" y="3319272"/>
            <a:ext cx="3200400" cy="237744"/>
          </a:xfrm>
          <a:prstGeom prst="rect">
            <a:avLst/>
          </a:prstGeom>
          <a:noFill/>
        </p:spPr>
        <p:txBody>
          <a:bodyPr wrap="square">
            <a:spAutoFit/>
          </a:bodyPr>
          <a:lstStyle/>
          <a:p>
            <a:pPr algn="l"/>
            <a:r>
              <a:rPr sz="1050" b="0" i="0">
                <a:solidFill>
                  <a:srgbClr val="F0F4F6"/>
                </a:solidFill>
                <a:latin typeface="Calibri"/>
              </a:rPr>
              <a:t>Software</a:t>
            </a:r>
          </a:p>
        </p:txBody>
      </p:sp>
      <p:sp>
        <p:nvSpPr>
          <p:cNvPr id="14" name="TextBox 13"/>
          <p:cNvSpPr txBox="1"/>
          <p:nvPr/>
        </p:nvSpPr>
        <p:spPr>
          <a:xfrm>
            <a:off x="274320" y="3611880"/>
            <a:ext cx="3200400" cy="164592"/>
          </a:xfrm>
          <a:prstGeom prst="rect">
            <a:avLst/>
          </a:prstGeom>
          <a:noFill/>
        </p:spPr>
        <p:txBody>
          <a:bodyPr wrap="square">
            <a:spAutoFit/>
          </a:bodyPr>
          <a:lstStyle/>
          <a:p>
            <a:pPr algn="l"/>
            <a:r>
              <a:rPr sz="750" b="1" i="0">
                <a:solidFill>
                  <a:srgbClr val="147D77"/>
                </a:solidFill>
                <a:latin typeface="Calibri"/>
              </a:rPr>
              <a:t>TEAM ID</a:t>
            </a:r>
          </a:p>
        </p:txBody>
      </p:sp>
      <p:sp>
        <p:nvSpPr>
          <p:cNvPr id="15" name="TextBox 14"/>
          <p:cNvSpPr txBox="1"/>
          <p:nvPr/>
        </p:nvSpPr>
        <p:spPr>
          <a:xfrm>
            <a:off x="274320" y="3776472"/>
            <a:ext cx="3200400" cy="237744"/>
          </a:xfrm>
          <a:prstGeom prst="rect">
            <a:avLst/>
          </a:prstGeom>
          <a:noFill/>
        </p:spPr>
        <p:txBody>
          <a:bodyPr wrap="square">
            <a:spAutoFit/>
          </a:bodyPr>
          <a:lstStyle/>
          <a:p>
            <a:pPr algn="l"/>
            <a:r>
              <a:rPr sz="1050" b="0" i="0">
                <a:solidFill>
                  <a:srgbClr val="C4891E"/>
                </a:solidFill>
                <a:latin typeface="Calibri"/>
              </a:rPr>
              <a:t>189281</a:t>
            </a:r>
          </a:p>
        </p:txBody>
      </p:sp>
      <p:sp>
        <p:nvSpPr>
          <p:cNvPr id="16" name="TextBox 15"/>
          <p:cNvSpPr txBox="1"/>
          <p:nvPr/>
        </p:nvSpPr>
        <p:spPr>
          <a:xfrm>
            <a:off x="274320" y="4069080"/>
            <a:ext cx="3200400" cy="164592"/>
          </a:xfrm>
          <a:prstGeom prst="rect">
            <a:avLst/>
          </a:prstGeom>
          <a:noFill/>
        </p:spPr>
        <p:txBody>
          <a:bodyPr wrap="square">
            <a:spAutoFit/>
          </a:bodyPr>
          <a:lstStyle/>
          <a:p>
            <a:pPr algn="l"/>
            <a:r>
              <a:rPr sz="750" b="1" i="0">
                <a:solidFill>
                  <a:srgbClr val="147D77"/>
                </a:solidFill>
                <a:latin typeface="Calibri"/>
              </a:rPr>
              <a:t>REGISTERED TEAM NAME</a:t>
            </a:r>
          </a:p>
        </p:txBody>
      </p:sp>
      <p:sp>
        <p:nvSpPr>
          <p:cNvPr id="17" name="TextBox 16"/>
          <p:cNvSpPr txBox="1"/>
          <p:nvPr/>
        </p:nvSpPr>
        <p:spPr>
          <a:xfrm>
            <a:off x="274320" y="4233672"/>
            <a:ext cx="3200400" cy="237744"/>
          </a:xfrm>
          <a:prstGeom prst="rect">
            <a:avLst/>
          </a:prstGeom>
          <a:noFill/>
        </p:spPr>
        <p:txBody>
          <a:bodyPr wrap="square">
            <a:spAutoFit/>
          </a:bodyPr>
          <a:lstStyle/>
          <a:p>
            <a:pPr algn="l"/>
            <a:r>
              <a:rPr sz="105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0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85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0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493776"/>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00" b="1" i="0">
                <a:solidFill>
                  <a:srgbClr val="2E9E6E"/>
                </a:solidFill>
                <a:latin typeface="Calibri"/>
              </a:rPr>
              <a:t>DEMONSTRATED ON REAL CHANDRAYAAN-2 DATA:</a:t>
            </a:r>
          </a:p>
        </p:txBody>
      </p:sp>
      <p:sp>
        <p:nvSpPr>
          <p:cNvPr id="25" name="TextBox 24"/>
          <p:cNvSpPr txBox="1"/>
          <p:nvPr/>
        </p:nvSpPr>
        <p:spPr>
          <a:xfrm>
            <a:off x="4114800" y="3429000"/>
            <a:ext cx="7909560" cy="274320"/>
          </a:xfrm>
          <a:prstGeom prst="rect">
            <a:avLst/>
          </a:prstGeom>
          <a:noFill/>
        </p:spPr>
        <p:txBody>
          <a:bodyPr wrap="square">
            <a:spAutoFit/>
          </a:bodyPr>
          <a:lstStyle/>
          <a:p>
            <a:pPr algn="l"/>
            <a:r>
              <a:rPr sz="780" b="0" i="0">
                <a:solidFill>
                  <a:srgbClr val="1A2B35"/>
                </a:solidFill>
                <a:latin typeface="Calibri"/>
              </a:rPr>
              <a:t>• OHRC Cross-Orbit: 822 inliers (99.2% ratio)  ·  Held-out RMSE: 0.779 px (TPS Warping Accepted)
• TMC-2 Stereo: Held-out RMSE reduced 1.52 px → 0.84 px (44.7% error reduction vs Stage-3 baseline, N=150 fixed set)</a:t>
            </a:r>
          </a:p>
        </p:txBody>
      </p:sp>
      <p:sp>
        <p:nvSpPr>
          <p:cNvPr id="26" name="Rectangle 25"/>
          <p:cNvSpPr/>
          <p:nvPr/>
        </p:nvSpPr>
        <p:spPr>
          <a:xfrm>
            <a:off x="4023360"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22191"/>
            <a:ext cx="2468880" cy="164592"/>
          </a:xfrm>
          <a:prstGeom prst="rect">
            <a:avLst/>
          </a:prstGeom>
          <a:noFill/>
        </p:spPr>
        <p:txBody>
          <a:bodyPr wrap="square">
            <a:spAutoFit/>
          </a:bodyPr>
          <a:lstStyle/>
          <a:p>
            <a:pPr algn="l"/>
            <a:r>
              <a:rPr sz="800" b="1" i="0">
                <a:solidFill>
                  <a:srgbClr val="FFFFFF"/>
                </a:solidFill>
                <a:latin typeface="Calibri"/>
              </a:rPr>
              <a:t>ILLUMINATION GAP</a:t>
            </a:r>
          </a:p>
        </p:txBody>
      </p:sp>
      <p:sp>
        <p:nvSpPr>
          <p:cNvPr id="29" name="TextBox 28"/>
          <p:cNvSpPr txBox="1"/>
          <p:nvPr/>
        </p:nvSpPr>
        <p:spPr>
          <a:xfrm>
            <a:off x="4114800" y="4041648"/>
            <a:ext cx="2450592" cy="868680"/>
          </a:xfrm>
          <a:prstGeom prst="rect">
            <a:avLst/>
          </a:prstGeom>
          <a:noFill/>
        </p:spPr>
        <p:txBody>
          <a:bodyPr wrap="square">
            <a:spAutoFit/>
          </a:bodyPr>
          <a:lstStyle/>
          <a:p>
            <a:pPr algn="l"/>
            <a:r>
              <a:rPr sz="800"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22191"/>
            <a:ext cx="2468880" cy="164592"/>
          </a:xfrm>
          <a:prstGeom prst="rect">
            <a:avLst/>
          </a:prstGeom>
          <a:noFill/>
        </p:spPr>
        <p:txBody>
          <a:bodyPr wrap="square">
            <a:spAutoFit/>
          </a:bodyPr>
          <a:lstStyle/>
          <a:p>
            <a:pPr algn="l"/>
            <a:r>
              <a:rPr sz="800" b="1" i="0">
                <a:solidFill>
                  <a:srgbClr val="FFFFFF"/>
                </a:solidFill>
                <a:latin typeface="Calibri"/>
              </a:rPr>
              <a:t>VIEWPOINT &amp; RELIEF</a:t>
            </a:r>
          </a:p>
        </p:txBody>
      </p:sp>
      <p:sp>
        <p:nvSpPr>
          <p:cNvPr id="33" name="TextBox 32"/>
          <p:cNvSpPr txBox="1"/>
          <p:nvPr/>
        </p:nvSpPr>
        <p:spPr>
          <a:xfrm>
            <a:off x="6839712" y="4041648"/>
            <a:ext cx="2450592" cy="868680"/>
          </a:xfrm>
          <a:prstGeom prst="rect">
            <a:avLst/>
          </a:prstGeom>
          <a:noFill/>
        </p:spPr>
        <p:txBody>
          <a:bodyPr wrap="square">
            <a:spAutoFit/>
          </a:bodyPr>
          <a:lstStyle/>
          <a:p>
            <a:pPr algn="l"/>
            <a:r>
              <a:rPr sz="800"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22191"/>
            <a:ext cx="2468880" cy="164592"/>
          </a:xfrm>
          <a:prstGeom prst="rect">
            <a:avLst/>
          </a:prstGeom>
          <a:noFill/>
        </p:spPr>
        <p:txBody>
          <a:bodyPr wrap="square">
            <a:spAutoFit/>
          </a:bodyPr>
          <a:lstStyle/>
          <a:p>
            <a:pPr algn="l"/>
            <a:r>
              <a:rPr sz="800" b="1" i="0">
                <a:solidFill>
                  <a:srgbClr val="FFFFFF"/>
                </a:solidFill>
                <a:latin typeface="Calibri"/>
              </a:rPr>
              <a:t>320× NOMINAL SCALE GAP</a:t>
            </a:r>
          </a:p>
        </p:txBody>
      </p:sp>
      <p:sp>
        <p:nvSpPr>
          <p:cNvPr id="37" name="TextBox 36"/>
          <p:cNvSpPr txBox="1"/>
          <p:nvPr/>
        </p:nvSpPr>
        <p:spPr>
          <a:xfrm>
            <a:off x="9564624" y="4041648"/>
            <a:ext cx="2450592" cy="868680"/>
          </a:xfrm>
          <a:prstGeom prst="rect">
            <a:avLst/>
          </a:prstGeom>
          <a:noFill/>
        </p:spPr>
        <p:txBody>
          <a:bodyPr wrap="square">
            <a:spAutoFit/>
          </a:bodyPr>
          <a:lstStyle/>
          <a:p>
            <a:pPr algn="l"/>
            <a:r>
              <a:rPr sz="800"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47488"/>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56632"/>
            <a:ext cx="7955279" cy="182880"/>
          </a:xfrm>
          <a:prstGeom prst="rect">
            <a:avLst/>
          </a:prstGeom>
          <a:noFill/>
        </p:spPr>
        <p:txBody>
          <a:bodyPr wrap="square">
            <a:spAutoFit/>
          </a:bodyPr>
          <a:lstStyle/>
          <a:p>
            <a:pPr algn="l"/>
            <a:r>
              <a:rPr sz="800" b="1" i="0">
                <a:solidFill>
                  <a:srgbClr val="FFFFFF"/>
                </a:solidFill>
                <a:latin typeface="Calibri"/>
              </a:rPr>
              <a:t>OUR INNOVATION IN ONE SENTENCE</a:t>
            </a:r>
          </a:p>
        </p:txBody>
      </p:sp>
      <p:sp>
        <p:nvSpPr>
          <p:cNvPr id="40" name="TextBox 39"/>
          <p:cNvSpPr txBox="1"/>
          <p:nvPr/>
        </p:nvSpPr>
        <p:spPr>
          <a:xfrm>
            <a:off x="4114800" y="5266944"/>
            <a:ext cx="7955279" cy="438912"/>
          </a:xfrm>
          <a:prstGeom prst="rect">
            <a:avLst/>
          </a:prstGeom>
          <a:noFill/>
        </p:spPr>
        <p:txBody>
          <a:bodyPr wrap="square">
            <a:spAutoFit/>
          </a:bodyPr>
          <a:lstStyle/>
          <a:p>
            <a:pPr algn="l"/>
            <a:r>
              <a:rPr sz="800"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797296"/>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33872"/>
            <a:ext cx="7955279" cy="182880"/>
          </a:xfrm>
          <a:prstGeom prst="rect">
            <a:avLst/>
          </a:prstGeom>
          <a:noFill/>
        </p:spPr>
        <p:txBody>
          <a:bodyPr wrap="square">
            <a:spAutoFit/>
          </a:bodyPr>
          <a:lstStyle/>
          <a:p>
            <a:pPr algn="l"/>
            <a:r>
              <a:rPr sz="75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182880"/>
          </a:xfrm>
          <a:prstGeom prst="rect">
            <a:avLst/>
          </a:prstGeom>
          <a:noFill/>
        </p:spPr>
        <p:txBody>
          <a:bodyPr wrap="square">
            <a:spAutoFit/>
          </a:bodyPr>
          <a:lstStyle/>
          <a:p>
            <a:pPr algn="l"/>
            <a:r>
              <a:rPr sz="75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182880"/>
          </a:xfrm>
          <a:prstGeom prst="rect">
            <a:avLst/>
          </a:prstGeom>
          <a:noFill/>
        </p:spPr>
        <p:txBody>
          <a:bodyPr wrap="square">
            <a:spAutoFit/>
          </a:bodyPr>
          <a:lstStyle/>
          <a:p>
            <a:pPr algn="l"/>
            <a:r>
              <a:rPr sz="75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00" b="1" i="0">
                <a:solidFill>
                  <a:srgbClr val="147D77"/>
                </a:solidFill>
                <a:latin typeface="Calibri"/>
              </a:rPr>
              <a:t>THREE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00"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00"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00"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00"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00" b="1" i="0">
                <a:solidFill>
                  <a:srgbClr val="147D77"/>
                </a:solidFill>
                <a:latin typeface="Calibri"/>
              </a:rPr>
              <a:t>THREE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00" b="0" i="0">
                <a:solidFill>
                  <a:srgbClr val="1A2B35"/>
                </a:solidFill>
                <a:latin typeface="Calibri"/>
              </a:rPr>
              <a:t>▸  LCN + Mode C DEM Rendering: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00"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00"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00"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0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00"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00" b="0" i="0">
                <a:solidFill>
                  <a:srgbClr val="1A2B35"/>
                </a:solidFill>
                <a:latin typeface="Calibri"/>
              </a:rPr>
              <a:t>▸  True Precision @ 1px: Measured against known synthetic ground truth fields.</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00"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00"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0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00"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44752"/>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137392" cy="182880"/>
          </a:xfrm>
          <a:prstGeom prst="rect">
            <a:avLst/>
          </a:prstGeom>
          <a:noFill/>
        </p:spPr>
        <p:txBody>
          <a:bodyPr wrap="square">
            <a:spAutoFit/>
          </a:bodyPr>
          <a:lstStyle/>
          <a:p>
            <a:pPr algn="l"/>
            <a:r>
              <a:rPr sz="750" b="1" i="0">
                <a:solidFill>
                  <a:srgbClr val="FFFFFF"/>
                </a:solidFill>
                <a:latin typeface="Calibri"/>
              </a:rPr>
              <a:t>END-TO-END 8-STAGE PIPELINE FLOW</a:t>
            </a:r>
          </a:p>
        </p:txBody>
      </p:sp>
      <p:sp>
        <p:nvSpPr>
          <p:cNvPr id="12" name="Rectangle 11"/>
          <p:cNvSpPr/>
          <p:nvPr/>
        </p:nvSpPr>
        <p:spPr>
          <a:xfrm>
            <a:off x="4572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1682496"/>
            <a:ext cx="1261872"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12064" y="1901952"/>
            <a:ext cx="1243584" cy="594360"/>
          </a:xfrm>
          <a:prstGeom prst="rect">
            <a:avLst/>
          </a:prstGeom>
          <a:noFill/>
        </p:spPr>
        <p:txBody>
          <a:bodyPr wrap="square">
            <a:spAutoFit/>
          </a:bodyPr>
          <a:lstStyle/>
          <a:p>
            <a:pPr algn="ctr"/>
            <a:r>
              <a:rPr sz="750" b="0" i="0">
                <a:solidFill>
                  <a:srgbClr val="1A2B35"/>
                </a:solidFill>
                <a:latin typeface="Calibri"/>
              </a:rPr>
              <a:t>PDS4 label, array &amp; SPICE grid parsing</a:t>
            </a:r>
          </a:p>
        </p:txBody>
      </p:sp>
      <p:sp>
        <p:nvSpPr>
          <p:cNvPr id="16" name="Rectangle 15"/>
          <p:cNvSpPr/>
          <p:nvPr/>
        </p:nvSpPr>
        <p:spPr>
          <a:xfrm>
            <a:off x="187451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20239" y="1682496"/>
            <a:ext cx="1261872"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9384" y="1901952"/>
            <a:ext cx="1243584" cy="594360"/>
          </a:xfrm>
          <a:prstGeom prst="rect">
            <a:avLst/>
          </a:prstGeom>
          <a:noFill/>
        </p:spPr>
        <p:txBody>
          <a:bodyPr wrap="square">
            <a:spAutoFit/>
          </a:bodyPr>
          <a:lstStyle/>
          <a:p>
            <a:pPr algn="ctr"/>
            <a:r>
              <a:rPr sz="750" b="0" i="0">
                <a:solidFill>
                  <a:srgbClr val="1A2B35"/>
                </a:solidFill>
                <a:latin typeface="Calibri"/>
              </a:rPr>
              <a:t>LCN normalization + Mode C DEM lighting</a:t>
            </a:r>
          </a:p>
        </p:txBody>
      </p:sp>
      <p:sp>
        <p:nvSpPr>
          <p:cNvPr id="20" name="Rectangle 19"/>
          <p:cNvSpPr/>
          <p:nvPr/>
        </p:nvSpPr>
        <p:spPr>
          <a:xfrm>
            <a:off x="329183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37559" y="1682496"/>
            <a:ext cx="1261872"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46703" y="1901952"/>
            <a:ext cx="1243584" cy="594360"/>
          </a:xfrm>
          <a:prstGeom prst="rect">
            <a:avLst/>
          </a:prstGeom>
          <a:noFill/>
        </p:spPr>
        <p:txBody>
          <a:bodyPr wrap="square">
            <a:spAutoFit/>
          </a:bodyPr>
          <a:lstStyle/>
          <a:p>
            <a:pPr algn="ctr"/>
            <a:r>
              <a:rPr sz="750" b="0" i="0">
                <a:solidFill>
                  <a:srgbClr val="1A2B35"/>
                </a:solidFill>
                <a:latin typeface="Calibri"/>
              </a:rPr>
              <a:t>Multi-scale RootSIFT / feature matching</a:t>
            </a:r>
          </a:p>
        </p:txBody>
      </p:sp>
      <p:sp>
        <p:nvSpPr>
          <p:cNvPr id="24" name="Rectangle 23"/>
          <p:cNvSpPr/>
          <p:nvPr/>
        </p:nvSpPr>
        <p:spPr>
          <a:xfrm>
            <a:off x="470915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79" y="1682496"/>
            <a:ext cx="1261872"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64023" y="1901952"/>
            <a:ext cx="1243584" cy="594360"/>
          </a:xfrm>
          <a:prstGeom prst="rect">
            <a:avLst/>
          </a:prstGeom>
          <a:noFill/>
        </p:spPr>
        <p:txBody>
          <a:bodyPr wrap="square">
            <a:spAutoFit/>
          </a:bodyPr>
          <a:lstStyle/>
          <a:p>
            <a:pPr algn="ctr"/>
            <a:r>
              <a:rPr sz="750" b="0" i="0">
                <a:solidFill>
                  <a:srgbClr val="1A2B35"/>
                </a:solidFill>
                <a:latin typeface="Calibri"/>
              </a:rPr>
              <a:t>MAGSAC++ robust initial projective fit</a:t>
            </a:r>
          </a:p>
        </p:txBody>
      </p:sp>
      <p:sp>
        <p:nvSpPr>
          <p:cNvPr id="28" name="Rectangle 27"/>
          <p:cNvSpPr/>
          <p:nvPr/>
        </p:nvSpPr>
        <p:spPr>
          <a:xfrm>
            <a:off x="612647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2199" y="1682496"/>
            <a:ext cx="1261872"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81343" y="1901952"/>
            <a:ext cx="1243584" cy="594360"/>
          </a:xfrm>
          <a:prstGeom prst="rect">
            <a:avLst/>
          </a:prstGeom>
          <a:noFill/>
        </p:spPr>
        <p:txBody>
          <a:bodyPr wrap="square">
            <a:spAutoFit/>
          </a:bodyPr>
          <a:lstStyle/>
          <a:p>
            <a:pPr algn="ctr"/>
            <a:r>
              <a:rPr sz="750" b="0" i="0">
                <a:solidFill>
                  <a:srgbClr val="1A2B35"/>
                </a:solidFill>
                <a:latin typeface="Calibri"/>
              </a:rPr>
              <a:t>Soft-utility quotas promote uniform spread</a:t>
            </a:r>
          </a:p>
        </p:txBody>
      </p:sp>
      <p:sp>
        <p:nvSpPr>
          <p:cNvPr id="32" name="Rectangle 31"/>
          <p:cNvSpPr/>
          <p:nvPr/>
        </p:nvSpPr>
        <p:spPr>
          <a:xfrm>
            <a:off x="75438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682496"/>
            <a:ext cx="1261872"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98664" y="1901952"/>
            <a:ext cx="1243584" cy="594360"/>
          </a:xfrm>
          <a:prstGeom prst="rect">
            <a:avLst/>
          </a:prstGeom>
          <a:noFill/>
        </p:spPr>
        <p:txBody>
          <a:bodyPr wrap="square">
            <a:spAutoFit/>
          </a:bodyPr>
          <a:lstStyle/>
          <a:p>
            <a:pPr algn="ctr"/>
            <a:r>
              <a:rPr sz="750" b="0" i="0">
                <a:solidFill>
                  <a:srgbClr val="1A2B35"/>
                </a:solidFill>
                <a:latin typeface="Calibri"/>
              </a:rPr>
              <a:t>Phase-correlation peak interpolation</a:t>
            </a:r>
          </a:p>
        </p:txBody>
      </p:sp>
      <p:sp>
        <p:nvSpPr>
          <p:cNvPr id="36" name="Rectangle 35"/>
          <p:cNvSpPr/>
          <p:nvPr/>
        </p:nvSpPr>
        <p:spPr>
          <a:xfrm>
            <a:off x="896112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1682496"/>
            <a:ext cx="1261872"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15984" y="1901952"/>
            <a:ext cx="1243584" cy="594360"/>
          </a:xfrm>
          <a:prstGeom prst="rect">
            <a:avLst/>
          </a:prstGeom>
          <a:noFill/>
        </p:spPr>
        <p:txBody>
          <a:bodyPr wrap="square">
            <a:spAutoFit/>
          </a:bodyPr>
          <a:lstStyle/>
          <a:p>
            <a:pPr algn="ctr"/>
            <a:r>
              <a:rPr sz="750" b="0" i="0">
                <a:solidFill>
                  <a:srgbClr val="1A2B35"/>
                </a:solidFill>
                <a:latin typeface="Calibri"/>
              </a:rPr>
              <a:t>Relief-coherent residual + P95 threshold → TPS</a:t>
            </a:r>
          </a:p>
        </p:txBody>
      </p:sp>
      <p:sp>
        <p:nvSpPr>
          <p:cNvPr id="40" name="Rectangle 39"/>
          <p:cNvSpPr/>
          <p:nvPr/>
        </p:nvSpPr>
        <p:spPr>
          <a:xfrm>
            <a:off x="1037844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0" y="1682496"/>
            <a:ext cx="1261872"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33304" y="1901952"/>
            <a:ext cx="1243584" cy="594360"/>
          </a:xfrm>
          <a:prstGeom prst="rect">
            <a:avLst/>
          </a:prstGeom>
          <a:noFill/>
        </p:spPr>
        <p:txBody>
          <a:bodyPr wrap="square">
            <a:spAutoFit/>
          </a:bodyPr>
          <a:lstStyle/>
          <a:p>
            <a:pPr algn="ctr"/>
            <a:r>
              <a:rPr sz="750" b="0" i="0">
                <a:solidFill>
                  <a:srgbClr val="1A2B35"/>
                </a:solidFill>
                <a:latin typeface="Calibri"/>
              </a:rPr>
              <a:t>Accept with metrics or reason-coded ABSTAIN</a:t>
            </a:r>
          </a:p>
        </p:txBody>
      </p:sp>
      <p:sp>
        <p:nvSpPr>
          <p:cNvPr id="44" name="Rectangle 43"/>
          <p:cNvSpPr/>
          <p:nvPr/>
        </p:nvSpPr>
        <p:spPr>
          <a:xfrm>
            <a:off x="457200" y="2670048"/>
            <a:ext cx="612648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688336"/>
            <a:ext cx="5989320" cy="182880"/>
          </a:xfrm>
          <a:prstGeom prst="rect">
            <a:avLst/>
          </a:prstGeom>
          <a:noFill/>
        </p:spPr>
        <p:txBody>
          <a:bodyPr wrap="square">
            <a:spAutoFit/>
          </a:bodyPr>
          <a:lstStyle/>
          <a:p>
            <a:pPr algn="l"/>
            <a:r>
              <a:rPr sz="75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889504"/>
            <a:ext cx="6126480" cy="2423160"/>
          </a:xfrm>
          <a:prstGeom prst="rect">
            <a:avLst/>
          </a:prstGeom>
        </p:spPr>
      </p:pic>
      <p:sp>
        <p:nvSpPr>
          <p:cNvPr id="47" name="Rectangle 46"/>
          <p:cNvSpPr/>
          <p:nvPr/>
        </p:nvSpPr>
        <p:spPr>
          <a:xfrm>
            <a:off x="457200" y="5358384"/>
            <a:ext cx="6126480" cy="45720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82880"/>
          </a:xfrm>
          <a:prstGeom prst="rect">
            <a:avLst/>
          </a:prstGeom>
          <a:noFill/>
        </p:spPr>
        <p:txBody>
          <a:bodyPr wrap="square">
            <a:spAutoFit/>
          </a:bodyPr>
          <a:lstStyle/>
          <a:p>
            <a:pPr algn="l"/>
            <a:r>
              <a:rPr sz="850" b="1" i="0">
                <a:solidFill>
                  <a:srgbClr val="2E9E6E"/>
                </a:solidFill>
                <a:latin typeface="Calibri"/>
              </a:rPr>
              <a:t>TMC-2 STEREO — 710 INLIERS — ACCEPTED</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00" b="0" i="0">
                <a:solidFill>
                  <a:srgbClr val="1A2B35"/>
                </a:solidFill>
                <a:latin typeface="Calibri"/>
              </a:rPr>
              <a:t>Held-out RMSE: 1.52 → 0.84 px (44.7% error reduction vs Stage-3 baseline) · Continuous crater rims across seams</a:t>
            </a:r>
          </a:p>
        </p:txBody>
      </p:sp>
      <p:sp>
        <p:nvSpPr>
          <p:cNvPr id="50" name="Rectangle 49"/>
          <p:cNvSpPr/>
          <p:nvPr/>
        </p:nvSpPr>
        <p:spPr>
          <a:xfrm>
            <a:off x="6766560" y="2670048"/>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688336"/>
            <a:ext cx="4828031" cy="182880"/>
          </a:xfrm>
          <a:prstGeom prst="rect">
            <a:avLst/>
          </a:prstGeom>
          <a:noFill/>
        </p:spPr>
        <p:txBody>
          <a:bodyPr wrap="square">
            <a:spAutoFit/>
          </a:bodyPr>
          <a:lstStyle/>
          <a:p>
            <a:pPr algn="l"/>
            <a:r>
              <a:rPr sz="750" b="1" i="0">
                <a:solidFill>
                  <a:srgbClr val="FFFFFF"/>
                </a:solidFill>
                <a:latin typeface="Calibri"/>
              </a:rPr>
              <a:t>INPUT DATA PROVENANCE</a:t>
            </a:r>
          </a:p>
        </p:txBody>
      </p:sp>
      <p:sp>
        <p:nvSpPr>
          <p:cNvPr id="52" name="Rectangle 51"/>
          <p:cNvSpPr/>
          <p:nvPr/>
        </p:nvSpPr>
        <p:spPr>
          <a:xfrm>
            <a:off x="6766560" y="2889504"/>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926080"/>
            <a:ext cx="1463040" cy="201168"/>
          </a:xfrm>
          <a:prstGeom prst="rect">
            <a:avLst/>
          </a:prstGeom>
          <a:noFill/>
        </p:spPr>
        <p:txBody>
          <a:bodyPr wrap="square">
            <a:spAutoFit/>
          </a:bodyPr>
          <a:lstStyle/>
          <a:p>
            <a:pPr algn="l"/>
            <a:r>
              <a:rPr sz="750" b="1" i="0">
                <a:solidFill>
                  <a:srgbClr val="147D77"/>
                </a:solidFill>
                <a:latin typeface="Calibri"/>
              </a:rPr>
              <a:t>OHRC (~0.25 m)</a:t>
            </a:r>
          </a:p>
        </p:txBody>
      </p:sp>
      <p:sp>
        <p:nvSpPr>
          <p:cNvPr id="54" name="TextBox 53"/>
          <p:cNvSpPr txBox="1"/>
          <p:nvPr/>
        </p:nvSpPr>
        <p:spPr>
          <a:xfrm>
            <a:off x="8366760" y="2926080"/>
            <a:ext cx="3291840" cy="201168"/>
          </a:xfrm>
          <a:prstGeom prst="rect">
            <a:avLst/>
          </a:prstGeom>
          <a:noFill/>
        </p:spPr>
        <p:txBody>
          <a:bodyPr wrap="square">
            <a:spAutoFit/>
          </a:bodyPr>
          <a:lstStyle/>
          <a:p>
            <a:pPr algn="l"/>
            <a:r>
              <a:rPr sz="750" b="0" i="0">
                <a:solidFill>
                  <a:srgbClr val="1A2B35"/>
                </a:solidFill>
                <a:latin typeface="Calibri"/>
              </a:rPr>
              <a:t>Panchromatic camera, PRADAN archive, science calibrated.</a:t>
            </a:r>
          </a:p>
        </p:txBody>
      </p:sp>
      <p:sp>
        <p:nvSpPr>
          <p:cNvPr id="55" name="Rectangle 54"/>
          <p:cNvSpPr/>
          <p:nvPr/>
        </p:nvSpPr>
        <p:spPr>
          <a:xfrm>
            <a:off x="6766560" y="3218688"/>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255264"/>
            <a:ext cx="1463040" cy="201168"/>
          </a:xfrm>
          <a:prstGeom prst="rect">
            <a:avLst/>
          </a:prstGeom>
          <a:noFill/>
        </p:spPr>
        <p:txBody>
          <a:bodyPr wrap="square">
            <a:spAutoFit/>
          </a:bodyPr>
          <a:lstStyle/>
          <a:p>
            <a:pPr algn="l"/>
            <a:r>
              <a:rPr sz="750" b="1" i="0">
                <a:solidFill>
                  <a:srgbClr val="147D77"/>
                </a:solidFill>
                <a:latin typeface="Calibri"/>
              </a:rPr>
              <a:t>TMC-2 (~5 m)</a:t>
            </a:r>
          </a:p>
        </p:txBody>
      </p:sp>
      <p:sp>
        <p:nvSpPr>
          <p:cNvPr id="57" name="TextBox 56"/>
          <p:cNvSpPr txBox="1"/>
          <p:nvPr/>
        </p:nvSpPr>
        <p:spPr>
          <a:xfrm>
            <a:off x="8366760" y="3255264"/>
            <a:ext cx="3291840" cy="201168"/>
          </a:xfrm>
          <a:prstGeom prst="rect">
            <a:avLst/>
          </a:prstGeom>
          <a:noFill/>
        </p:spPr>
        <p:txBody>
          <a:bodyPr wrap="square">
            <a:spAutoFit/>
          </a:bodyPr>
          <a:lstStyle/>
          <a:p>
            <a:pPr algn="l"/>
            <a:r>
              <a:rPr sz="750" b="0" i="0">
                <a:solidFill>
                  <a:srgbClr val="1A2B35"/>
                </a:solidFill>
                <a:latin typeface="Calibri"/>
              </a:rPr>
              <a:t>Stereo triplet (fore, nadir, aft), PRADAN archive.</a:t>
            </a:r>
          </a:p>
        </p:txBody>
      </p:sp>
      <p:sp>
        <p:nvSpPr>
          <p:cNvPr id="58" name="Rectangle 57"/>
          <p:cNvSpPr/>
          <p:nvPr/>
        </p:nvSpPr>
        <p:spPr>
          <a:xfrm>
            <a:off x="6766560" y="3547872"/>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584448"/>
            <a:ext cx="1463040" cy="201168"/>
          </a:xfrm>
          <a:prstGeom prst="rect">
            <a:avLst/>
          </a:prstGeom>
          <a:noFill/>
        </p:spPr>
        <p:txBody>
          <a:bodyPr wrap="square">
            <a:spAutoFit/>
          </a:bodyPr>
          <a:lstStyle/>
          <a:p>
            <a:pPr algn="l"/>
            <a:r>
              <a:rPr sz="750" b="1" i="0">
                <a:solidFill>
                  <a:srgbClr val="147D77"/>
                </a:solidFill>
                <a:latin typeface="Calibri"/>
              </a:rPr>
              <a:t>IIRS (~80 m)</a:t>
            </a:r>
          </a:p>
        </p:txBody>
      </p:sp>
      <p:sp>
        <p:nvSpPr>
          <p:cNvPr id="60" name="TextBox 59"/>
          <p:cNvSpPr txBox="1"/>
          <p:nvPr/>
        </p:nvSpPr>
        <p:spPr>
          <a:xfrm>
            <a:off x="8366760" y="3584448"/>
            <a:ext cx="3291840" cy="201168"/>
          </a:xfrm>
          <a:prstGeom prst="rect">
            <a:avLst/>
          </a:prstGeom>
          <a:noFill/>
        </p:spPr>
        <p:txBody>
          <a:bodyPr wrap="square">
            <a:spAutoFit/>
          </a:bodyPr>
          <a:lstStyle/>
          <a:p>
            <a:pPr algn="l"/>
            <a:r>
              <a:rPr sz="750" b="0" i="0">
                <a:solidFill>
                  <a:srgbClr val="1A2B35"/>
                </a:solidFill>
                <a:latin typeface="Calibri"/>
              </a:rPr>
              <a:t>Hyperspectral (256 bands), 320× nominal GSD gap vs OHRC.</a:t>
            </a:r>
          </a:p>
        </p:txBody>
      </p:sp>
      <p:sp>
        <p:nvSpPr>
          <p:cNvPr id="61" name="Rectangle 60"/>
          <p:cNvSpPr/>
          <p:nvPr/>
        </p:nvSpPr>
        <p:spPr>
          <a:xfrm>
            <a:off x="6766560" y="387705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913632"/>
            <a:ext cx="1463040" cy="201168"/>
          </a:xfrm>
          <a:prstGeom prst="rect">
            <a:avLst/>
          </a:prstGeom>
          <a:noFill/>
        </p:spPr>
        <p:txBody>
          <a:bodyPr wrap="square">
            <a:spAutoFit/>
          </a:bodyPr>
          <a:lstStyle/>
          <a:p>
            <a:pPr algn="l"/>
            <a:r>
              <a:rPr sz="750" b="1" i="0">
                <a:solidFill>
                  <a:srgbClr val="147D77"/>
                </a:solidFill>
                <a:latin typeface="Calibri"/>
              </a:rPr>
              <a:t>LOLA DEM</a:t>
            </a:r>
          </a:p>
        </p:txBody>
      </p:sp>
      <p:sp>
        <p:nvSpPr>
          <p:cNvPr id="63" name="TextBox 62"/>
          <p:cNvSpPr txBox="1"/>
          <p:nvPr/>
        </p:nvSpPr>
        <p:spPr>
          <a:xfrm>
            <a:off x="8366760" y="3913632"/>
            <a:ext cx="3291840" cy="201168"/>
          </a:xfrm>
          <a:prstGeom prst="rect">
            <a:avLst/>
          </a:prstGeom>
          <a:noFill/>
        </p:spPr>
        <p:txBody>
          <a:bodyPr wrap="square">
            <a:spAutoFit/>
          </a:bodyPr>
          <a:lstStyle/>
          <a:p>
            <a:pPr algn="l"/>
            <a:r>
              <a:rPr sz="750" b="0" i="0">
                <a:solidFill>
                  <a:srgbClr val="1A2B35"/>
                </a:solidFill>
                <a:latin typeface="Calibri"/>
              </a:rPr>
              <a:t>South Pole DEM (~1 km GSD) from NASA USGS archive.</a:t>
            </a:r>
          </a:p>
        </p:txBody>
      </p:sp>
      <p:sp>
        <p:nvSpPr>
          <p:cNvPr id="64" name="Rectangle 63"/>
          <p:cNvSpPr/>
          <p:nvPr/>
        </p:nvSpPr>
        <p:spPr>
          <a:xfrm>
            <a:off x="6766560" y="4297680"/>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315968"/>
            <a:ext cx="4828031" cy="182880"/>
          </a:xfrm>
          <a:prstGeom prst="rect">
            <a:avLst/>
          </a:prstGeom>
          <a:noFill/>
        </p:spPr>
        <p:txBody>
          <a:bodyPr wrap="square">
            <a:spAutoFit/>
          </a:bodyPr>
          <a:lstStyle/>
          <a:p>
            <a:pPr algn="l"/>
            <a:r>
              <a:rPr sz="750" b="1" i="0">
                <a:solidFill>
                  <a:srgbClr val="FFFFFF"/>
                </a:solidFill>
                <a:latin typeface="Calibri"/>
              </a:rPr>
              <a:t>DELIVERABLE SPECIFICATION</a:t>
            </a:r>
          </a:p>
        </p:txBody>
      </p:sp>
      <p:sp>
        <p:nvSpPr>
          <p:cNvPr id="66" name="Rectangle 65"/>
          <p:cNvSpPr/>
          <p:nvPr/>
        </p:nvSpPr>
        <p:spPr>
          <a:xfrm>
            <a:off x="6766560" y="4517136"/>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553712"/>
            <a:ext cx="4782312" cy="164592"/>
          </a:xfrm>
          <a:prstGeom prst="rect">
            <a:avLst/>
          </a:prstGeom>
          <a:noFill/>
        </p:spPr>
        <p:txBody>
          <a:bodyPr wrap="square">
            <a:spAutoFit/>
          </a:bodyPr>
          <a:lstStyle/>
          <a:p>
            <a:pPr algn="l"/>
            <a:r>
              <a:rPr sz="800" b="1" i="0">
                <a:solidFill>
                  <a:srgbClr val="147D77"/>
                </a:solidFill>
                <a:latin typeface="Calibri"/>
              </a:rPr>
              <a:t>CORE OUTPUTS:</a:t>
            </a:r>
          </a:p>
        </p:txBody>
      </p:sp>
      <p:sp>
        <p:nvSpPr>
          <p:cNvPr id="68" name="TextBox 67"/>
          <p:cNvSpPr txBox="1"/>
          <p:nvPr/>
        </p:nvSpPr>
        <p:spPr>
          <a:xfrm>
            <a:off x="6858000" y="4736592"/>
            <a:ext cx="4782312" cy="402336"/>
          </a:xfrm>
          <a:prstGeom prst="rect">
            <a:avLst/>
          </a:prstGeom>
          <a:noFill/>
        </p:spPr>
        <p:txBody>
          <a:bodyPr wrap="square">
            <a:spAutoFit/>
          </a:bodyPr>
          <a:lstStyle/>
          <a:p>
            <a:pPr algn="l"/>
            <a:r>
              <a:rPr sz="75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230368"/>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266944"/>
            <a:ext cx="4782312" cy="164592"/>
          </a:xfrm>
          <a:prstGeom prst="rect">
            <a:avLst/>
          </a:prstGeom>
          <a:noFill/>
        </p:spPr>
        <p:txBody>
          <a:bodyPr wrap="square">
            <a:spAutoFit/>
          </a:bodyPr>
          <a:lstStyle/>
          <a:p>
            <a:pPr algn="l"/>
            <a:r>
              <a:rPr sz="800" b="1" i="0">
                <a:solidFill>
                  <a:srgbClr val="147D77"/>
                </a:solidFill>
                <a:latin typeface="Calibri"/>
              </a:rPr>
              <a:t>SOFTWARE DELIVERABLES:</a:t>
            </a:r>
          </a:p>
        </p:txBody>
      </p:sp>
      <p:sp>
        <p:nvSpPr>
          <p:cNvPr id="71" name="TextBox 70"/>
          <p:cNvSpPr txBox="1"/>
          <p:nvPr/>
        </p:nvSpPr>
        <p:spPr>
          <a:xfrm>
            <a:off x="6858000" y="5449824"/>
            <a:ext cx="4782312" cy="329184"/>
          </a:xfrm>
          <a:prstGeom prst="rect">
            <a:avLst/>
          </a:prstGeom>
          <a:noFill/>
        </p:spPr>
        <p:txBody>
          <a:bodyPr wrap="square">
            <a:spAutoFit/>
          </a:bodyPr>
          <a:lstStyle/>
          <a:p>
            <a:pPr algn="l"/>
            <a:r>
              <a:rPr sz="750" b="0" i="0">
                <a:solidFill>
                  <a:srgbClr val="1A2B35"/>
                </a:solidFill>
                <a:latin typeface="Calibri"/>
              </a:rPr>
              <a:t>• Runnable Python pipeline package (lunacorr/) with modular CLI
• Container / environment specification (Docker / pip) + automated test suite</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75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00" b="1" i="0">
                <a:solidFill>
                  <a:srgbClr val="2E9E6E"/>
                </a:solidFill>
                <a:latin typeface="Calibri"/>
              </a:rPr>
              <a:t>ALL REPORTED VALUES FROM EXECUTABLE BENCHMARK RUNS · Real-mission and controlled-simulation results are explicitly labeled.</a:t>
            </a:r>
          </a:p>
        </p:txBody>
      </p:sp>
      <p:sp>
        <p:nvSpPr>
          <p:cNvPr id="8" name="Rectangle 7"/>
          <p:cNvSpPr/>
          <p:nvPr/>
        </p:nvSpPr>
        <p:spPr>
          <a:xfrm>
            <a:off x="457200" y="960120"/>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6812279" cy="182880"/>
          </a:xfrm>
          <a:prstGeom prst="rect">
            <a:avLst/>
          </a:prstGeom>
          <a:noFill/>
        </p:spPr>
        <p:txBody>
          <a:bodyPr wrap="square">
            <a:spAutoFit/>
          </a:bodyPr>
          <a:lstStyle/>
          <a:p>
            <a:pPr algn="l"/>
            <a:r>
              <a:rPr sz="750" b="1" i="0">
                <a:solidFill>
                  <a:srgbClr val="FFFFFF"/>
                </a:solidFill>
                <a:latin typeface="Calibri"/>
              </a:rPr>
              <a:t>REAL MISSION DATA  /  TMC-2 STEREO ABLATION STUDY (N=150, SEED FROZEN)</a:t>
            </a:r>
          </a:p>
        </p:txBody>
      </p:sp>
      <p:pic>
        <p:nvPicPr>
          <p:cNvPr id="10" name="Picture 9" descr="fig4_ablation.png"/>
          <p:cNvPicPr>
            <a:picLocks noChangeAspect="1"/>
          </p:cNvPicPr>
          <p:nvPr/>
        </p:nvPicPr>
        <p:blipFill>
          <a:blip r:embed="rId2"/>
          <a:stretch>
            <a:fillRect/>
          </a:stretch>
        </p:blipFill>
        <p:spPr>
          <a:xfrm>
            <a:off x="457200" y="1170432"/>
            <a:ext cx="6949440" cy="2697480"/>
          </a:xfrm>
          <a:prstGeom prst="rect">
            <a:avLst/>
          </a:prstGeom>
        </p:spPr>
      </p:pic>
      <p:sp>
        <p:nvSpPr>
          <p:cNvPr id="11" name="Rectangle 10"/>
          <p:cNvSpPr/>
          <p:nvPr/>
        </p:nvSpPr>
        <p:spPr>
          <a:xfrm>
            <a:off x="457200" y="3977639"/>
            <a:ext cx="6949440" cy="73152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6766560" cy="164592"/>
          </a:xfrm>
          <a:prstGeom prst="rect">
            <a:avLst/>
          </a:prstGeom>
          <a:noFill/>
        </p:spPr>
        <p:txBody>
          <a:bodyPr wrap="square">
            <a:spAutoFit/>
          </a:bodyPr>
          <a:lstStyle/>
          <a:p>
            <a:pPr algn="l"/>
            <a:r>
              <a:rPr sz="800" b="1" i="0">
                <a:solidFill>
                  <a:srgbClr val="2E9E6E"/>
                </a:solidFill>
                <a:latin typeface="Calibri"/>
              </a:rPr>
              <a:t>RESULT 1 — REAL CHANDRAYAAN-2 TMC-2 STEREO REGISTRATION:</a:t>
            </a:r>
          </a:p>
        </p:txBody>
      </p:sp>
      <p:sp>
        <p:nvSpPr>
          <p:cNvPr id="13" name="TextBox 12"/>
          <p:cNvSpPr txBox="1"/>
          <p:nvPr/>
        </p:nvSpPr>
        <p:spPr>
          <a:xfrm>
            <a:off x="548640" y="4187952"/>
            <a:ext cx="6766560" cy="475488"/>
          </a:xfrm>
          <a:prstGeom prst="rect">
            <a:avLst/>
          </a:prstGeom>
          <a:noFill/>
        </p:spPr>
        <p:txBody>
          <a:bodyPr wrap="square">
            <a:spAutoFit/>
          </a:bodyPr>
          <a:lstStyle/>
          <a:p>
            <a:pPr algn="l"/>
            <a:r>
              <a:rPr sz="800" b="0" i="0">
                <a:solidFill>
                  <a:srgbClr val="1A2B35"/>
                </a:solidFill>
                <a:latin typeface="Calibri"/>
              </a:rPr>
              <a:t>• Held-out RMSE reduced: 1.52 px → 0.84 px (44.7% held-out RMSE reduction vs Stage-3 rigid/projective baseline)
• 95% Bootstrap Confidence Interval: [0.71, 0.97] px (B = 1000, seed frozen)
• Evaluated on N=150 fixed held-out set, strictly withheld from transform fitting.</a:t>
            </a:r>
          </a:p>
        </p:txBody>
      </p:sp>
      <p:sp>
        <p:nvSpPr>
          <p:cNvPr id="14" name="Rectangle 13"/>
          <p:cNvSpPr/>
          <p:nvPr/>
        </p:nvSpPr>
        <p:spPr>
          <a:xfrm>
            <a:off x="457200" y="4800600"/>
            <a:ext cx="6949440" cy="50292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37176"/>
            <a:ext cx="6766560" cy="164592"/>
          </a:xfrm>
          <a:prstGeom prst="rect">
            <a:avLst/>
          </a:prstGeom>
          <a:noFill/>
        </p:spPr>
        <p:txBody>
          <a:bodyPr wrap="square">
            <a:spAutoFit/>
          </a:bodyPr>
          <a:lstStyle/>
          <a:p>
            <a:pPr algn="l"/>
            <a:r>
              <a:rPr sz="800" b="1" i="0">
                <a:solidFill>
                  <a:srgbClr val="147D77"/>
                </a:solidFill>
                <a:latin typeface="Calibri"/>
              </a:rPr>
              <a:t>RESULT 2 — DISJOINT SCENE NEGATIVE CONTROL (FAIL-SAFE ABSTENTION):</a:t>
            </a:r>
          </a:p>
        </p:txBody>
      </p:sp>
      <p:sp>
        <p:nvSpPr>
          <p:cNvPr id="16" name="TextBox 15"/>
          <p:cNvSpPr txBox="1"/>
          <p:nvPr/>
        </p:nvSpPr>
        <p:spPr>
          <a:xfrm>
            <a:off x="548640" y="5010912"/>
            <a:ext cx="6766560" cy="274320"/>
          </a:xfrm>
          <a:prstGeom prst="rect">
            <a:avLst/>
          </a:prstGeom>
          <a:noFill/>
        </p:spPr>
        <p:txBody>
          <a:bodyPr wrap="square">
            <a:spAutoFit/>
          </a:bodyPr>
          <a:lstStyle/>
          <a:p>
            <a:pPr algn="l"/>
            <a:r>
              <a:rPr sz="800" b="0" i="0">
                <a:solidFill>
                  <a:srgbClr val="1A2B35"/>
                </a:solidFill>
                <a:latin typeface="Calibri"/>
              </a:rPr>
              <a:t>1/1 disjoint scene pair rejected; 5 candidate inliers retained but no registration accepted (system fails safely).</a:t>
            </a:r>
          </a:p>
        </p:txBody>
      </p:sp>
      <p:sp>
        <p:nvSpPr>
          <p:cNvPr id="17" name="Rectangle 16"/>
          <p:cNvSpPr/>
          <p:nvPr/>
        </p:nvSpPr>
        <p:spPr>
          <a:xfrm>
            <a:off x="457200" y="5413248"/>
            <a:ext cx="6949440" cy="292608"/>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49824"/>
            <a:ext cx="6766560" cy="201168"/>
          </a:xfrm>
          <a:prstGeom prst="rect">
            <a:avLst/>
          </a:prstGeom>
          <a:noFill/>
        </p:spPr>
        <p:txBody>
          <a:bodyPr wrap="square">
            <a:spAutoFit/>
          </a:bodyPr>
          <a:lstStyle/>
          <a:p>
            <a:pPr algn="l"/>
            <a:r>
              <a:rPr sz="750" b="0" i="1">
                <a:solidFill>
                  <a:srgbClr val="6B7E88"/>
                </a:solidFill>
                <a:latin typeface="Calibri"/>
              </a:rPr>
              <a:t>EVALUATION PRINCIPLE: N≥20 inliers required; 20% correspondences held out; independent geodetic GT pending.</a:t>
            </a:r>
          </a:p>
        </p:txBody>
      </p:sp>
      <p:sp>
        <p:nvSpPr>
          <p:cNvPr id="19" name="Rectangle 18"/>
          <p:cNvSpPr/>
          <p:nvPr/>
        </p:nvSpPr>
        <p:spPr>
          <a:xfrm>
            <a:off x="7635240" y="96012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978408"/>
            <a:ext cx="4206240" cy="182880"/>
          </a:xfrm>
          <a:prstGeom prst="rect">
            <a:avLst/>
          </a:prstGeom>
          <a:noFill/>
        </p:spPr>
        <p:txBody>
          <a:bodyPr wrap="square">
            <a:spAutoFit/>
          </a:bodyPr>
          <a:lstStyle/>
          <a:p>
            <a:pPr algn="l"/>
            <a:r>
              <a:rPr sz="750" b="1" i="0">
                <a:solidFill>
                  <a:srgbClr val="FFFFFF"/>
                </a:solidFill>
                <a:latin typeface="Calibri"/>
              </a:rPr>
              <a:t>BENCHMARK RESULTS SUMMARY  /  EXECUTABLE CODE RUNS</a:t>
            </a:r>
          </a:p>
        </p:txBody>
      </p:sp>
      <p:sp>
        <p:nvSpPr>
          <p:cNvPr id="21" name="Rectangle 20"/>
          <p:cNvSpPr/>
          <p:nvPr/>
        </p:nvSpPr>
        <p:spPr>
          <a:xfrm>
            <a:off x="7635240" y="117043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120700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3" name="TextBox 22"/>
          <p:cNvSpPr txBox="1"/>
          <p:nvPr/>
        </p:nvSpPr>
        <p:spPr>
          <a:xfrm>
            <a:off x="7882127" y="1197864"/>
            <a:ext cx="1920240" cy="182880"/>
          </a:xfrm>
          <a:prstGeom prst="rect">
            <a:avLst/>
          </a:prstGeom>
          <a:noFill/>
        </p:spPr>
        <p:txBody>
          <a:bodyPr wrap="square">
            <a:spAutoFit/>
          </a:bodyPr>
          <a:lstStyle/>
          <a:p>
            <a:pPr algn="l"/>
            <a:r>
              <a:rPr sz="750" b="1" i="0">
                <a:solidFill>
                  <a:srgbClr val="1A2B35"/>
                </a:solidFill>
                <a:latin typeface="Calibri"/>
              </a:rPr>
              <a:t>LCN representation yield</a:t>
            </a:r>
          </a:p>
        </p:txBody>
      </p:sp>
      <p:sp>
        <p:nvSpPr>
          <p:cNvPr id="24" name="TextBox 23"/>
          <p:cNvSpPr txBox="1"/>
          <p:nvPr/>
        </p:nvSpPr>
        <p:spPr>
          <a:xfrm>
            <a:off x="9829800" y="1197864"/>
            <a:ext cx="1463040" cy="182880"/>
          </a:xfrm>
          <a:prstGeom prst="rect">
            <a:avLst/>
          </a:prstGeom>
          <a:noFill/>
        </p:spPr>
        <p:txBody>
          <a:bodyPr wrap="square">
            <a:spAutoFit/>
          </a:bodyPr>
          <a:lstStyle/>
          <a:p>
            <a:pPr algn="l"/>
            <a:r>
              <a:rPr sz="750" b="0" i="0">
                <a:solidFill>
                  <a:srgbClr val="2E9E6E"/>
                </a:solidFill>
                <a:latin typeface="Calibri"/>
              </a:rPr>
              <a:t>+58.1% candidates vs raw</a:t>
            </a:r>
          </a:p>
        </p:txBody>
      </p:sp>
      <p:sp>
        <p:nvSpPr>
          <p:cNvPr id="25" name="TextBox 24"/>
          <p:cNvSpPr txBox="1"/>
          <p:nvPr/>
        </p:nvSpPr>
        <p:spPr>
          <a:xfrm>
            <a:off x="11292840" y="119786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26" name="Rectangle 25"/>
          <p:cNvSpPr/>
          <p:nvPr/>
        </p:nvSpPr>
        <p:spPr>
          <a:xfrm>
            <a:off x="7635240" y="142646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146304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8" name="TextBox 27"/>
          <p:cNvSpPr txBox="1"/>
          <p:nvPr/>
        </p:nvSpPr>
        <p:spPr>
          <a:xfrm>
            <a:off x="7882127" y="1453896"/>
            <a:ext cx="1920240" cy="182880"/>
          </a:xfrm>
          <a:prstGeom prst="rect">
            <a:avLst/>
          </a:prstGeom>
          <a:noFill/>
        </p:spPr>
        <p:txBody>
          <a:bodyPr wrap="square">
            <a:spAutoFit/>
          </a:bodyPr>
          <a:lstStyle/>
          <a:p>
            <a:pPr algn="l"/>
            <a:r>
              <a:rPr sz="750" b="1" i="0">
                <a:solidFill>
                  <a:srgbClr val="1A2B35"/>
                </a:solidFill>
                <a:latin typeface="Calibri"/>
              </a:rPr>
              <a:t>TMC-2 stereo held-out</a:t>
            </a:r>
          </a:p>
        </p:txBody>
      </p:sp>
      <p:sp>
        <p:nvSpPr>
          <p:cNvPr id="29" name="TextBox 28"/>
          <p:cNvSpPr txBox="1"/>
          <p:nvPr/>
        </p:nvSpPr>
        <p:spPr>
          <a:xfrm>
            <a:off x="9829800" y="1453896"/>
            <a:ext cx="1463040" cy="182880"/>
          </a:xfrm>
          <a:prstGeom prst="rect">
            <a:avLst/>
          </a:prstGeom>
          <a:noFill/>
        </p:spPr>
        <p:txBody>
          <a:bodyPr wrap="square">
            <a:spAutoFit/>
          </a:bodyPr>
          <a:lstStyle/>
          <a:p>
            <a:pPr algn="l"/>
            <a:r>
              <a:rPr sz="750" b="0" i="0">
                <a:solidFill>
                  <a:srgbClr val="2E9E6E"/>
                </a:solidFill>
                <a:latin typeface="Calibri"/>
              </a:rPr>
              <a:t>0.84 px RMSE (44.7% gain)</a:t>
            </a:r>
          </a:p>
        </p:txBody>
      </p:sp>
      <p:sp>
        <p:nvSpPr>
          <p:cNvPr id="30" name="TextBox 29"/>
          <p:cNvSpPr txBox="1"/>
          <p:nvPr/>
        </p:nvSpPr>
        <p:spPr>
          <a:xfrm>
            <a:off x="11292840" y="1453896"/>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1" name="Rectangle 30"/>
          <p:cNvSpPr/>
          <p:nvPr/>
        </p:nvSpPr>
        <p:spPr>
          <a:xfrm>
            <a:off x="7635240" y="168249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171907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3" name="TextBox 32"/>
          <p:cNvSpPr txBox="1"/>
          <p:nvPr/>
        </p:nvSpPr>
        <p:spPr>
          <a:xfrm>
            <a:off x="7882127" y="1709928"/>
            <a:ext cx="1920240" cy="182880"/>
          </a:xfrm>
          <a:prstGeom prst="rect">
            <a:avLst/>
          </a:prstGeom>
          <a:noFill/>
        </p:spPr>
        <p:txBody>
          <a:bodyPr wrap="square">
            <a:spAutoFit/>
          </a:bodyPr>
          <a:lstStyle/>
          <a:p>
            <a:pPr algn="l"/>
            <a:r>
              <a:rPr sz="750" b="1" i="0">
                <a:solidFill>
                  <a:srgbClr val="1A2B35"/>
                </a:solidFill>
                <a:latin typeface="Calibri"/>
              </a:rPr>
              <a:t>Bootstrap 95% CI (B=1000)</a:t>
            </a:r>
          </a:p>
        </p:txBody>
      </p:sp>
      <p:sp>
        <p:nvSpPr>
          <p:cNvPr id="34" name="TextBox 33"/>
          <p:cNvSpPr txBox="1"/>
          <p:nvPr/>
        </p:nvSpPr>
        <p:spPr>
          <a:xfrm>
            <a:off x="9829800" y="1709928"/>
            <a:ext cx="1463040" cy="182880"/>
          </a:xfrm>
          <a:prstGeom prst="rect">
            <a:avLst/>
          </a:prstGeom>
          <a:noFill/>
        </p:spPr>
        <p:txBody>
          <a:bodyPr wrap="square">
            <a:spAutoFit/>
          </a:bodyPr>
          <a:lstStyle/>
          <a:p>
            <a:pPr algn="l"/>
            <a:r>
              <a:rPr sz="750" b="0" i="0">
                <a:solidFill>
                  <a:srgbClr val="2E9E6E"/>
                </a:solidFill>
                <a:latin typeface="Calibri"/>
              </a:rPr>
              <a:t>[0.71, 0.97] px, frozen</a:t>
            </a:r>
          </a:p>
        </p:txBody>
      </p:sp>
      <p:sp>
        <p:nvSpPr>
          <p:cNvPr id="35" name="TextBox 34"/>
          <p:cNvSpPr txBox="1"/>
          <p:nvPr/>
        </p:nvSpPr>
        <p:spPr>
          <a:xfrm>
            <a:off x="11292840" y="1709928"/>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6" name="Rectangle 35"/>
          <p:cNvSpPr/>
          <p:nvPr/>
        </p:nvSpPr>
        <p:spPr>
          <a:xfrm>
            <a:off x="7635240" y="1938528"/>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0" y="1975104"/>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38" name="TextBox 37"/>
          <p:cNvSpPr txBox="1"/>
          <p:nvPr/>
        </p:nvSpPr>
        <p:spPr>
          <a:xfrm>
            <a:off x="7882127" y="1965960"/>
            <a:ext cx="1920240" cy="182880"/>
          </a:xfrm>
          <a:prstGeom prst="rect">
            <a:avLst/>
          </a:prstGeom>
          <a:noFill/>
        </p:spPr>
        <p:txBody>
          <a:bodyPr wrap="square">
            <a:spAutoFit/>
          </a:bodyPr>
          <a:lstStyle/>
          <a:p>
            <a:pPr algn="l"/>
            <a:r>
              <a:rPr sz="750" b="1" i="0">
                <a:solidFill>
                  <a:srgbClr val="1A2B35"/>
                </a:solidFill>
                <a:latin typeface="Calibri"/>
              </a:rPr>
              <a:t>Controlled synthetic GT</a:t>
            </a:r>
          </a:p>
        </p:txBody>
      </p:sp>
      <p:sp>
        <p:nvSpPr>
          <p:cNvPr id="39" name="TextBox 38"/>
          <p:cNvSpPr txBox="1"/>
          <p:nvPr/>
        </p:nvSpPr>
        <p:spPr>
          <a:xfrm>
            <a:off x="9829800" y="1965960"/>
            <a:ext cx="1463040" cy="182880"/>
          </a:xfrm>
          <a:prstGeom prst="rect">
            <a:avLst/>
          </a:prstGeom>
          <a:noFill/>
        </p:spPr>
        <p:txBody>
          <a:bodyPr wrap="square">
            <a:spAutoFit/>
          </a:bodyPr>
          <a:lstStyle/>
          <a:p>
            <a:pPr algn="l"/>
            <a:r>
              <a:rPr sz="750" b="0" i="0">
                <a:solidFill>
                  <a:srgbClr val="147D77"/>
                </a:solidFill>
                <a:latin typeface="Calibri"/>
              </a:rPr>
              <a:t>0.18 px median error</a:t>
            </a:r>
          </a:p>
        </p:txBody>
      </p:sp>
      <p:sp>
        <p:nvSpPr>
          <p:cNvPr id="40" name="TextBox 39"/>
          <p:cNvSpPr txBox="1"/>
          <p:nvPr/>
        </p:nvSpPr>
        <p:spPr>
          <a:xfrm>
            <a:off x="11292840" y="1965960"/>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41" name="Rectangle 40"/>
          <p:cNvSpPr/>
          <p:nvPr/>
        </p:nvSpPr>
        <p:spPr>
          <a:xfrm>
            <a:off x="7635240" y="2194560"/>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0" y="223113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3" name="TextBox 42"/>
          <p:cNvSpPr txBox="1"/>
          <p:nvPr/>
        </p:nvSpPr>
        <p:spPr>
          <a:xfrm>
            <a:off x="7882127" y="2221992"/>
            <a:ext cx="1920240" cy="182880"/>
          </a:xfrm>
          <a:prstGeom prst="rect">
            <a:avLst/>
          </a:prstGeom>
          <a:noFill/>
        </p:spPr>
        <p:txBody>
          <a:bodyPr wrap="square">
            <a:spAutoFit/>
          </a:bodyPr>
          <a:lstStyle/>
          <a:p>
            <a:pPr algn="l"/>
            <a:r>
              <a:rPr sz="750" b="1" i="0">
                <a:solidFill>
                  <a:srgbClr val="1A2B35"/>
                </a:solidFill>
                <a:latin typeface="Calibri"/>
              </a:rPr>
              <a:t>Disjoint negative control</a:t>
            </a:r>
          </a:p>
        </p:txBody>
      </p:sp>
      <p:sp>
        <p:nvSpPr>
          <p:cNvPr id="44" name="TextBox 43"/>
          <p:cNvSpPr txBox="1"/>
          <p:nvPr/>
        </p:nvSpPr>
        <p:spPr>
          <a:xfrm>
            <a:off x="9829800" y="2221992"/>
            <a:ext cx="1463040" cy="182880"/>
          </a:xfrm>
          <a:prstGeom prst="rect">
            <a:avLst/>
          </a:prstGeom>
          <a:noFill/>
        </p:spPr>
        <p:txBody>
          <a:bodyPr wrap="square">
            <a:spAutoFit/>
          </a:bodyPr>
          <a:lstStyle/>
          <a:p>
            <a:pPr algn="l"/>
            <a:r>
              <a:rPr sz="750" b="0" i="0">
                <a:solidFill>
                  <a:srgbClr val="2E9E6E"/>
                </a:solidFill>
                <a:latin typeface="Calibri"/>
              </a:rPr>
              <a:t>1/1 rejected (fails safely)</a:t>
            </a:r>
          </a:p>
        </p:txBody>
      </p:sp>
      <p:sp>
        <p:nvSpPr>
          <p:cNvPr id="45" name="TextBox 44"/>
          <p:cNvSpPr txBox="1"/>
          <p:nvPr/>
        </p:nvSpPr>
        <p:spPr>
          <a:xfrm>
            <a:off x="11292840" y="2221992"/>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46" name="Rectangle 45"/>
          <p:cNvSpPr/>
          <p:nvPr/>
        </p:nvSpPr>
        <p:spPr>
          <a:xfrm>
            <a:off x="7635240" y="245059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80960" y="248716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8" name="TextBox 47"/>
          <p:cNvSpPr txBox="1"/>
          <p:nvPr/>
        </p:nvSpPr>
        <p:spPr>
          <a:xfrm>
            <a:off x="7882127" y="2478024"/>
            <a:ext cx="1920240" cy="182880"/>
          </a:xfrm>
          <a:prstGeom prst="rect">
            <a:avLst/>
          </a:prstGeom>
          <a:noFill/>
        </p:spPr>
        <p:txBody>
          <a:bodyPr wrap="square">
            <a:spAutoFit/>
          </a:bodyPr>
          <a:lstStyle/>
          <a:p>
            <a:pPr algn="l"/>
            <a:r>
              <a:rPr sz="750" b="1" i="0">
                <a:solidFill>
                  <a:srgbClr val="1A2B35"/>
                </a:solidFill>
                <a:latin typeface="Calibri"/>
              </a:rPr>
              <a:t>I/O latency (pyramid reader)</a:t>
            </a:r>
          </a:p>
        </p:txBody>
      </p:sp>
      <p:sp>
        <p:nvSpPr>
          <p:cNvPr id="49" name="TextBox 48"/>
          <p:cNvSpPr txBox="1"/>
          <p:nvPr/>
        </p:nvSpPr>
        <p:spPr>
          <a:xfrm>
            <a:off x="9829800" y="2478024"/>
            <a:ext cx="1463040" cy="182880"/>
          </a:xfrm>
          <a:prstGeom prst="rect">
            <a:avLst/>
          </a:prstGeom>
          <a:noFill/>
        </p:spPr>
        <p:txBody>
          <a:bodyPr wrap="square">
            <a:spAutoFit/>
          </a:bodyPr>
          <a:lstStyle/>
          <a:p>
            <a:pPr algn="l"/>
            <a:r>
              <a:rPr sz="750" b="0" i="0">
                <a:solidFill>
                  <a:srgbClr val="2E9E6E"/>
                </a:solidFill>
                <a:latin typeface="Calibri"/>
              </a:rPr>
              <a:t>Median 34.4 ms, p95 &lt; 80 ms</a:t>
            </a:r>
          </a:p>
        </p:txBody>
      </p:sp>
      <p:sp>
        <p:nvSpPr>
          <p:cNvPr id="50" name="TextBox 49"/>
          <p:cNvSpPr txBox="1"/>
          <p:nvPr/>
        </p:nvSpPr>
        <p:spPr>
          <a:xfrm>
            <a:off x="11292840" y="247802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51" name="Rectangle 50"/>
          <p:cNvSpPr/>
          <p:nvPr/>
        </p:nvSpPr>
        <p:spPr>
          <a:xfrm>
            <a:off x="7635240" y="270662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80960" y="2743200"/>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53" name="TextBox 52"/>
          <p:cNvSpPr txBox="1"/>
          <p:nvPr/>
        </p:nvSpPr>
        <p:spPr>
          <a:xfrm>
            <a:off x="7882127" y="2734056"/>
            <a:ext cx="1920240" cy="182880"/>
          </a:xfrm>
          <a:prstGeom prst="rect">
            <a:avLst/>
          </a:prstGeom>
          <a:noFill/>
        </p:spPr>
        <p:txBody>
          <a:bodyPr wrap="square">
            <a:spAutoFit/>
          </a:bodyPr>
          <a:lstStyle/>
          <a:p>
            <a:pPr algn="l"/>
            <a:r>
              <a:rPr sz="750" b="1" i="0">
                <a:solidFill>
                  <a:srgbClr val="1A2B35"/>
                </a:solidFill>
                <a:latin typeface="Calibri"/>
              </a:rPr>
              <a:t>Controlled re-illumination</a:t>
            </a:r>
          </a:p>
        </p:txBody>
      </p:sp>
      <p:sp>
        <p:nvSpPr>
          <p:cNvPr id="54" name="TextBox 53"/>
          <p:cNvSpPr txBox="1"/>
          <p:nvPr/>
        </p:nvSpPr>
        <p:spPr>
          <a:xfrm>
            <a:off x="9829800" y="2734056"/>
            <a:ext cx="1463040" cy="182880"/>
          </a:xfrm>
          <a:prstGeom prst="rect">
            <a:avLst/>
          </a:prstGeom>
          <a:noFill/>
        </p:spPr>
        <p:txBody>
          <a:bodyPr wrap="square">
            <a:spAutoFit/>
          </a:bodyPr>
          <a:lstStyle/>
          <a:p>
            <a:pPr algn="l"/>
            <a:r>
              <a:rPr sz="750" b="0" i="0">
                <a:solidFill>
                  <a:srgbClr val="147D77"/>
                </a:solidFill>
                <a:latin typeface="Calibri"/>
              </a:rPr>
              <a:t>1,679–2,859 inliers</a:t>
            </a:r>
          </a:p>
        </p:txBody>
      </p:sp>
      <p:sp>
        <p:nvSpPr>
          <p:cNvPr id="55" name="TextBox 54"/>
          <p:cNvSpPr txBox="1"/>
          <p:nvPr/>
        </p:nvSpPr>
        <p:spPr>
          <a:xfrm>
            <a:off x="11292840" y="2734056"/>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56" name="Rectangle 55"/>
          <p:cNvSpPr/>
          <p:nvPr/>
        </p:nvSpPr>
        <p:spPr>
          <a:xfrm>
            <a:off x="7635240" y="296265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680960" y="299923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8" name="TextBox 57"/>
          <p:cNvSpPr txBox="1"/>
          <p:nvPr/>
        </p:nvSpPr>
        <p:spPr>
          <a:xfrm>
            <a:off x="7882127" y="2990088"/>
            <a:ext cx="1920240" cy="182880"/>
          </a:xfrm>
          <a:prstGeom prst="rect">
            <a:avLst/>
          </a:prstGeom>
          <a:noFill/>
        </p:spPr>
        <p:txBody>
          <a:bodyPr wrap="square">
            <a:spAutoFit/>
          </a:bodyPr>
          <a:lstStyle/>
          <a:p>
            <a:pPr algn="l"/>
            <a:r>
              <a:rPr sz="750" b="1" i="0">
                <a:solidFill>
                  <a:srgbClr val="1A2B35"/>
                </a:solidFill>
                <a:latin typeface="Calibri"/>
              </a:rPr>
              <a:t>Real cross-sensor overlap</a:t>
            </a:r>
          </a:p>
        </p:txBody>
      </p:sp>
      <p:sp>
        <p:nvSpPr>
          <p:cNvPr id="59" name="TextBox 58"/>
          <p:cNvSpPr txBox="1"/>
          <p:nvPr/>
        </p:nvSpPr>
        <p:spPr>
          <a:xfrm>
            <a:off x="9829800" y="2990088"/>
            <a:ext cx="1463040" cy="182880"/>
          </a:xfrm>
          <a:prstGeom prst="rect">
            <a:avLst/>
          </a:prstGeom>
          <a:noFill/>
        </p:spPr>
        <p:txBody>
          <a:bodyPr wrap="square">
            <a:spAutoFit/>
          </a:bodyPr>
          <a:lstStyle/>
          <a:p>
            <a:pPr algn="l"/>
            <a:r>
              <a:rPr sz="750" b="0" i="0">
                <a:solidFill>
                  <a:srgbClr val="C4891E"/>
                </a:solidFill>
                <a:latin typeface="Calibri"/>
              </a:rPr>
              <a:t>Experiment pending</a:t>
            </a:r>
          </a:p>
        </p:txBody>
      </p:sp>
      <p:sp>
        <p:nvSpPr>
          <p:cNvPr id="60" name="TextBox 59"/>
          <p:cNvSpPr txBox="1"/>
          <p:nvPr/>
        </p:nvSpPr>
        <p:spPr>
          <a:xfrm>
            <a:off x="11292840" y="2990088"/>
            <a:ext cx="640080" cy="182880"/>
          </a:xfrm>
          <a:prstGeom prst="rect">
            <a:avLst/>
          </a:prstGeom>
          <a:noFill/>
        </p:spPr>
        <p:txBody>
          <a:bodyPr wrap="square">
            <a:spAutoFit/>
          </a:bodyPr>
          <a:lstStyle/>
          <a:p>
            <a:pPr algn="r"/>
            <a:r>
              <a:rPr sz="650" b="0" i="0">
                <a:solidFill>
                  <a:srgbClr val="6B7E88"/>
                </a:solidFill>
                <a:latin typeface="Calibri"/>
              </a:rPr>
              <a:t>[Roadmap]</a:t>
            </a:r>
          </a:p>
        </p:txBody>
      </p:sp>
      <p:sp>
        <p:nvSpPr>
          <p:cNvPr id="61" name="Rectangle 60"/>
          <p:cNvSpPr/>
          <p:nvPr/>
        </p:nvSpPr>
        <p:spPr>
          <a:xfrm>
            <a:off x="7635240" y="333756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26679" y="3355848"/>
            <a:ext cx="4206240" cy="182880"/>
          </a:xfrm>
          <a:prstGeom prst="rect">
            <a:avLst/>
          </a:prstGeom>
          <a:noFill/>
        </p:spPr>
        <p:txBody>
          <a:bodyPr wrap="square">
            <a:spAutoFit/>
          </a:bodyPr>
          <a:lstStyle/>
          <a:p>
            <a:pPr algn="l"/>
            <a:r>
              <a:rPr sz="750" b="1" i="0">
                <a:solidFill>
                  <a:srgbClr val="FFFFFF"/>
                </a:solidFill>
                <a:latin typeface="Calibri"/>
              </a:rPr>
              <a:t>CLAIMS / EVIDENCE LEDGER</a:t>
            </a:r>
          </a:p>
        </p:txBody>
      </p:sp>
      <p:sp>
        <p:nvSpPr>
          <p:cNvPr id="63" name="Rectangle 62"/>
          <p:cNvSpPr/>
          <p:nvPr/>
        </p:nvSpPr>
        <p:spPr>
          <a:xfrm>
            <a:off x="7635240" y="3566160"/>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99248" y="3593591"/>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65" name="TextBox 64"/>
          <p:cNvSpPr txBox="1"/>
          <p:nvPr/>
        </p:nvSpPr>
        <p:spPr>
          <a:xfrm>
            <a:off x="7900416" y="3593591"/>
            <a:ext cx="3977639" cy="164592"/>
          </a:xfrm>
          <a:prstGeom prst="rect">
            <a:avLst/>
          </a:prstGeom>
          <a:noFill/>
        </p:spPr>
        <p:txBody>
          <a:bodyPr wrap="square">
            <a:spAutoFit/>
          </a:bodyPr>
          <a:lstStyle/>
          <a:p>
            <a:pPr algn="l"/>
            <a:r>
              <a:rPr sz="800" b="1" i="0">
                <a:solidFill>
                  <a:srgbClr val="2E9E6E"/>
                </a:solidFill>
                <a:latin typeface="Calibri"/>
              </a:rPr>
              <a:t>DEMONSTRATED ON REAL-DATA BENCHMARKS</a:t>
            </a:r>
          </a:p>
        </p:txBody>
      </p:sp>
      <p:sp>
        <p:nvSpPr>
          <p:cNvPr id="66" name="TextBox 65"/>
          <p:cNvSpPr txBox="1"/>
          <p:nvPr/>
        </p:nvSpPr>
        <p:spPr>
          <a:xfrm>
            <a:off x="7900416" y="3749039"/>
            <a:ext cx="3977639" cy="164592"/>
          </a:xfrm>
          <a:prstGeom prst="rect">
            <a:avLst/>
          </a:prstGeom>
          <a:noFill/>
        </p:spPr>
        <p:txBody>
          <a:bodyPr wrap="square">
            <a:spAutoFit/>
          </a:bodyPr>
          <a:lstStyle/>
          <a:p>
            <a:pPr algn="l"/>
            <a:r>
              <a:rPr sz="750" b="0" i="0">
                <a:solidFill>
                  <a:srgbClr val="6B7E88"/>
                </a:solidFill>
                <a:latin typeface="Calibri"/>
              </a:rPr>
              <a:t>LCN yield (+58.1%), stereo RMSE (0.84 px), safe abstention, I/O latency</a:t>
            </a:r>
          </a:p>
        </p:txBody>
      </p:sp>
      <p:sp>
        <p:nvSpPr>
          <p:cNvPr id="67" name="Rectangle 66"/>
          <p:cNvSpPr/>
          <p:nvPr/>
        </p:nvSpPr>
        <p:spPr>
          <a:xfrm>
            <a:off x="7635240" y="3968496"/>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699248" y="3995928"/>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69" name="TextBox 68"/>
          <p:cNvSpPr txBox="1"/>
          <p:nvPr/>
        </p:nvSpPr>
        <p:spPr>
          <a:xfrm>
            <a:off x="7900416" y="3995928"/>
            <a:ext cx="3977639" cy="164592"/>
          </a:xfrm>
          <a:prstGeom prst="rect">
            <a:avLst/>
          </a:prstGeom>
          <a:noFill/>
        </p:spPr>
        <p:txBody>
          <a:bodyPr wrap="square">
            <a:spAutoFit/>
          </a:bodyPr>
          <a:lstStyle/>
          <a:p>
            <a:pPr algn="l"/>
            <a:r>
              <a:rPr sz="800" b="1" i="0">
                <a:solidFill>
                  <a:srgbClr val="147D77"/>
                </a:solidFill>
                <a:latin typeface="Calibri"/>
              </a:rPr>
              <a:t>METHODOLOGICAL CONTROLS</a:t>
            </a:r>
          </a:p>
        </p:txBody>
      </p:sp>
      <p:sp>
        <p:nvSpPr>
          <p:cNvPr id="70" name="TextBox 69"/>
          <p:cNvSpPr txBox="1"/>
          <p:nvPr/>
        </p:nvSpPr>
        <p:spPr>
          <a:xfrm>
            <a:off x="7900416" y="4151376"/>
            <a:ext cx="3977639" cy="164592"/>
          </a:xfrm>
          <a:prstGeom prst="rect">
            <a:avLst/>
          </a:prstGeom>
          <a:noFill/>
        </p:spPr>
        <p:txBody>
          <a:bodyPr wrap="square">
            <a:spAutoFit/>
          </a:bodyPr>
          <a:lstStyle/>
          <a:p>
            <a:pPr algn="l"/>
            <a:r>
              <a:rPr sz="750" b="0" i="0">
                <a:solidFill>
                  <a:srgbClr val="6B7E88"/>
                </a:solidFill>
                <a:latin typeface="Calibri"/>
              </a:rPr>
              <a:t>No test-set access during model selection, frozen protocol, minimum-N rule</a:t>
            </a:r>
          </a:p>
        </p:txBody>
      </p:sp>
      <p:sp>
        <p:nvSpPr>
          <p:cNvPr id="71" name="Rectangle 70"/>
          <p:cNvSpPr/>
          <p:nvPr/>
        </p:nvSpPr>
        <p:spPr>
          <a:xfrm>
            <a:off x="7635240" y="4370832"/>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699248" y="4398264"/>
            <a:ext cx="182880" cy="182880"/>
          </a:xfrm>
          <a:prstGeom prst="rect">
            <a:avLst/>
          </a:prstGeom>
          <a:noFill/>
        </p:spPr>
        <p:txBody>
          <a:bodyPr wrap="square">
            <a:spAutoFit/>
          </a:bodyPr>
          <a:lstStyle/>
          <a:p>
            <a:pPr algn="l"/>
            <a:r>
              <a:rPr sz="850" b="1" i="0">
                <a:solidFill>
                  <a:srgbClr val="E07C1A"/>
                </a:solidFill>
                <a:latin typeface="Calibri"/>
              </a:rPr>
              <a:t>■</a:t>
            </a:r>
          </a:p>
        </p:txBody>
      </p:sp>
      <p:sp>
        <p:nvSpPr>
          <p:cNvPr id="73" name="TextBox 72"/>
          <p:cNvSpPr txBox="1"/>
          <p:nvPr/>
        </p:nvSpPr>
        <p:spPr>
          <a:xfrm>
            <a:off x="7900416" y="4398264"/>
            <a:ext cx="3977639" cy="164592"/>
          </a:xfrm>
          <a:prstGeom prst="rect">
            <a:avLst/>
          </a:prstGeom>
          <a:noFill/>
        </p:spPr>
        <p:txBody>
          <a:bodyPr wrap="square">
            <a:spAutoFit/>
          </a:bodyPr>
          <a:lstStyle/>
          <a:p>
            <a:pPr algn="l"/>
            <a:r>
              <a:rPr sz="800" b="1" i="0">
                <a:solidFill>
                  <a:srgbClr val="E07C1A"/>
                </a:solidFill>
                <a:latin typeface="Calibri"/>
              </a:rPr>
              <a:t>CONTROLLED SIMULATION</a:t>
            </a:r>
          </a:p>
        </p:txBody>
      </p:sp>
      <p:sp>
        <p:nvSpPr>
          <p:cNvPr id="74" name="TextBox 73"/>
          <p:cNvSpPr txBox="1"/>
          <p:nvPr/>
        </p:nvSpPr>
        <p:spPr>
          <a:xfrm>
            <a:off x="7900416" y="4553712"/>
            <a:ext cx="3977639" cy="164592"/>
          </a:xfrm>
          <a:prstGeom prst="rect">
            <a:avLst/>
          </a:prstGeom>
          <a:noFill/>
        </p:spPr>
        <p:txBody>
          <a:bodyPr wrap="square">
            <a:spAutoFit/>
          </a:bodyPr>
          <a:lstStyle/>
          <a:p>
            <a:pPr algn="l"/>
            <a:r>
              <a:rPr sz="750" b="0" i="0">
                <a:solidFill>
                  <a:srgbClr val="6B7E88"/>
                </a:solidFill>
                <a:latin typeface="Calibri"/>
              </a:rPr>
              <a:t>Subpixel refinement: 0.18 px median; re-illumination gain curves</a:t>
            </a:r>
          </a:p>
        </p:txBody>
      </p:sp>
      <p:sp>
        <p:nvSpPr>
          <p:cNvPr id="75" name="Rectangle 74"/>
          <p:cNvSpPr/>
          <p:nvPr/>
        </p:nvSpPr>
        <p:spPr>
          <a:xfrm>
            <a:off x="7635240" y="4773168"/>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99248" y="480060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77" name="TextBox 76"/>
          <p:cNvSpPr txBox="1"/>
          <p:nvPr/>
        </p:nvSpPr>
        <p:spPr>
          <a:xfrm>
            <a:off x="7900416" y="4800600"/>
            <a:ext cx="3977639" cy="164592"/>
          </a:xfrm>
          <a:prstGeom prst="rect">
            <a:avLst/>
          </a:prstGeom>
          <a:noFill/>
        </p:spPr>
        <p:txBody>
          <a:bodyPr wrap="square">
            <a:spAutoFit/>
          </a:bodyPr>
          <a:lstStyle/>
          <a:p>
            <a:pPr algn="l"/>
            <a:r>
              <a:rPr sz="800" b="1" i="0">
                <a:solidFill>
                  <a:srgbClr val="C4891E"/>
                </a:solidFill>
                <a:latin typeface="Calibri"/>
              </a:rPr>
              <a:t>PENDING EXPERIMENT</a:t>
            </a:r>
          </a:p>
        </p:txBody>
      </p:sp>
      <p:sp>
        <p:nvSpPr>
          <p:cNvPr id="78" name="TextBox 77"/>
          <p:cNvSpPr txBox="1"/>
          <p:nvPr/>
        </p:nvSpPr>
        <p:spPr>
          <a:xfrm>
            <a:off x="7900416" y="4956048"/>
            <a:ext cx="3977639" cy="164592"/>
          </a:xfrm>
          <a:prstGeom prst="rect">
            <a:avLst/>
          </a:prstGeom>
          <a:noFill/>
        </p:spPr>
        <p:txBody>
          <a:bodyPr wrap="square">
            <a:spAutoFit/>
          </a:bodyPr>
          <a:lstStyle/>
          <a:p>
            <a:pPr algn="l"/>
            <a:r>
              <a:rPr sz="750" b="0" i="0">
                <a:solidFill>
                  <a:srgbClr val="6B7E88"/>
                </a:solidFill>
                <a:latin typeface="Calibri"/>
              </a:rPr>
              <a:t>Real cross-sensor correspondence (OHRC vs TMC-2), geodetic GT</a:t>
            </a:r>
          </a:p>
        </p:txBody>
      </p:sp>
      <p:sp>
        <p:nvSpPr>
          <p:cNvPr id="79" name="Rectangle 78"/>
          <p:cNvSpPr/>
          <p:nvPr/>
        </p:nvSpPr>
        <p:spPr>
          <a:xfrm>
            <a:off x="7635240" y="5175504"/>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99248" y="5202936"/>
            <a:ext cx="182880" cy="182880"/>
          </a:xfrm>
          <a:prstGeom prst="rect">
            <a:avLst/>
          </a:prstGeom>
          <a:noFill/>
        </p:spPr>
        <p:txBody>
          <a:bodyPr wrap="square">
            <a:spAutoFit/>
          </a:bodyPr>
          <a:lstStyle/>
          <a:p>
            <a:pPr algn="l"/>
            <a:r>
              <a:rPr sz="850" b="1" i="0">
                <a:solidFill>
                  <a:srgbClr val="6B7E88"/>
                </a:solidFill>
                <a:latin typeface="Calibri"/>
              </a:rPr>
              <a:t>■</a:t>
            </a:r>
          </a:p>
        </p:txBody>
      </p:sp>
      <p:sp>
        <p:nvSpPr>
          <p:cNvPr id="81" name="TextBox 80"/>
          <p:cNvSpPr txBox="1"/>
          <p:nvPr/>
        </p:nvSpPr>
        <p:spPr>
          <a:xfrm>
            <a:off x="7900416" y="5202936"/>
            <a:ext cx="3977639" cy="164592"/>
          </a:xfrm>
          <a:prstGeom prst="rect">
            <a:avLst/>
          </a:prstGeom>
          <a:noFill/>
        </p:spPr>
        <p:txBody>
          <a:bodyPr wrap="square">
            <a:spAutoFit/>
          </a:bodyPr>
          <a:lstStyle/>
          <a:p>
            <a:pPr algn="l"/>
            <a:r>
              <a:rPr sz="800" b="1" i="0">
                <a:solidFill>
                  <a:srgbClr val="6B7E88"/>
                </a:solidFill>
                <a:latin typeface="Calibri"/>
              </a:rPr>
              <a:t>NOT ATTEMPTED</a:t>
            </a:r>
          </a:p>
        </p:txBody>
      </p:sp>
      <p:sp>
        <p:nvSpPr>
          <p:cNvPr id="82" name="TextBox 81"/>
          <p:cNvSpPr txBox="1"/>
          <p:nvPr/>
        </p:nvSpPr>
        <p:spPr>
          <a:xfrm>
            <a:off x="7900416" y="5358384"/>
            <a:ext cx="3977639" cy="164592"/>
          </a:xfrm>
          <a:prstGeom prst="rect">
            <a:avLst/>
          </a:prstGeom>
          <a:noFill/>
        </p:spPr>
        <p:txBody>
          <a:bodyPr wrap="square">
            <a:spAutoFit/>
          </a:bodyPr>
          <a:lstStyle/>
          <a:p>
            <a:pPr algn="l"/>
            <a:r>
              <a:rPr sz="750" b="0" i="0">
                <a:solidFill>
                  <a:srgbClr val="6B7E88"/>
                </a:solidFill>
                <a:latin typeface="Calibri"/>
              </a:rPr>
              <a:t>IIRS cross-modal hyperspectral registration</a:t>
            </a:r>
          </a:p>
        </p:txBody>
      </p:sp>
      <p:sp>
        <p:nvSpPr>
          <p:cNvPr id="83" name="Rectangle 8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182880"/>
          </a:xfrm>
          <a:prstGeom prst="rect">
            <a:avLst/>
          </a:prstGeom>
          <a:noFill/>
        </p:spPr>
        <p:txBody>
          <a:bodyPr wrap="square">
            <a:spAutoFit/>
          </a:bodyPr>
          <a:lstStyle/>
          <a:p>
            <a:pPr algn="l"/>
            <a:r>
              <a:rPr sz="750" b="1" i="0">
                <a:solidFill>
                  <a:srgbClr val="FFFFFF"/>
                </a:solidFill>
                <a:latin typeface="Calibri"/>
              </a:rPr>
              <a:t>LOLA-DEM CONTROLLED ILLUMINATION BENCHMARK  /  INLIER VOLUME &amp; TRUE PRECISION @ 1PX</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50" b="0" i="1">
                <a:solidFill>
                  <a:srgbClr val="6B7E88"/>
                </a:solidFill>
                <a:latin typeface="Calibri"/>
              </a:rPr>
              <a:t>CONTROLLED BENCHMARK NOTE: Controlled LOLA-DEM re-illumination demonstrates renderer physics; it does NOT substitute for real multi-phase flight validation.</a:t>
            </a:r>
          </a:p>
        </p:txBody>
      </p:sp>
      <p:sp>
        <p:nvSpPr>
          <p:cNvPr id="11" name="Rectangle 10"/>
          <p:cNvSpPr/>
          <p:nvPr/>
        </p:nvSpPr>
        <p:spPr>
          <a:xfrm>
            <a:off x="8458200" y="749808"/>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182880"/>
          </a:xfrm>
          <a:prstGeom prst="rect">
            <a:avLst/>
          </a:prstGeom>
          <a:noFill/>
        </p:spPr>
        <p:txBody>
          <a:bodyPr wrap="square">
            <a:spAutoFit/>
          </a:bodyPr>
          <a:lstStyle/>
          <a:p>
            <a:pPr algn="l"/>
            <a:r>
              <a:rPr sz="75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780" b="1" i="0">
                <a:solidFill>
                  <a:srgbClr val="2E9E6E"/>
                </a:solidFill>
                <a:latin typeface="Calibri"/>
              </a:rPr>
              <a:t>DEMONSTRATED ON REAL MISSION DATA:</a:t>
            </a:r>
          </a:p>
        </p:txBody>
      </p:sp>
      <p:sp>
        <p:nvSpPr>
          <p:cNvPr id="15" name="TextBox 14"/>
          <p:cNvSpPr txBox="1"/>
          <p:nvPr/>
        </p:nvSpPr>
        <p:spPr>
          <a:xfrm>
            <a:off x="8549640" y="1152144"/>
            <a:ext cx="3337560" cy="768096"/>
          </a:xfrm>
          <a:prstGeom prst="rect">
            <a:avLst/>
          </a:prstGeom>
          <a:noFill/>
        </p:spPr>
        <p:txBody>
          <a:bodyPr wrap="square">
            <a:spAutoFit/>
          </a:bodyPr>
          <a:lstStyle/>
          <a:p>
            <a:pPr algn="l"/>
            <a:r>
              <a:rPr sz="750" b="0" i="0">
                <a:solidFill>
                  <a:srgbClr val="1A2B35"/>
                </a:solidFill>
                <a:latin typeface="Calibri"/>
              </a:rPr>
              <a:t>✓ OHRC repeat: 822 inliers, held-out RMSE 0.779 px
✓ TMC-2 stereo: 1.52 → 0.84 px RMSE (44.7% gain)
✓ Safe rejection: Disjoint scene rejected (0 accepted)</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780" b="1" i="0">
                <a:solidFill>
                  <a:srgbClr val="147D77"/>
                </a:solidFill>
                <a:latin typeface="Calibri"/>
              </a:rPr>
              <a:t>CONTROLLED SIMULATION (LOLA DEM):</a:t>
            </a:r>
          </a:p>
        </p:txBody>
      </p:sp>
      <p:sp>
        <p:nvSpPr>
          <p:cNvPr id="18" name="TextBox 17"/>
          <p:cNvSpPr txBox="1"/>
          <p:nvPr/>
        </p:nvSpPr>
        <p:spPr>
          <a:xfrm>
            <a:off x="8549640" y="2221992"/>
            <a:ext cx="3337560" cy="685800"/>
          </a:xfrm>
          <a:prstGeom prst="rect">
            <a:avLst/>
          </a:prstGeom>
          <a:noFill/>
        </p:spPr>
        <p:txBody>
          <a:bodyPr wrap="square">
            <a:spAutoFit/>
          </a:bodyPr>
          <a:lstStyle/>
          <a:p>
            <a:pPr algn="l"/>
            <a:r>
              <a:rPr sz="750" b="0" i="0">
                <a:solidFill>
                  <a:srgbClr val="1A2B35"/>
                </a:solidFill>
                <a:latin typeface="Calibri"/>
              </a:rPr>
              <a:t>• Mode C retains 1,679–2,859 inliers across 0°–180°
• True Precision @ 1px: &gt;99% in tested synthetic field
• Direct matching collapses at Δ ≥ 60° (14 inliers)</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780" b="1" i="0">
                <a:solidFill>
                  <a:srgbClr val="C4891E"/>
                </a:solidFill>
                <a:latin typeface="Calibri"/>
              </a:rPr>
              <a:t>PENDING SCIENTIFIC VALIDATION:</a:t>
            </a:r>
          </a:p>
        </p:txBody>
      </p:sp>
      <p:sp>
        <p:nvSpPr>
          <p:cNvPr id="21" name="TextBox 20"/>
          <p:cNvSpPr txBox="1"/>
          <p:nvPr/>
        </p:nvSpPr>
        <p:spPr>
          <a:xfrm>
            <a:off x="8549640" y="3191256"/>
            <a:ext cx="3337560" cy="1024128"/>
          </a:xfrm>
          <a:prstGeom prst="rect">
            <a:avLst/>
          </a:prstGeom>
          <a:noFill/>
        </p:spPr>
        <p:txBody>
          <a:bodyPr wrap="square">
            <a:spAutoFit/>
          </a:bodyPr>
          <a:lstStyle/>
          <a:p>
            <a:pPr algn="l"/>
            <a:r>
              <a:rPr sz="75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182880"/>
          </a:xfrm>
          <a:prstGeom prst="rect">
            <a:avLst/>
          </a:prstGeom>
          <a:noFill/>
        </p:spPr>
        <p:txBody>
          <a:bodyPr wrap="square">
            <a:spAutoFit/>
          </a:bodyPr>
          <a:lstStyle/>
          <a:p>
            <a:pPr algn="l"/>
            <a:r>
              <a:rPr sz="75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75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75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75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75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75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75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75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750" b="0" i="0">
                <a:solidFill>
                  <a:srgbClr val="1A2B35"/>
                </a:solidFill>
                <a:latin typeface="Calibri"/>
              </a:rPr>
              <a:t>Official evaluation dataset from ISRO (Awaiting).</a:t>
            </a:r>
          </a:p>
        </p:txBody>
      </p:sp>
      <p:sp>
        <p:nvSpPr>
          <p:cNvPr id="36" name="Rectangle 35"/>
          <p:cNvSpPr/>
          <p:nvPr/>
        </p:nvSpPr>
        <p:spPr>
          <a:xfrm>
            <a:off x="4251960" y="4352544"/>
            <a:ext cx="3977639"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4370831"/>
            <a:ext cx="3840479" cy="182880"/>
          </a:xfrm>
          <a:prstGeom prst="rect">
            <a:avLst/>
          </a:prstGeom>
          <a:noFill/>
        </p:spPr>
        <p:txBody>
          <a:bodyPr wrap="square">
            <a:spAutoFit/>
          </a:bodyPr>
          <a:lstStyle/>
          <a:p>
            <a:pPr algn="l"/>
            <a:r>
              <a:rPr sz="750" b="1" i="0">
                <a:solidFill>
                  <a:srgbClr val="FFFFFF"/>
                </a:solidFill>
                <a:latin typeface="Calibri"/>
              </a:rPr>
              <a:t>RISK AND MITIGATION STRATEGY</a:t>
            </a:r>
          </a:p>
        </p:txBody>
      </p:sp>
      <p:sp>
        <p:nvSpPr>
          <p:cNvPr id="38" name="Rectangle 37"/>
          <p:cNvSpPr/>
          <p:nvPr/>
        </p:nvSpPr>
        <p:spPr>
          <a:xfrm>
            <a:off x="4251960" y="4572000"/>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43400" y="4608576"/>
            <a:ext cx="1600200" cy="201168"/>
          </a:xfrm>
          <a:prstGeom prst="rect">
            <a:avLst/>
          </a:prstGeom>
          <a:noFill/>
        </p:spPr>
        <p:txBody>
          <a:bodyPr wrap="square">
            <a:spAutoFit/>
          </a:bodyPr>
          <a:lstStyle/>
          <a:p>
            <a:pPr algn="l"/>
            <a:r>
              <a:rPr sz="750" b="1" i="0">
                <a:solidFill>
                  <a:srgbClr val="E07C1A"/>
                </a:solidFill>
                <a:latin typeface="Calibri"/>
              </a:rPr>
              <a:t>RISK: Illumination Inversion</a:t>
            </a:r>
          </a:p>
        </p:txBody>
      </p:sp>
      <p:sp>
        <p:nvSpPr>
          <p:cNvPr id="40" name="TextBox 39"/>
          <p:cNvSpPr txBox="1"/>
          <p:nvPr/>
        </p:nvSpPr>
        <p:spPr>
          <a:xfrm>
            <a:off x="5989320" y="4608576"/>
            <a:ext cx="2194560" cy="201168"/>
          </a:xfrm>
          <a:prstGeom prst="rect">
            <a:avLst/>
          </a:prstGeom>
          <a:noFill/>
        </p:spPr>
        <p:txBody>
          <a:bodyPr wrap="square">
            <a:spAutoFit/>
          </a:bodyPr>
          <a:lstStyle/>
          <a:p>
            <a:pPr algn="l"/>
            <a:r>
              <a:rPr sz="750" b="0" i="0">
                <a:solidFill>
                  <a:srgbClr val="1A2B35"/>
                </a:solidFill>
                <a:latin typeface="Calibri"/>
              </a:rPr>
              <a:t>→ LCN normalization + Mode C DEM lighting</a:t>
            </a:r>
          </a:p>
        </p:txBody>
      </p:sp>
      <p:sp>
        <p:nvSpPr>
          <p:cNvPr id="41" name="Rectangle 40"/>
          <p:cNvSpPr/>
          <p:nvPr/>
        </p:nvSpPr>
        <p:spPr>
          <a:xfrm>
            <a:off x="4251960" y="4901184"/>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43400" y="4937760"/>
            <a:ext cx="1600200" cy="201168"/>
          </a:xfrm>
          <a:prstGeom prst="rect">
            <a:avLst/>
          </a:prstGeom>
          <a:noFill/>
        </p:spPr>
        <p:txBody>
          <a:bodyPr wrap="square">
            <a:spAutoFit/>
          </a:bodyPr>
          <a:lstStyle/>
          <a:p>
            <a:pPr algn="l"/>
            <a:r>
              <a:rPr sz="750" b="1" i="0">
                <a:solidFill>
                  <a:srgbClr val="E07C1A"/>
                </a:solidFill>
                <a:latin typeface="Calibri"/>
              </a:rPr>
              <a:t>RISK: No Real Overlap</a:t>
            </a:r>
          </a:p>
        </p:txBody>
      </p:sp>
      <p:sp>
        <p:nvSpPr>
          <p:cNvPr id="43" name="TextBox 42"/>
          <p:cNvSpPr txBox="1"/>
          <p:nvPr/>
        </p:nvSpPr>
        <p:spPr>
          <a:xfrm>
            <a:off x="5989320" y="4937760"/>
            <a:ext cx="2194560" cy="201168"/>
          </a:xfrm>
          <a:prstGeom prst="rect">
            <a:avLst/>
          </a:prstGeom>
          <a:noFill/>
        </p:spPr>
        <p:txBody>
          <a:bodyPr wrap="square">
            <a:spAutoFit/>
          </a:bodyPr>
          <a:lstStyle/>
          <a:p>
            <a:pPr algn="l"/>
            <a:r>
              <a:rPr sz="750" b="0" i="0">
                <a:solidFill>
                  <a:srgbClr val="1A2B35"/>
                </a:solidFill>
                <a:latin typeface="Calibri"/>
              </a:rPr>
              <a:t>→ Detect spatial overlap first; route to search/abstain</a:t>
            </a:r>
          </a:p>
        </p:txBody>
      </p:sp>
      <p:sp>
        <p:nvSpPr>
          <p:cNvPr id="44" name="Rectangle 43"/>
          <p:cNvSpPr/>
          <p:nvPr/>
        </p:nvSpPr>
        <p:spPr>
          <a:xfrm>
            <a:off x="4251960" y="5230368"/>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43400" y="5266944"/>
            <a:ext cx="1600200" cy="201168"/>
          </a:xfrm>
          <a:prstGeom prst="rect">
            <a:avLst/>
          </a:prstGeom>
          <a:noFill/>
        </p:spPr>
        <p:txBody>
          <a:bodyPr wrap="square">
            <a:spAutoFit/>
          </a:bodyPr>
          <a:lstStyle/>
          <a:p>
            <a:pPr algn="l"/>
            <a:r>
              <a:rPr sz="750" b="1" i="0">
                <a:solidFill>
                  <a:srgbClr val="E07C1A"/>
                </a:solidFill>
                <a:latin typeface="Calibri"/>
              </a:rPr>
              <a:t>RISK: Sub-pixel Claim w/o GT</a:t>
            </a:r>
          </a:p>
        </p:txBody>
      </p:sp>
      <p:sp>
        <p:nvSpPr>
          <p:cNvPr id="46" name="TextBox 45"/>
          <p:cNvSpPr txBox="1"/>
          <p:nvPr/>
        </p:nvSpPr>
        <p:spPr>
          <a:xfrm>
            <a:off x="5989320" y="5266944"/>
            <a:ext cx="2194560" cy="201168"/>
          </a:xfrm>
          <a:prstGeom prst="rect">
            <a:avLst/>
          </a:prstGeom>
          <a:noFill/>
        </p:spPr>
        <p:txBody>
          <a:bodyPr wrap="square">
            <a:spAutoFit/>
          </a:bodyPr>
          <a:lstStyle/>
          <a:p>
            <a:pPr algn="l"/>
            <a:r>
              <a:rPr sz="750" b="0" i="0">
                <a:solidFill>
                  <a:srgbClr val="1A2B35"/>
                </a:solidFill>
                <a:latin typeface="Calibri"/>
              </a:rPr>
              <a:t>→ Explicitly labeled 'held-out', not geodetic GT</a:t>
            </a:r>
          </a:p>
        </p:txBody>
      </p:sp>
      <p:sp>
        <p:nvSpPr>
          <p:cNvPr id="47" name="Rectangle 46"/>
          <p:cNvSpPr/>
          <p:nvPr/>
        </p:nvSpPr>
        <p:spPr>
          <a:xfrm>
            <a:off x="4251960" y="5559552"/>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400" y="5596128"/>
            <a:ext cx="1600200" cy="201168"/>
          </a:xfrm>
          <a:prstGeom prst="rect">
            <a:avLst/>
          </a:prstGeom>
          <a:noFill/>
        </p:spPr>
        <p:txBody>
          <a:bodyPr wrap="square">
            <a:spAutoFit/>
          </a:bodyPr>
          <a:lstStyle/>
          <a:p>
            <a:pPr algn="l"/>
            <a:r>
              <a:rPr sz="750" b="1" i="0">
                <a:solidFill>
                  <a:srgbClr val="E07C1A"/>
                </a:solidFill>
                <a:latin typeface="Calibri"/>
              </a:rPr>
              <a:t>RISK: IIRS 320× Scale Gap</a:t>
            </a:r>
          </a:p>
        </p:txBody>
      </p:sp>
      <p:sp>
        <p:nvSpPr>
          <p:cNvPr id="49" name="TextBox 48"/>
          <p:cNvSpPr txBox="1"/>
          <p:nvPr/>
        </p:nvSpPr>
        <p:spPr>
          <a:xfrm>
            <a:off x="5989320" y="5596128"/>
            <a:ext cx="2194560" cy="201168"/>
          </a:xfrm>
          <a:prstGeom prst="rect">
            <a:avLst/>
          </a:prstGeom>
          <a:noFill/>
        </p:spPr>
        <p:txBody>
          <a:bodyPr wrap="square">
            <a:spAutoFit/>
          </a:bodyPr>
          <a:lstStyle/>
          <a:p>
            <a:pPr algn="l"/>
            <a:r>
              <a:rPr sz="750" b="0" i="0">
                <a:solidFill>
                  <a:srgbClr val="1A2B35"/>
                </a:solidFill>
                <a:latin typeface="Calibri"/>
              </a:rPr>
              <a:t>→ Proposed mitigation: pyramid matching (pending)</a:t>
            </a:r>
          </a:p>
        </p:txBody>
      </p:sp>
      <p:sp>
        <p:nvSpPr>
          <p:cNvPr id="50" name="Rectangle 49"/>
          <p:cNvSpPr/>
          <p:nvPr/>
        </p:nvSpPr>
        <p:spPr>
          <a:xfrm>
            <a:off x="8458200" y="4352544"/>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370831"/>
            <a:ext cx="3383280" cy="182880"/>
          </a:xfrm>
          <a:prstGeom prst="rect">
            <a:avLst/>
          </a:prstGeom>
          <a:noFill/>
        </p:spPr>
        <p:txBody>
          <a:bodyPr wrap="square">
            <a:spAutoFit/>
          </a:bodyPr>
          <a:lstStyle/>
          <a:p>
            <a:pPr algn="l"/>
            <a:r>
              <a:rPr sz="750" b="1" i="0">
                <a:solidFill>
                  <a:srgbClr val="FFFFFF"/>
                </a:solidFill>
                <a:latin typeface="Calibri"/>
              </a:rPr>
              <a:t>TEAM SCIENTIFIC COMMITMENTS</a:t>
            </a:r>
          </a:p>
        </p:txBody>
      </p:sp>
      <p:sp>
        <p:nvSpPr>
          <p:cNvPr id="52" name="Rectangle 51"/>
          <p:cNvSpPr/>
          <p:nvPr/>
        </p:nvSpPr>
        <p:spPr>
          <a:xfrm>
            <a:off x="8458200" y="4572000"/>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49640" y="4608576"/>
            <a:ext cx="3383280" cy="219456"/>
          </a:xfrm>
          <a:prstGeom prst="rect">
            <a:avLst/>
          </a:prstGeom>
          <a:noFill/>
        </p:spPr>
        <p:txBody>
          <a:bodyPr wrap="square">
            <a:spAutoFit/>
          </a:bodyPr>
          <a:lstStyle/>
          <a:p>
            <a:pPr algn="l"/>
            <a:r>
              <a:rPr sz="750" b="0" i="0">
                <a:solidFill>
                  <a:srgbClr val="1A2B35"/>
                </a:solidFill>
                <a:latin typeface="Calibri"/>
              </a:rPr>
              <a:t>✓  No claim without reproducible experiment.</a:t>
            </a:r>
          </a:p>
        </p:txBody>
      </p:sp>
      <p:sp>
        <p:nvSpPr>
          <p:cNvPr id="54" name="Rectangle 53"/>
          <p:cNvSpPr/>
          <p:nvPr/>
        </p:nvSpPr>
        <p:spPr>
          <a:xfrm>
            <a:off x="8458200" y="4901184"/>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549640" y="4937760"/>
            <a:ext cx="3383280" cy="219456"/>
          </a:xfrm>
          <a:prstGeom prst="rect">
            <a:avLst/>
          </a:prstGeom>
          <a:noFill/>
        </p:spPr>
        <p:txBody>
          <a:bodyPr wrap="square">
            <a:spAutoFit/>
          </a:bodyPr>
          <a:lstStyle/>
          <a:p>
            <a:pPr algn="l"/>
            <a:r>
              <a:rPr sz="750" b="0" i="0">
                <a:solidFill>
                  <a:srgbClr val="1A2B35"/>
                </a:solidFill>
                <a:latin typeface="Calibri"/>
              </a:rPr>
              <a:t>✓  Freeze datasets, splits, metrics, seeds &amp; thresholds.</a:t>
            </a:r>
          </a:p>
        </p:txBody>
      </p:sp>
      <p:sp>
        <p:nvSpPr>
          <p:cNvPr id="56" name="Rectangle 55"/>
          <p:cNvSpPr/>
          <p:nvPr/>
        </p:nvSpPr>
        <p:spPr>
          <a:xfrm>
            <a:off x="8458200" y="5230368"/>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5266944"/>
            <a:ext cx="3383280" cy="219456"/>
          </a:xfrm>
          <a:prstGeom prst="rect">
            <a:avLst/>
          </a:prstGeom>
          <a:noFill/>
        </p:spPr>
        <p:txBody>
          <a:bodyPr wrap="square">
            <a:spAutoFit/>
          </a:bodyPr>
          <a:lstStyle/>
          <a:p>
            <a:pPr algn="l"/>
            <a:r>
              <a:rPr sz="750" b="0" i="0">
                <a:solidFill>
                  <a:srgbClr val="1A2B35"/>
                </a:solidFill>
                <a:latin typeface="Calibri"/>
              </a:rPr>
              <a:t>✓  Sub-pixel claims only after independent geodetic GT.</a:t>
            </a:r>
          </a:p>
        </p:txBody>
      </p:sp>
      <p:sp>
        <p:nvSpPr>
          <p:cNvPr id="58" name="Rectangle 57"/>
          <p:cNvSpPr/>
          <p:nvPr/>
        </p:nvSpPr>
        <p:spPr>
          <a:xfrm>
            <a:off x="8458200" y="5559552"/>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49640" y="5596128"/>
            <a:ext cx="3383280" cy="219456"/>
          </a:xfrm>
          <a:prstGeom prst="rect">
            <a:avLst/>
          </a:prstGeom>
          <a:noFill/>
        </p:spPr>
        <p:txBody>
          <a:bodyPr wrap="square">
            <a:spAutoFit/>
          </a:bodyPr>
          <a:lstStyle/>
          <a:p>
            <a:pPr algn="l"/>
            <a:r>
              <a:rPr sz="75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182880"/>
          </a:xfrm>
          <a:prstGeom prst="rect">
            <a:avLst/>
          </a:prstGeom>
          <a:noFill/>
        </p:spPr>
        <p:txBody>
          <a:bodyPr wrap="square">
            <a:spAutoFit/>
          </a:bodyPr>
          <a:lstStyle/>
          <a:p>
            <a:pPr algn="l"/>
            <a:r>
              <a:rPr sz="75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00"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00"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00"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00"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00"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00"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182880"/>
          </a:xfrm>
          <a:prstGeom prst="rect">
            <a:avLst/>
          </a:prstGeom>
          <a:noFill/>
        </p:spPr>
        <p:txBody>
          <a:bodyPr wrap="square">
            <a:spAutoFit/>
          </a:bodyPr>
          <a:lstStyle/>
          <a:p>
            <a:pPr algn="l"/>
            <a:r>
              <a:rPr sz="75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182880"/>
          </a:xfrm>
          <a:prstGeom prst="rect">
            <a:avLst/>
          </a:prstGeom>
          <a:noFill/>
        </p:spPr>
        <p:txBody>
          <a:bodyPr wrap="square">
            <a:spAutoFit/>
          </a:bodyPr>
          <a:lstStyle/>
          <a:p>
            <a:pPr algn="l"/>
            <a:r>
              <a:rPr sz="75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0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00" b="0" i="0">
                <a:solidFill>
                  <a:srgbClr val="1A2B35"/>
                </a:solidFill>
                <a:latin typeface="Calibri"/>
              </a:rPr>
              <a:t>Directly addresses lunar illumination physics via LCN and DEM reflectance simulation, designed to mitigate illumination-induced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0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00"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0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00" b="0" i="0">
                <a:solidFill>
                  <a:srgbClr val="1A2B35"/>
                </a:solidFill>
                <a:latin typeface="Calibri"/>
              </a:rPr>
              <a:t>Rejects invalid or ambiguous registrations with explicit reason codes rather than forcing alignment on unmatchable scenes (proven via disjoint negative control pair).</a:t>
            </a:r>
          </a:p>
        </p:txBody>
      </p:sp>
      <p:sp>
        <p:nvSpPr>
          <p:cNvPr id="36" name="Rectangle 35"/>
          <p:cNvSpPr/>
          <p:nvPr/>
        </p:nvSpPr>
        <p:spPr>
          <a:xfrm>
            <a:off x="7635240" y="393192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182880"/>
          </a:xfrm>
          <a:prstGeom prst="rect">
            <a:avLst/>
          </a:prstGeom>
          <a:noFill/>
        </p:spPr>
        <p:txBody>
          <a:bodyPr wrap="square">
            <a:spAutoFit/>
          </a:bodyPr>
          <a:lstStyle/>
          <a:p>
            <a:pPr algn="l"/>
            <a:r>
              <a:rPr sz="75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24528"/>
            <a:ext cx="1188720" cy="219456"/>
          </a:xfrm>
          <a:prstGeom prst="rect">
            <a:avLst/>
          </a:prstGeom>
          <a:noFill/>
        </p:spPr>
        <p:txBody>
          <a:bodyPr wrap="square">
            <a:spAutoFit/>
          </a:bodyPr>
          <a:lstStyle/>
          <a:p>
            <a:pPr algn="l"/>
            <a:r>
              <a:rPr sz="800" b="1" i="0">
                <a:solidFill>
                  <a:srgbClr val="147D77"/>
                </a:solidFill>
                <a:latin typeface="Calibri"/>
              </a:rPr>
              <a:t>GitHub (Public):</a:t>
            </a:r>
          </a:p>
        </p:txBody>
      </p:sp>
      <p:sp>
        <p:nvSpPr>
          <p:cNvPr id="40" name="TextBox 39"/>
          <p:cNvSpPr txBox="1"/>
          <p:nvPr/>
        </p:nvSpPr>
        <p:spPr>
          <a:xfrm>
            <a:off x="9006840" y="4224528"/>
            <a:ext cx="2880360" cy="219456"/>
          </a:xfrm>
          <a:prstGeom prst="rect">
            <a:avLst/>
          </a:prstGeom>
          <a:noFill/>
        </p:spPr>
        <p:txBody>
          <a:bodyPr wrap="square">
            <a:spAutoFit/>
          </a:bodyPr>
          <a:lstStyle/>
          <a:p>
            <a:pPr algn="l"/>
            <a:r>
              <a:rPr sz="800" b="1" i="0">
                <a:solidFill>
                  <a:srgbClr val="1A2B35"/>
                </a:solidFill>
                <a:latin typeface="Calibri"/>
              </a:rPr>
              <a:t>github.com/TanukuSai/luna-corr</a:t>
            </a:r>
          </a:p>
        </p:txBody>
      </p:sp>
      <p:sp>
        <p:nvSpPr>
          <p:cNvPr id="41" name="TextBox 40"/>
          <p:cNvSpPr txBox="1"/>
          <p:nvPr/>
        </p:nvSpPr>
        <p:spPr>
          <a:xfrm>
            <a:off x="7772400" y="4553712"/>
            <a:ext cx="1188720" cy="219456"/>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06840" y="4553712"/>
            <a:ext cx="2880360" cy="219456"/>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82896"/>
            <a:ext cx="1188720" cy="219456"/>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06840" y="4882896"/>
            <a:ext cx="2880360" cy="219456"/>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212080"/>
            <a:ext cx="1188720" cy="219456"/>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06840" y="5212080"/>
            <a:ext cx="2880360" cy="219456"/>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541264"/>
            <a:ext cx="1188720" cy="219456"/>
          </a:xfrm>
          <a:prstGeom prst="rect">
            <a:avLst/>
          </a:prstGeom>
          <a:noFill/>
        </p:spPr>
        <p:txBody>
          <a:bodyPr wrap="square">
            <a:spAutoFit/>
          </a:bodyPr>
          <a:lstStyle/>
          <a:p>
            <a:pPr algn="l"/>
            <a:r>
              <a:rPr sz="800" b="1" i="0">
                <a:solidFill>
                  <a:srgbClr val="147D77"/>
                </a:solidFill>
                <a:latin typeface="Calibri"/>
              </a:rPr>
              <a:t>Deliverables:</a:t>
            </a:r>
          </a:p>
        </p:txBody>
      </p:sp>
      <p:sp>
        <p:nvSpPr>
          <p:cNvPr id="48" name="TextBox 47"/>
          <p:cNvSpPr txBox="1"/>
          <p:nvPr/>
        </p:nvSpPr>
        <p:spPr>
          <a:xfrm>
            <a:off x="9006840" y="5541264"/>
            <a:ext cx="2880360" cy="219456"/>
          </a:xfrm>
          <a:prstGeom prst="rect">
            <a:avLst/>
          </a:prstGeom>
          <a:noFill/>
        </p:spPr>
        <p:txBody>
          <a:bodyPr wrap="square">
            <a:spAutoFit/>
          </a:bodyPr>
          <a:lstStyle/>
          <a:p>
            <a:pPr algn="l"/>
            <a:r>
              <a:rPr sz="800" b="0" i="0">
                <a:solidFill>
                  <a:srgbClr val="1A2B35"/>
                </a:solidFill>
                <a:latin typeface="Calibri"/>
              </a:rPr>
              <a:t>Python package (lunacorr), CLI, benchmarks, test suite</a:t>
            </a:r>
          </a:p>
        </p:txBody>
      </p:sp>
      <p:sp>
        <p:nvSpPr>
          <p:cNvPr id="49" name="Rectangle 48"/>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