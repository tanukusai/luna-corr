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TanukuSai/luna-cor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TanukuSai/luna-corr" TargetMode="External"/><Relationship Id="rId4" Type="http://schemas.openxmlformats.org/officeDocument/2006/relationships/hyperlink" Target="https://pradan.issdc.gov.in" TargetMode="External"/><Relationship Id="rId5" Type="http://schemas.openxmlformats.org/officeDocument/2006/relationships/hyperlink" Target="https://astrogeology.usgs.gov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A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73152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3383280" cy="45720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LUNA-CORR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3383280" cy="3657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D4DB"/>
                </a:solidFill>
                <a:latin typeface="Calibri"/>
              </a:rPr>
              <a:t>Physics-informed, uncertainty-aware lunar image correspondence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3383280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PROBLEM STATEMENT 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53312"/>
            <a:ext cx="3383280" cy="5943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0F4F6"/>
                </a:solidFill>
                <a:latin typeface="Calibri"/>
              </a:rPr>
              <a:t>Multi-modal, Sun-angle and scale invariant image correspondence using Chandrayaan-2 optical images (OHRC, TMC-2 and IIRS)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29968"/>
            <a:ext cx="3383280" cy="1828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2121408"/>
            <a:ext cx="3383280" cy="1371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PROBLEM STATEMENT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258568"/>
            <a:ext cx="338328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0F4F6"/>
                </a:solidFill>
                <a:latin typeface="Calibri"/>
              </a:rPr>
              <a:t>PS 26166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523744"/>
            <a:ext cx="3383280" cy="1371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THEME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660903"/>
            <a:ext cx="338328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0F4F6"/>
                </a:solidFill>
                <a:latin typeface="Calibri"/>
              </a:rPr>
              <a:t>Space 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926079"/>
            <a:ext cx="3383280" cy="1371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PS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063239"/>
            <a:ext cx="338328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0F4F6"/>
                </a:solidFill>
                <a:latin typeface="Calibri"/>
              </a:rPr>
              <a:t>Software (SAC, ISRO)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328415"/>
            <a:ext cx="3383280" cy="1371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TEAM 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465575"/>
            <a:ext cx="338328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4891E"/>
                </a:solidFill>
                <a:latin typeface="Calibri"/>
              </a:rPr>
              <a:t>189281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730752"/>
            <a:ext cx="3383280" cy="1371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REGISTERED TEAM 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867912"/>
            <a:ext cx="338328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4891E"/>
                </a:solidFill>
                <a:latin typeface="Calibri"/>
              </a:rPr>
              <a:t>R9@MedMitra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06240"/>
            <a:ext cx="3383280" cy="1325880"/>
          </a:xfrm>
          <a:prstGeom prst="rect">
            <a:avLst/>
          </a:prstGeom>
          <a:solidFill>
            <a:srgbClr val="223642"/>
          </a:solidFill>
          <a:ln w="508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279392"/>
            <a:ext cx="32004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47D77"/>
                </a:solidFill>
                <a:latin typeface="Calibri"/>
              </a:rPr>
              <a:t>ISRO SAC MENTORS (GUIDANCE):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80560"/>
            <a:ext cx="3200400" cy="54864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0F4F6"/>
                </a:solidFill>
                <a:latin typeface="Calibri"/>
              </a:rPr>
              <a:t>• Sri Rohit Mishra (SAC, ISRO)
• Sri Abdullah Suhail Ayyub Zinjani (SAC, ISRO)
• Sri K Suresh (SAC, ISRO)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166360"/>
            <a:ext cx="3200400" cy="27432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1">
                <a:solidFill>
                  <a:srgbClr val="6B7E88"/>
                </a:solidFill>
                <a:latin typeface="Calibri"/>
              </a:rPr>
              <a:t>Research Domain: Planetary Cartography &amp; Photogrammetry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31920" y="0"/>
            <a:ext cx="8257031" cy="73152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23360" y="201168"/>
            <a:ext cx="6537960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96512" y="219456"/>
            <a:ext cx="6428232" cy="201168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CHANDRAYAAN-2 OHRC CROSS-ORBIT MATCHING (EXP-OHRC-E2E)</a:t>
            </a:r>
          </a:p>
        </p:txBody>
      </p:sp>
      <p:pic>
        <p:nvPicPr>
          <p:cNvPr id="26" name="Picture 25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6576"/>
            <a:ext cx="1216152" cy="566928"/>
          </a:xfrm>
          <a:prstGeom prst="rect">
            <a:avLst/>
          </a:prstGeom>
        </p:spPr>
      </p:pic>
      <p:pic>
        <p:nvPicPr>
          <p:cNvPr id="27" name="Picture 26" descr="fig1_title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457200"/>
            <a:ext cx="8092440" cy="260604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4023360" y="3127248"/>
            <a:ext cx="8092440" cy="530352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0" y="3163824"/>
            <a:ext cx="79095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E9E6E"/>
                </a:solidFill>
                <a:latin typeface="Calibri"/>
              </a:rPr>
              <a:t>DEMONSTRATED ON REAL CHANDRAYAAN-2 DATA (BENCHMARK MANIFEST VERIFIED):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3346704"/>
            <a:ext cx="7909560" cy="27432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1A2B35"/>
                </a:solidFill>
                <a:latin typeface="Calibri"/>
              </a:rPr>
              <a:t>• EXP-OHRC-E2E: 818 inliers (99.3% ratio)  ·  Held-out RMSE: 0.786 px (N=789 candidate split, TPS Warping Accepted)
• EXP-TMC-FIXED: 1.606 px → 0.836 px RMSE (47.9% gain vs Stage 3, N=150)  |  EXP-TMC-E2E: 660 inliers, 1.073 px RMSE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3730752"/>
            <a:ext cx="2633472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23360" y="3730752"/>
            <a:ext cx="263347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96512" y="3749039"/>
            <a:ext cx="2487168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ILLUMINATION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6512" y="3968496"/>
            <a:ext cx="2487168" cy="89611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Sun azimuth/elevation changes invert slope brightness and cast moving shadows. Direct feature matching collapses.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48272" y="3730752"/>
            <a:ext cx="2633472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748272" y="3730752"/>
            <a:ext cx="263347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21424" y="3749039"/>
            <a:ext cx="2487168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VIEWPOINT &amp; RELIEF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1424" y="3968496"/>
            <a:ext cx="2487168" cy="89611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3D crater topography creates localized relief parallax that violates planar homography. Residual relief requires adaptive deformation.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73184" y="3730752"/>
            <a:ext cx="2633472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73184" y="3730752"/>
            <a:ext cx="263347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46336" y="3749039"/>
            <a:ext cx="2487168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320× NOMINAL SCALE GAP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46336" y="3968496"/>
            <a:ext cx="2487168" cy="89611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OHRC (~0.25 m) · TMC-2 (~5 m) · IIRS (~80 m). Up to 320× GSD ratio requires scale-space pyramid conditioning.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23360" y="4992624"/>
            <a:ext cx="8092440" cy="493776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0" y="5029200"/>
            <a:ext cx="146304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47D77"/>
                </a:solidFill>
                <a:latin typeface="Calibri"/>
              </a:rPr>
              <a:t>STUDENT TEAM: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77840" y="5029200"/>
            <a:ext cx="64008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A2B35"/>
                </a:solidFill>
                <a:latin typeface="Calibri"/>
              </a:rPr>
              <a:t>Sai Tarun Tanuku  •  Anirudh Sreekanth  •  Lalith Shrivatsav  •  Srikar M  •  Yadunandhan  •  Sreejit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5230368"/>
            <a:ext cx="7863840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6B7E88"/>
                </a:solidFill>
                <a:latin typeface="Calibri"/>
              </a:rPr>
              <a:t>College: Amrita Vishwa Vidyapeetham, Coimbatore    •    Internal Document: Version 4.1-rc1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5559552"/>
            <a:ext cx="8092440" cy="457200"/>
          </a:xfrm>
          <a:prstGeom prst="rect">
            <a:avLst/>
          </a:prstGeom>
          <a:solidFill>
            <a:srgbClr val="EEF5FA"/>
          </a:solidFill>
          <a:ln w="635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5596128"/>
            <a:ext cx="7909560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PUBLIC REPOSITORY (FULL SOURCE CODE &amp; BENCHMARK SUITE):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0" y="5760720"/>
            <a:ext cx="3657600" cy="201168"/>
          </a:xfrm>
          <a:prstGeom prst="rect">
            <a:avLst/>
          </a:prstGeom>
          <a:noFill/>
        </p:spPr>
        <p:txBody>
          <a:bodyPr wrap="square" tIns="18288" bIns="18288" lIns="36576" rIns="36576">
            <a:spAutoFit/>
          </a:bodyPr>
          <a:lstStyle/>
          <a:p>
            <a:pPr algn="l"/>
            <a:r>
              <a:rPr sz="950" b="1">
                <a:solidFill>
                  <a:srgbClr val="147D77"/>
                </a:solidFill>
                <a:latin typeface="Calibri"/>
                <a:hlinkClick r:id="rId4"/>
              </a:rPr>
              <a:t>github.com/TanukuSai/luna-corr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760720"/>
            <a:ext cx="4572000" cy="201168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[ MIT License  •  Dockerized  •  15/15 Automated Pytest Suite Passing  •  Canonical BENCHMARK_MANIFEST.md ]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31089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2B35"/>
                </a:solidFill>
                <a:latin typeface="Calibri"/>
              </a:rPr>
              <a:t>IDEA TITLE: LUNA-CORR — PHYSICS-INFORMED LUNAR IMAGE CORRESPONDENCE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100584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02 / 06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6576"/>
            <a:ext cx="1216152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5216"/>
            <a:ext cx="112745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58368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76656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PROPOSED 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59536"/>
            <a:ext cx="11274552" cy="804672"/>
          </a:xfrm>
          <a:prstGeom prst="rect">
            <a:avLst/>
          </a:prstGeom>
          <a:solidFill>
            <a:srgbClr val="F4F6F8"/>
          </a:solidFill>
          <a:ln w="762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896112"/>
            <a:ext cx="11064240" cy="201168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B35"/>
                </a:solidFill>
                <a:latin typeface="Calibri"/>
              </a:rPr>
              <a:t>A modular correspondence and registration engine combining illumination-aware representation, robust feature matching, adaptive relief modelling, and fail-safe abstention.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106424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B7E88"/>
                </a:solidFill>
                <a:latin typeface="Calibri"/>
              </a:rPr>
              <a:t>LUNA-CORR solves severe lunar brightness inversion, moving cast shadows, and 3D crater relief distortion across Chandrayaan-2 instruments by conditioning representation on illumination, selecting non-rigid splines via residual coherence, and safely refusing ambiguous registrations.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353312"/>
            <a:ext cx="3611880" cy="256032"/>
          </a:xfrm>
          <a:prstGeom prst="rect">
            <a:avLst/>
          </a:prstGeom>
          <a:solidFill>
            <a:srgbClr val="EEF5FA"/>
          </a:solidFill>
          <a:ln w="381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3" y="1371600"/>
            <a:ext cx="3502152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1A2B35"/>
                </a:solidFill>
                <a:latin typeface="Calibri"/>
              </a:rPr>
              <a:t>• ILLUMINATION CONDITIONED: LCN normalization + Mode C physical DEM reflectance rendering.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1353312"/>
            <a:ext cx="3611880" cy="256032"/>
          </a:xfrm>
          <a:prstGeom prst="rect">
            <a:avLst/>
          </a:prstGeom>
          <a:solidFill>
            <a:srgbClr val="EEF5FA"/>
          </a:solidFill>
          <a:ln w="381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1371600"/>
            <a:ext cx="3502152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1A2B35"/>
                </a:solidFill>
                <a:latin typeface="Calibri"/>
              </a:rPr>
              <a:t>• ADAPTIVE DEFORMATION: Autocorrelation-guided Thin-Plate Spline for 3D crater parallax.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1856" y="1353312"/>
            <a:ext cx="3611880" cy="256032"/>
          </a:xfrm>
          <a:prstGeom prst="rect">
            <a:avLst/>
          </a:prstGeom>
          <a:solidFill>
            <a:srgbClr val="EEF5FA"/>
          </a:solidFill>
          <a:ln w="381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371600"/>
            <a:ext cx="3502152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1A2B35"/>
                </a:solidFill>
                <a:latin typeface="Calibri"/>
              </a:rPr>
              <a:t>• FAIL-SAFE ABSTENTION: Multi-criterion QualityGate with typed machine-readable reason codes.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737360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1755648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HOW IT ADDRESSES THE PROBLEM  /  INNOVATION &amp; UNIQUENESS  /  DETAILED EXPLANATION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938528"/>
            <a:ext cx="3694176" cy="429768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1938528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1956816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217627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3" y="2221991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Illumination Dynamic 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3" y="240487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LCN normalizes dynamic range; RootSIFT Hellinger kernel matches low-contrast crater floors.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318211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3" y="322783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Relief Parallax &amp; Topography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3" y="341071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Directional residual coherence (S_relief &gt; 0.20) triggers Thin-Plate Splines (47.9% error drop).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352" y="418795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3" y="423367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Outliers &amp; Rim Clustering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3" y="441655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Soft spatial utility quotas across 8×8 grid eliminate rim clustering; MAGSAC++ prunes outliers.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19379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3" y="52395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Misalignment Risk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3" y="542239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QualityGate (N&gt;=20, ratio&gt;=15%, coverage&gt;=30%) rejects non-overlapping scenes (EXP-NEG-DISJOINT).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42816" y="1938528"/>
            <a:ext cx="3694176" cy="429768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42816" y="1938528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956816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8" y="217627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0" y="2221991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Physics-Conditioned Appearance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240487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Macro-gradient suppression + optional Mode C physical DEM reflectance rendering for high sun disparities.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15968" y="318211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0" y="322783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Adaptive Geometric Selection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341071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Dynamically switches between Rigid, Affine, Homography, and TPS based on residual spatial autocorrelation.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15968" y="418795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423367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Principled Gate Abstention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441655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First planetary engine with explicit reason-coded rejection rather than forcing inaccurate alignments.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15968" y="519379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0" y="52395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Zero-Leakage Architecture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0" y="542239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Strict candidate pre-splitting guarantees untouched, unbiased out-of-sample evaluation.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28431" y="1938528"/>
            <a:ext cx="3694176" cy="429768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28431" y="1938528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1583" y="1956816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DETAILED EXPLANATION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01583" y="217627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74736" y="2221991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Planetary Line-Scan Physics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74736" y="240487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Push-broom images exhibit extreme illumination flips and 3D relief distortion that violate planar homography.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01583" y="318211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4736" y="322783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8-Stage Sequential Execution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74736" y="341071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Autonomous flow: Ingest → LCN → RootSIFT → MAGSAC++ → Spatial Quotas → Subpixel → TPS → Gate.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01583" y="418795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74736" y="423367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Extreme Sun Angle Recovery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74736" y="441655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When solar disparity is severe (Δθ &gt;= 45°), Mode C renders reference DEM at target sun angle, recovering &gt;99% precision.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01583" y="519379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4736" y="52395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Standardized Data Deliverables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74736" y="542239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Produces calibrated GeoTIFFs, sub-pixel tie-point CSVs, and machine-readable JSON metrics with typed reason codes.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6291072"/>
            <a:ext cx="11274552" cy="347472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6345936"/>
            <a:ext cx="1106424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E9E6E"/>
                </a:solidFill>
                <a:latin typeface="Calibri"/>
              </a:rPr>
              <a:t>CORE ARCHITECTURAL PARADIGM: Physics conditioning + adaptive geometry + operational abstention replaces static, ungrounded single-model matchers.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31089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2B35"/>
                </a:solidFill>
                <a:latin typeface="Calibri"/>
              </a:rPr>
              <a:t>TECHNICAL APPROACH &amp; METHODOLOGY /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100584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03 / 06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6576"/>
            <a:ext cx="1216152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5216"/>
            <a:ext cx="112745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58368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76656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TECHNOLOGIES TO BE USED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59536"/>
            <a:ext cx="2761488" cy="6583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896112"/>
            <a:ext cx="2615184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47D77"/>
                </a:solidFill>
                <a:latin typeface="Calibri"/>
              </a:rPr>
              <a:t>LANGUAGES &amp; FRAMEWORKS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060704"/>
            <a:ext cx="2615184" cy="42062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Python 3.10+, NumPy, SciPy, OpenCV, PyTorch (CNN correspondence prototype).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859536"/>
            <a:ext cx="2761488" cy="6583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2" y="896112"/>
            <a:ext cx="2615184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47D77"/>
                </a:solidFill>
                <a:latin typeface="Calibri"/>
              </a:rPr>
              <a:t>PHOTOGRAMMETRY &amp; GEOMETRY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1060704"/>
            <a:ext cx="2615184" cy="42062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PDS4 label parser, SPICE grid solver, MAGSAC++, Thin-Plate Spline (TPS), Phase correlation.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859536"/>
            <a:ext cx="2761488" cy="6583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896112"/>
            <a:ext cx="2615184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47D77"/>
                </a:solidFill>
                <a:latin typeface="Calibri"/>
              </a:rPr>
              <a:t>PUSH-BROOM LINE-SCAN I/O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1060704"/>
            <a:ext cx="2615184" cy="42062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WindowedPyramidReader (39.15 ms latency on 1.05 GB unindexed rasters, &lt;10 MB RAM overhead).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859536"/>
            <a:ext cx="2761488" cy="6583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34272" y="896112"/>
            <a:ext cx="2615184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47D77"/>
                </a:solidFill>
                <a:latin typeface="Calibri"/>
              </a:rPr>
              <a:t>DEVOPS &amp; REPRODUCIBILITY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34272" y="1060704"/>
            <a:ext cx="2615184" cy="42062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Docker containerized environment, pytest suite (15/15 passed), dynamic cross-consistency validator.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591056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1609344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METHODOLOGY / PROCESS (CORE 8-STAGE E2E PIPELINE FLOW)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01 INGEST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PDS4 label, array &amp; SPICE grid parsing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1792224"/>
            <a:ext cx="1353312" cy="804672"/>
          </a:xfrm>
          <a:prstGeom prst="rect">
            <a:avLst/>
          </a:prstGeom>
          <a:solidFill>
            <a:srgbClr val="F4F6F8"/>
          </a:solidFill>
          <a:ln w="1016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74519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11095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02 APPEARANCE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11095" y="2011680"/>
            <a:ext cx="1280160" cy="54864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1A2B35"/>
                </a:solidFill>
                <a:latin typeface="Calibri"/>
              </a:rPr>
              <a:t>LCN Normalization (Core)
─────────────────
Branch: Mode C DEM
(Physics branch)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39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91839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28415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03 MATCH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37559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Tiled coarse-to-fine RootSIFT matching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09159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09159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45736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04 GEOMETRY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79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MAGSAC++ robust initial projective fit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79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26479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63055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05 SPATIAL QC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199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Soft-utility quotas promote uniform spread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43800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43800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80375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06 SUB-PIXEL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9520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Phase-correlation peak interpolation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61120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61120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97696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07 RELIEF 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S_relief &gt; 0.20 AND P95 &gt;= 1.5 px → TPS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378440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378440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15016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08 DECISION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Accept with metrics or reason-coded ABSTAIN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2670048"/>
            <a:ext cx="612648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0352" y="2688336"/>
            <a:ext cx="601675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WORKING PROTOTYPE DELIVERABLES  /  TMC-2 STEREO CHECKERBOARD VERIFICATION</a:t>
            </a:r>
          </a:p>
        </p:txBody>
      </p:sp>
      <p:pic>
        <p:nvPicPr>
          <p:cNvPr id="57" name="Picture 56" descr="fig3_checker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71216"/>
            <a:ext cx="6126480" cy="2670048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457200" y="5577840"/>
            <a:ext cx="6126480" cy="566928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614416"/>
            <a:ext cx="59436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E9E6E"/>
                </a:solidFill>
                <a:latin typeface="Calibri"/>
              </a:rPr>
              <a:t>TMC-2 STEREO — 660 INLIERS — ACCEPTED (EXP-TMC-E2E):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815584"/>
            <a:ext cx="5943600" cy="27432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1A2B35"/>
                </a:solidFill>
                <a:latin typeface="Calibri"/>
              </a:rPr>
              <a:t>Held-out RMSE: 1.073 px (fitting: 0.647 px, N=297)  |  EXP-TMC-FIXED (N=150): 1.606 → 0.836 px (47.9% gain)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66560" y="2670048"/>
            <a:ext cx="496519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39712" y="2688336"/>
            <a:ext cx="485546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DELIVERABLE SPECIFICATION &amp; DATA PRODUCTS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766560" y="2871216"/>
            <a:ext cx="4965192" cy="347472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0" y="2916936"/>
            <a:ext cx="1645920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Registered Image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49640" y="2916936"/>
            <a:ext cx="3108960" cy="2560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GeoTIFF aligned to reference CRS, 16-bit radiometric fidelity.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66560" y="3255264"/>
            <a:ext cx="4965192" cy="347472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0" y="3300984"/>
            <a:ext cx="1645920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Validation Points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49640" y="3300984"/>
            <a:ext cx="3108960" cy="2560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CSV tie-point coordinates (src_x, src_y, ref_x, ref_y, residual).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766560" y="3639312"/>
            <a:ext cx="4965192" cy="347472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0" y="3685032"/>
            <a:ext cx="1645920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Quality Decision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49640" y="3685032"/>
            <a:ext cx="3108960" cy="2560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Machine-readable JSON metrics, status (ACCEPTED/ABSTAINED), reasons.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0" y="4023360"/>
            <a:ext cx="4965192" cy="347472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58000" y="4069080"/>
            <a:ext cx="1645920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Diagnostic Map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49640" y="4069080"/>
            <a:ext cx="3108960" cy="2560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Checkerboard seam verification image and residual vector field.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766560" y="4462272"/>
            <a:ext cx="496519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39712" y="4480559"/>
            <a:ext cx="485546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ZERO-LEAKAGE PIPELINE EXECUTION VERIFIED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766560" y="4663440"/>
            <a:ext cx="4965192" cy="1481328"/>
          </a:xfrm>
          <a:prstGeom prst="rect">
            <a:avLst/>
          </a:prstGeom>
          <a:solidFill>
            <a:srgbClr val="EEF5FA"/>
          </a:solidFill>
          <a:ln w="635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0" y="4709160"/>
            <a:ext cx="475488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STRICT OUT-OF-SAMPLE EVALUATION ISOLATION: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4919472"/>
            <a:ext cx="4754880" cy="11704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• Candidate Pre-Split: Raw matches partitioned 80% train / 20% test before initial H fit.
• Train-Only Fitting: Inliers, spatial selection, subpixel tuning, and TPS derived strictly on train.
• Single Test Evaluation: Frozen transform evaluated exactly once on untouched test set.
• QualityGate Isolation: Acceptance decisions strictly governed by training metrics (N&gt;=20).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31089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2B35"/>
                </a:solidFill>
                <a:latin typeface="Calibri"/>
              </a:rPr>
              <a:t>FEASIBILITY AND VIABILITY (ANALYSIS, RISKS &amp; MITIGATIONS)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100584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04 / 06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6576"/>
            <a:ext cx="1216152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5216"/>
            <a:ext cx="112745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58368"/>
            <a:ext cx="11274552" cy="512064"/>
          </a:xfrm>
          <a:prstGeom prst="rect">
            <a:avLst/>
          </a:prstGeom>
          <a:solidFill>
            <a:srgbClr val="F4F6F8"/>
          </a:solidFill>
          <a:ln w="762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94944"/>
            <a:ext cx="1106424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47D77"/>
                </a:solidFill>
                <a:latin typeface="Calibri"/>
              </a:rPr>
              <a:t>FEASIBILITY &amp; VIABILITY ASSESSMENT: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896112"/>
            <a:ext cx="1106424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A2B35"/>
                </a:solidFill>
                <a:latin typeface="Calibri"/>
              </a:rPr>
              <a:t>Demonstrated on 45 official PRADAN products (40.42 GB); scalable sub-50 ms push-broom seeks; zero evaluation leakage on real Chandrayaan-2 imagery.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25296"/>
            <a:ext cx="3694176" cy="4992624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25296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243584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FEASIBILITY ANALYSIS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481328"/>
            <a:ext cx="3547872" cy="1097280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3" y="152704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I/O &amp; Data Feasibility (EXP-IO)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3" y="1709928"/>
            <a:ext cx="3401568" cy="841247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45 official PRADAN products (40.42 GB) parsed; seeker achieves 39.15 ms median latency on 1.05 GB rasters (&lt;10 MB RAM).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2651760"/>
            <a:ext cx="3547872" cy="1097280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3" y="2697480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Algorithmic Feasibility (EXP-OHRC / EXP-TMC)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3" y="2880360"/>
            <a:ext cx="3401568" cy="841247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Zero-leakage out-of-sample accuracy verified (0.786 px on OHRC, 1.073 px on TMC-2, 0.836 px on fixed ablation).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3822192"/>
            <a:ext cx="3547872" cy="1097280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3" y="38679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Photometric Feasibility (EXP-SYN-ILLUM)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3" y="4050792"/>
            <a:ext cx="3401568" cy="841247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Mode C recovers 737–1,187 inliers with &gt;99% precision across 0°–180° sweep under sensor noise.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0352" y="4992624"/>
            <a:ext cx="3547872" cy="1097280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3" y="5038344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Operational Feasibility (EXP-NEG-DISJOINT)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3" y="5221224"/>
            <a:ext cx="3401568" cy="841247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1/1 disjoint pairs tested, rejected safely by QualityGate with zero false alignments.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2816" y="1225296"/>
            <a:ext cx="3694176" cy="4992624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2816" y="1225296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15968" y="1243584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CHALLENGES / RISKS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5968" y="1481328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152704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Solar Disparity (Δθ &gt;= 45°)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1709928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Moving shadows invert feature gradients and collapse direct feature descriptors.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15968" y="2414016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2459736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3D Relief Parallax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2642616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Crater walls violate planar homography, causing large residual errors in rigid models.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15968" y="3346704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0" y="3392424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320× Cross-Sensor Scale Gap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3575304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OHRC (0.25 m) to IIRS (80 m) resolution gap prevents direct descriptor matching.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15968" y="4279392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0" y="43251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Basaltic Mare Plains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4507992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Texture-poor terrain produces low candidate keypoint counts (N &lt; 20).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5968" y="5212079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0" y="5257799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External Ground Truth Datum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440679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Independent external geodetic ground truth (LOLA altimetry tracks) is pending.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28431" y="1225296"/>
            <a:ext cx="3694176" cy="4992624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28431" y="1225296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01583" y="1243584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MITIGATION STRATEGIES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01583" y="1481328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74736" y="152704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LCN &amp; Mode C Re-illumination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74736" y="1709928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LCN normalizes dynamic range; experimental physics branch renders reference at target solar angle.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01583" y="2414016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74736" y="2459736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Adaptive TPS Non-Rigid Warping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74736" y="2642616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Autocorrelation gate triggers Thin-Plate Spline, reducing held-out RMSE by 47.9% on stereo terrain.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01583" y="3346704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74736" y="3392424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Transitive Scale Ladder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74736" y="3575304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Cascades registration OHRC → TMC-2 → IIRS via intermediate scale bridging.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01583" y="4279392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43251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Soft Utility &amp; QualityGate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4507992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Quotas enforce spatial distribution; engine ABSTAINS safely on featureless/disjoint pairs.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01583" y="5212079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74736" y="5257799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Rigorous Zero-Leakage Protocol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74736" y="5440679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Candidates partitioned before model fitting; test data never influences acceptance.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6291072"/>
            <a:ext cx="11274552" cy="347472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6345936"/>
            <a:ext cx="1106424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E9E6E"/>
                </a:solidFill>
                <a:latin typeface="Calibri"/>
              </a:rPr>
              <a:t>VIABILITY SUMMARY: The pipeline is mathematically sound, computationally lightweight (&lt;10 MB RAM), and operationally safe with automated abstention.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31089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2B35"/>
                </a:solidFill>
                <a:latin typeface="Calibri"/>
              </a:rPr>
              <a:t>IMPACT AND BENEFITS (TARGET USERS, IMPACT &amp; VALUE)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100584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05 / 06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6576"/>
            <a:ext cx="1216152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5216"/>
            <a:ext cx="112745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58368"/>
            <a:ext cx="55321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76656"/>
            <a:ext cx="542239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TARGET AUDIENCE / USERS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59536"/>
            <a:ext cx="5532120" cy="1719072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914400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3" y="960120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Space Applications Centre (SAC) &amp; ISRO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1143000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Automated orbital line-scan data co-registration, orthorectification, and mosaic generation.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444752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3" y="1490472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Planetary Scientists &amp; Lunar Geologists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3" y="1673352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High-precision alignment for crater morphology, mineralogical mapping, and landing site hazard assessment.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1975104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3" y="2020824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Cartographers &amp; Remote Sensing Workflows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3" y="2203704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Multi-instrument basemap generation, seamless orthomosaics, and DEM extraction pipelines.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658368"/>
            <a:ext cx="55321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676656"/>
            <a:ext cx="542239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POTENTIAL IMPACT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859536"/>
            <a:ext cx="5532120" cy="1719072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4" y="914400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5936" y="960120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Automated Mission Processing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1143000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Replaces tedious manual Ground Control Point (GCP) selection with autonomous sub-pixel registration.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2784" y="1444752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1490472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Elimination of Misalignment Errors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1673352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Operational QualityGate prevents false registrations from entering scientific basemaps.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72784" y="1975104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5936" y="2020824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Multi-Sensor 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5936" y="2203704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Enables unified analysis across high-resolution panchromatic (OHRC), stereo (TMC-2), and hyperspectral (IIRS) instruments.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51760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2670048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CATEGORIZED BENEFITS (SCIENTIFIC, OPERATIONAL, TECHNICAL &amp; FUTURE VALUE)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852928"/>
            <a:ext cx="2761488" cy="3785615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2852928"/>
            <a:ext cx="2761488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2871216"/>
            <a:ext cx="2615184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SCIENTIFIC BENEFITS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0352" y="3108960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3" y="3154679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Sub-Pixel Accuracy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3" y="3337560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Held-out accuracy: 0.786 px on OHRC (0.623 px median); 0.836 px on TMC-2 TPS gain.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0352" y="4242816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3503" y="4288536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Change Detection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3" y="4471416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Enables precise temporal crater impact, ray dynamics, and plume dispersal monitoring.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0352" y="5376672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3503" y="5422392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Photometric Mapping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3" y="5605272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Supports reliable multi-phase reflectance normalization and mineralogical mapping.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91840" y="2852928"/>
            <a:ext cx="2761488" cy="3785615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91840" y="2852928"/>
            <a:ext cx="2761488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64992" y="2871216"/>
            <a:ext cx="2615184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OPERATIONAL BENEFITS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64992" y="3108960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38144" y="3154679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Zero Manual Labor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38144" y="3337560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Autonomous pipeline eliminates operator intervention for routine orbit-to-orbit registration.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64992" y="4242816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38144" y="4288536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Fail-Safe Abstention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38144" y="4471416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QualityGate safely halts invalid pairs with typed reason codes (LOW_INLIERS, LOW_COVERAGE).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64992" y="5376672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38144" y="5422392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Standard Interoperability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38144" y="5605272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Direct output to GeoTIFF, CSV tie-points, and JSON metrics for standard GIS workflows.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26480" y="2852928"/>
            <a:ext cx="2761488" cy="3785615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26480" y="2852928"/>
            <a:ext cx="2761488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99632" y="2871216"/>
            <a:ext cx="2615184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TECHNICAL &amp; ECONOMIC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99632" y="3108960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72784" y="3154679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Open-Source Modular Core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72784" y="3337560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Modular Python package reduces custom tooling costs and allows rapid extension.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99632" y="4242816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72784" y="4288536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Ultra-Low Memory Footprint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72784" y="4471416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WindowedPyramidReader uses &lt;10 MB RAM, running on standard consumer hardware.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99632" y="5376672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72784" y="5422392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Rapid Push-Broom Seeker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72784" y="5605272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Sub-50 ms tile retrieval (39.15 ms median) accelerates interactive analysis.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2852928"/>
            <a:ext cx="2761488" cy="3785615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961120" y="2852928"/>
            <a:ext cx="2761488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34272" y="2871216"/>
            <a:ext cx="2615184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FUTURE MISSION VALUE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034272" y="3108960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07424" y="3154679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Chandrayaan-3/4 Ready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07424" y="3337560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Directly extensible to Chandrayaan-3 lander imagery and sample return missions.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034272" y="4242816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07424" y="4288536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Deep Space Exploration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07424" y="4471416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Core formulation generalizes to Martian (CTX/HiRISE) and Venusian orbiter data.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034272" y="5376672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07424" y="5422392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Earth Observation Transfer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07424" y="5605272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Applicable to Earth push-broom line-scan satellites with relief parallax.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31089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2B35"/>
                </a:solidFill>
                <a:latin typeface="Calibri"/>
              </a:rPr>
              <a:t>RESEARCH AND REFERENCES (FOUNDATIONS, LINKS &amp; LIMITATIONS)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100584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06 / 06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6576"/>
            <a:ext cx="1216152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5216"/>
            <a:ext cx="112745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58368"/>
            <a:ext cx="55321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76656"/>
            <a:ext cx="542239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RESEARCH BASIS &amp; FOUNDATIONS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59536"/>
            <a:ext cx="5532120" cy="24871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914400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3" y="960120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Photometric Reflectance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1143000"/>
            <a:ext cx="5239512" cy="27431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Lommel-Seeliger and Hapke physical reflectance models for airless lunar regolith under varying phase angles.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499616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3" y="1545336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Photogrammetry Standards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3" y="1728216"/>
            <a:ext cx="5239512" cy="27431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NASA Ames Stereo Pipeline (ASP) and ISRO Chandrayaan-2 calibration documentation.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2084832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3" y="2130552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Robust Feature Estimation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3" y="2313432"/>
            <a:ext cx="5239512" cy="27431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MAGSAC++ (Barath et al., CVPR 2020) and RootSIFT Hellinger kernel (Arandjelović &amp; Zisserman, 2012).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2670048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3" y="2715768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Elastic Deformation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3" y="2898648"/>
            <a:ext cx="5239512" cy="27431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Thin-Plate Splines (Bookstein, 1989) and phase correlation sub-pixel peak interpolation.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658368"/>
            <a:ext cx="55321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2784" y="676656"/>
            <a:ext cx="542239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REFERENCES &amp; PROJECT LINKS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859536"/>
            <a:ext cx="5532120" cy="24871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914400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950976"/>
            <a:ext cx="523951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1. Public GitHub Repository (Full Source Code &amp; Benchmarks)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1115568"/>
            <a:ext cx="5239512" cy="146304"/>
          </a:xfrm>
          <a:prstGeom prst="rect">
            <a:avLst/>
          </a:prstGeom>
          <a:noFill/>
        </p:spPr>
        <p:txBody>
          <a:bodyPr wrap="square" tIns="18288" bIns="18288" lIns="36576" rIns="36576">
            <a:spAutoFit/>
          </a:bodyPr>
          <a:lstStyle/>
          <a:p>
            <a:pPr algn="l"/>
            <a:r>
              <a:rPr sz="760" b="1">
                <a:solidFill>
                  <a:srgbClr val="147D77"/>
                </a:solidFill>
                <a:latin typeface="Calibri"/>
                <a:hlinkClick r:id="rId3"/>
              </a:rPr>
              <a:t>https://github.com/TanukuSai/luna-corr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261872"/>
            <a:ext cx="5239512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A2B35"/>
                </a:solidFill>
                <a:latin typeface="Calibri"/>
              </a:rPr>
              <a:t>Full implementation, Docker setup, 15 pytest suite, benchmark runners.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2784" y="1499616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1536192"/>
            <a:ext cx="523951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2. ISRO PRADAN Science Data Archive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5936" y="1700784"/>
            <a:ext cx="5239512" cy="146304"/>
          </a:xfrm>
          <a:prstGeom prst="rect">
            <a:avLst/>
          </a:prstGeom>
          <a:noFill/>
        </p:spPr>
        <p:txBody>
          <a:bodyPr wrap="square" tIns="18288" bIns="18288" lIns="36576" rIns="36576">
            <a:spAutoFit/>
          </a:bodyPr>
          <a:lstStyle/>
          <a:p>
            <a:pPr algn="l"/>
            <a:r>
              <a:rPr sz="760" b="1">
                <a:solidFill>
                  <a:srgbClr val="147D77"/>
                </a:solidFill>
                <a:latin typeface="Calibri"/>
                <a:hlinkClick r:id="rId4"/>
              </a:rPr>
              <a:t>https://pradan.issdc.gov.in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1847088"/>
            <a:ext cx="5239512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A2B35"/>
                </a:solidFill>
                <a:latin typeface="Calibri"/>
              </a:rPr>
              <a:t>Official Level-1 &amp; Level-2 Chandrayaan-2 OHRC, TMC-2, and IIRS products.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72784" y="2084832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5936" y="2121408"/>
            <a:ext cx="523951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3. NASA PDS / USGS Astrogeology Repository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5936" y="2286000"/>
            <a:ext cx="5239512" cy="146304"/>
          </a:xfrm>
          <a:prstGeom prst="rect">
            <a:avLst/>
          </a:prstGeom>
          <a:noFill/>
        </p:spPr>
        <p:txBody>
          <a:bodyPr wrap="square" tIns="18288" bIns="18288" lIns="36576" rIns="36576">
            <a:spAutoFit/>
          </a:bodyPr>
          <a:lstStyle/>
          <a:p>
            <a:pPr algn="l"/>
            <a:r>
              <a:rPr sz="760" b="1">
                <a:solidFill>
                  <a:srgbClr val="147D77"/>
                </a:solidFill>
                <a:latin typeface="Calibri"/>
                <a:hlinkClick r:id="rId5"/>
              </a:rPr>
              <a:t>https://astrogeology.usgs.gov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2432304"/>
            <a:ext cx="5239512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A2B35"/>
                </a:solidFill>
                <a:latin typeface="Calibri"/>
              </a:rPr>
              <a:t>LRO LOLA South Pole reference DEMs and geodetic basemaps.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72784" y="2670048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45936" y="2706624"/>
            <a:ext cx="523951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4. Canonical Manifest &amp; Scientific Report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2889504"/>
            <a:ext cx="5239512" cy="2560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BENCHMARK_MANIFEST.md  •  Canonical single source of truth for all experimental metrics and validation data.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419856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3438144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SCIENTIFIC EVIDENCE BOUNDARY (WHAT WE DO NOT CLAIM)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621024"/>
            <a:ext cx="3694176" cy="3017520"/>
          </a:xfrm>
          <a:prstGeom prst="rect">
            <a:avLst/>
          </a:prstGeom>
          <a:solidFill>
            <a:srgbClr val="F4F6F8"/>
          </a:solidFill>
          <a:ln w="7620">
            <a:solidFill>
              <a:srgbClr val="BB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621024"/>
            <a:ext cx="3694176" cy="201168"/>
          </a:xfrm>
          <a:prstGeom prst="rect">
            <a:avLst/>
          </a:prstGeom>
          <a:solidFill>
            <a:srgbClr val="BB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0352" y="3639312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INDEPENDENT GEODETIC GROUND CONTROL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0352" y="3877056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3" y="3922776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B3333"/>
                </a:solidFill>
                <a:latin typeface="Calibri"/>
              </a:rPr>
              <a:t>Held-Out Scope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3503" y="4105656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Current held-out evaluation uses strictly withheld tie-point sets within the image pair.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0352" y="4773168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3503" y="481888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B3333"/>
                </a:solidFill>
                <a:latin typeface="Calibri"/>
              </a:rPr>
              <a:t>Geodetic Datum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3" y="5001768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Absolute geodetic ties to external LOLA altimetry tracks remain ongoing future work.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0352" y="5669280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3503" y="5715000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B3333"/>
                </a:solidFill>
                <a:latin typeface="Calibri"/>
              </a:rPr>
              <a:t>Precision vs Datum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503" y="5897880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Relative sub-pixel registration precision is proven; absolute lunar coordinate accuracy is not claimed.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42816" y="3621024"/>
            <a:ext cx="3694176" cy="3017520"/>
          </a:xfrm>
          <a:prstGeom prst="rect">
            <a:avLst/>
          </a:prstGeom>
          <a:solidFill>
            <a:srgbClr val="F4F6F8"/>
          </a:solidFill>
          <a:ln w="7620">
            <a:solidFill>
              <a:srgbClr val="E07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42816" y="3621024"/>
            <a:ext cx="3694176" cy="201168"/>
          </a:xfrm>
          <a:prstGeom prst="rect">
            <a:avLst/>
          </a:prstGeom>
          <a:solidFill>
            <a:srgbClr val="E07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15968" y="3639312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REAL FLIGHT CROSS-SENSOR OVERLAP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15968" y="3877056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89120" y="3922776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07C1A"/>
                </a:solidFill>
                <a:latin typeface="Calibri"/>
              </a:rPr>
              <a:t>Scale Ladder Flow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0" y="4105656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Transitive graph scale ladder (OHRC → TMC-2 → IIRS) is fully implemented in code.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15968" y="4773168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481888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07C1A"/>
                </a:solidFill>
                <a:latin typeface="Calibri"/>
              </a:rPr>
              <a:t>Public Sample Footprints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0" y="5001768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Available public PRADAN sample footprints do not overlap geographically (OHRC at South Pole, TMC-2 at mid-latitudes).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315968" y="5669280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389120" y="5715000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07C1A"/>
                </a:solidFill>
                <a:latin typeface="Calibri"/>
              </a:rPr>
              <a:t>Honest Reporting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0" y="5897880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Multi-modal cross-sensor claims are validated via architecture and synthetic ladders, not fabricated overlaps.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28431" y="3621024"/>
            <a:ext cx="3694176" cy="3017520"/>
          </a:xfrm>
          <a:prstGeom prst="rect">
            <a:avLst/>
          </a:prstGeom>
          <a:solidFill>
            <a:srgbClr val="F4F6F8"/>
          </a:solidFill>
          <a:ln w="7620">
            <a:solidFill>
              <a:srgbClr val="C489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28431" y="3621024"/>
            <a:ext cx="3694176" cy="201168"/>
          </a:xfrm>
          <a:prstGeom prst="rect">
            <a:avLst/>
          </a:prstGeom>
          <a:solidFill>
            <a:srgbClr val="C48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01583" y="3639312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CONTROLLED SIMULATION SCOPE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101583" y="3877056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74736" y="3922776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4891E"/>
                </a:solidFill>
                <a:latin typeface="Calibri"/>
              </a:rPr>
              <a:t>Renderer Fidelity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74736" y="4105656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Mode C re-illumination benchmark validates physical reflectance renderer consistency under known solar geometry.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01583" y="4773168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174736" y="481888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4891E"/>
                </a:solidFill>
                <a:latin typeface="Calibri"/>
              </a:rPr>
              <a:t>Flight Boundary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74736" y="5001768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Synthetic illumination sweeps demonstrate theoretical robustness, not flight mission sign-off.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101583" y="5669280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174736" y="5715000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4891E"/>
                </a:solidFill>
                <a:latin typeface="Calibri"/>
              </a:rPr>
              <a:t>Operational Core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74736" y="5897880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Default real flight pipeline relies on robust LCN + RootSIFT + Adaptive TPS.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