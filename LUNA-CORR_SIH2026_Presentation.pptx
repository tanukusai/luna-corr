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github.com/TanukuSai/luna-corr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TanukuSai/luna-corr" TargetMode="External"/><Relationship Id="rId3" Type="http://schemas.openxmlformats.org/officeDocument/2006/relationships/hyperlink" Target="https://pradan.issdc.gov.in" TargetMode="External"/><Relationship Id="rId4" Type="http://schemas.openxmlformats.org/officeDocument/2006/relationships/hyperlink" Target="https://astrogeology.usgs.gov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1A2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931920" cy="73152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274320"/>
            <a:ext cx="3383280" cy="45720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Calibri"/>
              </a:rPr>
              <a:t>LUNA-CORR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749808"/>
            <a:ext cx="3383280" cy="36576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C0D4DB"/>
                </a:solidFill>
                <a:latin typeface="Calibri"/>
              </a:rPr>
              <a:t>Physics-informed, uncertainty-aware lunar image correspondence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188720"/>
            <a:ext cx="3383280" cy="146304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147D77"/>
                </a:solidFill>
                <a:latin typeface="Calibri"/>
              </a:rPr>
              <a:t>PROBLEM STATEMENT TITLE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1353312"/>
            <a:ext cx="3383280" cy="59436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0F4F6"/>
                </a:solidFill>
                <a:latin typeface="Calibri"/>
              </a:rPr>
              <a:t>Multi-modal, Sun-angle and scale invariant image correspondence using Chandrayaan-2 optical images (OHRC, TMC-2 and IIRS)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2029968"/>
            <a:ext cx="3383280" cy="18288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2121408"/>
            <a:ext cx="3383280" cy="13716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147D77"/>
                </a:solidFill>
                <a:latin typeface="Calibri"/>
              </a:rPr>
              <a:t>PROBLEM STATEMENT ID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2258568"/>
            <a:ext cx="3383280" cy="219456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F0F4F6"/>
                </a:solidFill>
                <a:latin typeface="Calibri"/>
              </a:rPr>
              <a:t>PS 26166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2523744"/>
            <a:ext cx="3383280" cy="13716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147D77"/>
                </a:solidFill>
                <a:latin typeface="Calibri"/>
              </a:rPr>
              <a:t>THEME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2660903"/>
            <a:ext cx="3383280" cy="219456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F0F4F6"/>
                </a:solidFill>
                <a:latin typeface="Calibri"/>
              </a:rPr>
              <a:t>Space Technology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2926079"/>
            <a:ext cx="3383280" cy="13716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147D77"/>
                </a:solidFill>
                <a:latin typeface="Calibri"/>
              </a:rPr>
              <a:t>PS CATEGORY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3063239"/>
            <a:ext cx="3383280" cy="219456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F0F4F6"/>
                </a:solidFill>
                <a:latin typeface="Calibri"/>
              </a:rPr>
              <a:t>Software (SAC, ISRO)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" y="3328415"/>
            <a:ext cx="3383280" cy="13716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147D77"/>
                </a:solidFill>
                <a:latin typeface="Calibri"/>
              </a:rPr>
              <a:t>TEAM ID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" y="3465575"/>
            <a:ext cx="3383280" cy="219456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4891E"/>
                </a:solidFill>
                <a:latin typeface="Calibri"/>
              </a:rPr>
              <a:t>189281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3730752"/>
            <a:ext cx="3383280" cy="13716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147D77"/>
                </a:solidFill>
                <a:latin typeface="Calibri"/>
              </a:rPr>
              <a:t>REGISTERED TEAM NAME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" y="3867912"/>
            <a:ext cx="3383280" cy="219456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4891E"/>
                </a:solidFill>
                <a:latin typeface="Calibri"/>
              </a:rPr>
              <a:t>R9@MedMitra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4206240"/>
            <a:ext cx="3383280" cy="1325880"/>
          </a:xfrm>
          <a:prstGeom prst="rect">
            <a:avLst/>
          </a:prstGeom>
          <a:solidFill>
            <a:srgbClr val="223642"/>
          </a:solidFill>
          <a:ln w="5080">
            <a:solidFill>
              <a:srgbClr val="147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4279392"/>
            <a:ext cx="3200400" cy="16459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147D77"/>
                </a:solidFill>
                <a:latin typeface="Calibri"/>
              </a:rPr>
              <a:t>ISRO SAC MENTORS (GUIDANCE):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4480560"/>
            <a:ext cx="3200400" cy="54864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F0F4F6"/>
                </a:solidFill>
                <a:latin typeface="Calibri"/>
              </a:rPr>
              <a:t>• Sri Rohit Mishra (SAC, ISRO)
• Sri Abdullah Suhail Ayyub Zinjani (SAC, ISRO)
• Sri K Suresh (SAC, ISRO)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5166360"/>
            <a:ext cx="3200400" cy="27432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0" i="1">
                <a:solidFill>
                  <a:srgbClr val="6B7E88"/>
                </a:solidFill>
                <a:latin typeface="Calibri"/>
              </a:rPr>
              <a:t>Research Domain: Planetary Cartography &amp; Photogrammetry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931920" y="0"/>
            <a:ext cx="8257031" cy="73152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023360" y="228600"/>
            <a:ext cx="8092440" cy="201168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096512" y="246888"/>
            <a:ext cx="7982712" cy="201168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Calibri"/>
              </a:rPr>
              <a:t>CHANDRAYAAN-2 OHRC CROSS-ORBIT MATCHING (EXP-OHRC-E2E)</a:t>
            </a:r>
          </a:p>
        </p:txBody>
      </p:sp>
      <p:pic>
        <p:nvPicPr>
          <p:cNvPr id="26" name="Picture 25" descr="fig1_title_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360" y="457200"/>
            <a:ext cx="8092440" cy="2606040"/>
          </a:xfrm>
          <a:prstGeom prst="rect">
            <a:avLst/>
          </a:prstGeom>
        </p:spPr>
      </p:pic>
      <p:sp>
        <p:nvSpPr>
          <p:cNvPr id="27" name="Rectangle 26"/>
          <p:cNvSpPr/>
          <p:nvPr/>
        </p:nvSpPr>
        <p:spPr>
          <a:xfrm>
            <a:off x="4023360" y="3127248"/>
            <a:ext cx="8092440" cy="530352"/>
          </a:xfrm>
          <a:prstGeom prst="rect">
            <a:avLst/>
          </a:prstGeom>
          <a:solidFill>
            <a:srgbClr val="EAF6F0"/>
          </a:solidFill>
          <a:ln w="7620">
            <a:solidFill>
              <a:srgbClr val="2E9E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0" y="3163824"/>
            <a:ext cx="7909560" cy="16459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E9E6E"/>
                </a:solidFill>
                <a:latin typeface="Calibri"/>
              </a:rPr>
              <a:t>DEMONSTRATED ON REAL CHANDRAYAAN-2 DATA (BENCHMARK MANIFEST VERIFIED):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00" y="3346704"/>
            <a:ext cx="7909560" cy="27432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1A2B35"/>
                </a:solidFill>
                <a:latin typeface="Calibri"/>
              </a:rPr>
              <a:t>• EXP-OHRC-E2E: 818 inliers (99.3% ratio)  ·  Held-out RMSE: 0.786 px (N=789 candidate split, TPS Warping Accepted)
• EXP-TMC-FIXED: 1.606 px → 0.836 px RMSE (47.9% gain vs Stage 3, N=150)  |  EXP-TMC-E2E: 660 inliers, 1.073 px RMSE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023360" y="3730752"/>
            <a:ext cx="2633472" cy="1188720"/>
          </a:xfrm>
          <a:prstGeom prst="rect">
            <a:avLst/>
          </a:prstGeom>
          <a:solidFill>
            <a:srgbClr val="F4F6F8"/>
          </a:solidFill>
          <a:ln w="635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023360" y="3730752"/>
            <a:ext cx="2633472" cy="201168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096512" y="3749039"/>
            <a:ext cx="2487168" cy="16459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FFFFFF"/>
                </a:solidFill>
                <a:latin typeface="Calibri"/>
              </a:rPr>
              <a:t>ILLUMINATION GAP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96512" y="3968496"/>
            <a:ext cx="2487168" cy="89611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A2B35"/>
                </a:solidFill>
                <a:latin typeface="Calibri"/>
              </a:rPr>
              <a:t>Sun azimuth/elevation changes invert slope brightness and cast moving shadows. Direct feature matching collapses.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748272" y="3730752"/>
            <a:ext cx="2633472" cy="1188720"/>
          </a:xfrm>
          <a:prstGeom prst="rect">
            <a:avLst/>
          </a:prstGeom>
          <a:solidFill>
            <a:srgbClr val="F4F6F8"/>
          </a:solidFill>
          <a:ln w="635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748272" y="3730752"/>
            <a:ext cx="2633472" cy="201168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21424" y="3749039"/>
            <a:ext cx="2487168" cy="16459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FFFFFF"/>
                </a:solidFill>
                <a:latin typeface="Calibri"/>
              </a:rPr>
              <a:t>VIEWPOINT &amp; RELIEF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21424" y="3968496"/>
            <a:ext cx="2487168" cy="89611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A2B35"/>
                </a:solidFill>
                <a:latin typeface="Calibri"/>
              </a:rPr>
              <a:t>3D crater topography creates localized relief parallax that violates planar homography. Residual relief requires adaptive deformation.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473184" y="3730752"/>
            <a:ext cx="2633472" cy="1188720"/>
          </a:xfrm>
          <a:prstGeom prst="rect">
            <a:avLst/>
          </a:prstGeom>
          <a:solidFill>
            <a:srgbClr val="F4F6F8"/>
          </a:solidFill>
          <a:ln w="635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473184" y="3730752"/>
            <a:ext cx="2633472" cy="201168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546336" y="3749039"/>
            <a:ext cx="2487168" cy="16459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FFFFFF"/>
                </a:solidFill>
                <a:latin typeface="Calibri"/>
              </a:rPr>
              <a:t>320× NOMINAL SCALE GAP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546336" y="3968496"/>
            <a:ext cx="2487168" cy="89611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A2B35"/>
                </a:solidFill>
                <a:latin typeface="Calibri"/>
              </a:rPr>
              <a:t>OHRC (~0.25 m) · TMC-2 (~5 m) · IIRS (~80 m). Up to 320× GSD ratio requires scale-space pyramid conditioning.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023360" y="4992624"/>
            <a:ext cx="8092440" cy="493776"/>
          </a:xfrm>
          <a:prstGeom prst="rect">
            <a:avLst/>
          </a:prstGeom>
          <a:solidFill>
            <a:srgbClr val="F4F6F8"/>
          </a:solidFill>
          <a:ln w="635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114800" y="5029200"/>
            <a:ext cx="1463040" cy="16459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147D77"/>
                </a:solidFill>
                <a:latin typeface="Calibri"/>
              </a:rPr>
              <a:t>STUDENT TEAM: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577840" y="5029200"/>
            <a:ext cx="6400800" cy="16459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A2B35"/>
                </a:solidFill>
                <a:latin typeface="Calibri"/>
              </a:rPr>
              <a:t>Sai Tarun Tanuku  •  Anirudh Sreekanth  •  Lalith Shrivatsav  •  Srikar M  •  Yadunandhan  •  Sreejit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14800" y="5230368"/>
            <a:ext cx="7863840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6B7E88"/>
                </a:solidFill>
                <a:latin typeface="Calibri"/>
              </a:rPr>
              <a:t>College: Amrita Vishwa Vidyapeetham, Coimbatore    •    Internal Document: Version 4.1-rc1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023360" y="5559552"/>
            <a:ext cx="8092440" cy="457200"/>
          </a:xfrm>
          <a:prstGeom prst="rect">
            <a:avLst/>
          </a:prstGeom>
          <a:solidFill>
            <a:srgbClr val="EEF5FA"/>
          </a:solidFill>
          <a:ln w="6350">
            <a:solidFill>
              <a:srgbClr val="147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114800" y="5596128"/>
            <a:ext cx="7909560" cy="146304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47D77"/>
                </a:solidFill>
                <a:latin typeface="Calibri"/>
              </a:rPr>
              <a:t>PUBLIC REPOSITORY (FULL SOURCE CODE &amp; BENCHMARK SUITE):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14800" y="5760720"/>
            <a:ext cx="3657600" cy="201168"/>
          </a:xfrm>
          <a:prstGeom prst="rect">
            <a:avLst/>
          </a:prstGeom>
          <a:noFill/>
        </p:spPr>
        <p:txBody>
          <a:bodyPr wrap="square" tIns="18288" bIns="18288" lIns="36576" rIns="36576">
            <a:spAutoFit/>
          </a:bodyPr>
          <a:lstStyle/>
          <a:p>
            <a:pPr algn="l"/>
            <a:r>
              <a:rPr sz="950" b="1">
                <a:solidFill>
                  <a:srgbClr val="147D77"/>
                </a:solidFill>
                <a:latin typeface="Calibri"/>
                <a:hlinkClick r:id="rId3"/>
              </a:rPr>
              <a:t>github.com/TanukuSai/luna-corr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498079" y="5760720"/>
            <a:ext cx="4572000" cy="201168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B7E88"/>
                </a:solidFill>
                <a:latin typeface="Calibri"/>
              </a:rPr>
              <a:t>[ MIT License  •  Dockerized  •  15/15 Automated Pytest Suite Passing  •  Canonical BENCHMARK_MANIFEST.md ]</a:t>
            </a:r>
          </a:p>
        </p:txBody>
      </p:sp>
      <p:sp>
        <p:nvSpPr>
          <p:cNvPr id="50" name="Rectangle 49"/>
          <p:cNvSpPr/>
          <p:nvPr/>
        </p:nvSpPr>
        <p:spPr>
          <a:xfrm>
            <a:off x="0" y="6729984"/>
            <a:ext cx="12188952" cy="18288"/>
          </a:xfrm>
          <a:prstGeom prst="rect">
            <a:avLst/>
          </a:prstGeom>
          <a:solidFill>
            <a:srgbClr val="D0D8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57200" y="6739128"/>
            <a:ext cx="11274552" cy="11887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B7E88"/>
                </a:solidFill>
                <a:latin typeface="Calibri"/>
              </a:rPr>
              <a:t>LUNA-CORR     •     SIH 2026 PS 26166     •     01 / 06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74552" cy="310896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A2B35"/>
                </a:solidFill>
                <a:latin typeface="Calibri"/>
              </a:rPr>
              <a:t>IDEA TITLE: LUNA-CORR — PHYSICS-INFORMED LUNAR IMAGE CORRESPONDENCE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02336"/>
            <a:ext cx="11274552" cy="16459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B7E88"/>
                </a:solidFill>
                <a:latin typeface="Calibri"/>
              </a:rPr>
              <a:t>SMART INDIA HACKATHON 2026     •     LUNA-CORR     •     02 / 06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585216"/>
            <a:ext cx="11274552" cy="18288"/>
          </a:xfrm>
          <a:prstGeom prst="rect">
            <a:avLst/>
          </a:prstGeom>
          <a:solidFill>
            <a:srgbClr val="D0D8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58368"/>
            <a:ext cx="11274552" cy="182880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64824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Calibri"/>
              </a:rPr>
              <a:t>PROPOSED SOLUTION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859536"/>
            <a:ext cx="11274552" cy="804672"/>
          </a:xfrm>
          <a:prstGeom prst="rect">
            <a:avLst/>
          </a:prstGeom>
          <a:solidFill>
            <a:srgbClr val="F4F6F8"/>
          </a:solidFill>
          <a:ln w="7620">
            <a:solidFill>
              <a:srgbClr val="147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896112"/>
            <a:ext cx="11064240" cy="201168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A2B35"/>
                </a:solidFill>
                <a:latin typeface="Calibri"/>
              </a:rPr>
              <a:t>A modular correspondence and registration engine combining illumination-aware representation, robust feature matching, adaptive relief modelling, and fail-safe abstention.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97280"/>
            <a:ext cx="11064240" cy="219456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6B7E88"/>
                </a:solidFill>
                <a:latin typeface="Calibri"/>
              </a:rPr>
              <a:t>LUNA-CORR solves severe lunar brightness inversion, moving cast shadows, and 3D crater relief distortion across Chandrayaan-2 instruments by conditioning representation on illumination, selecting non-rigid splines via residual coherence, and safely refusing ambiguous registrations.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1353312"/>
            <a:ext cx="3611880" cy="256032"/>
          </a:xfrm>
          <a:prstGeom prst="rect">
            <a:avLst/>
          </a:prstGeom>
          <a:solidFill>
            <a:srgbClr val="EEF5FA"/>
          </a:solidFill>
          <a:ln w="3810">
            <a:solidFill>
              <a:srgbClr val="147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3503" y="1371600"/>
            <a:ext cx="3502152" cy="219456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1A2B35"/>
                </a:solidFill>
                <a:latin typeface="Calibri"/>
              </a:rPr>
              <a:t>• ILLUMINATION CONDITIONED: LCN normalization + Mode C physical DEM reflectance rendering.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70248" y="1353312"/>
            <a:ext cx="3611880" cy="256032"/>
          </a:xfrm>
          <a:prstGeom prst="rect">
            <a:avLst/>
          </a:prstGeom>
          <a:solidFill>
            <a:srgbClr val="EEF5FA"/>
          </a:solidFill>
          <a:ln w="3810">
            <a:solidFill>
              <a:srgbClr val="147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25112" y="1371600"/>
            <a:ext cx="3502152" cy="219456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1A2B35"/>
                </a:solidFill>
                <a:latin typeface="Calibri"/>
              </a:rPr>
              <a:t>• ADAPTIVE DEFORMATION: Autocorrelation-guided Thin-Plate Spline for 3D crater parallax.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91856" y="1353312"/>
            <a:ext cx="3611880" cy="256032"/>
          </a:xfrm>
          <a:prstGeom prst="rect">
            <a:avLst/>
          </a:prstGeom>
          <a:solidFill>
            <a:srgbClr val="EEF5FA"/>
          </a:solidFill>
          <a:ln w="3810">
            <a:solidFill>
              <a:srgbClr val="147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0" y="1371600"/>
            <a:ext cx="3502152" cy="219456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1A2B35"/>
                </a:solidFill>
                <a:latin typeface="Calibri"/>
              </a:rPr>
              <a:t>• FAIL-SAFE ABSTENTION: Multi-criterion QualityGate with typed machine-readable reason codes.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1737360"/>
            <a:ext cx="11274552" cy="182880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352" y="1755648"/>
            <a:ext cx="11164824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Calibri"/>
              </a:rPr>
              <a:t>HOW IT ADDRESSES THE PROBLEM  /  INNOVATION &amp; UNIQUENESS  /  DETAILED EXPLANATION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1938528"/>
            <a:ext cx="3694176" cy="4297680"/>
          </a:xfrm>
          <a:prstGeom prst="rect">
            <a:avLst/>
          </a:prstGeom>
          <a:solidFill>
            <a:srgbClr val="F4F6F8"/>
          </a:solidFill>
          <a:ln w="508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1938528"/>
            <a:ext cx="3694176" cy="201168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1956816"/>
            <a:ext cx="3547872" cy="16459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FFFFFF"/>
                </a:solidFill>
                <a:latin typeface="Calibri"/>
              </a:rPr>
              <a:t>HOW IT ADDRESSES THE PROBLEM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30352" y="2176272"/>
            <a:ext cx="3547872" cy="950976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503" y="2221991"/>
            <a:ext cx="3401568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47D77"/>
                </a:solidFill>
                <a:latin typeface="Calibri"/>
              </a:rPr>
              <a:t>Illumination Dynamic Range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3503" y="2404872"/>
            <a:ext cx="3401568" cy="694944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1A2B35"/>
                </a:solidFill>
                <a:latin typeface="Calibri"/>
              </a:rPr>
              <a:t>LCN normalizes dynamic range; RootSIFT Hellinger kernel matches low-contrast crater floors.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30352" y="3182112"/>
            <a:ext cx="3547872" cy="950976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3503" y="3227832"/>
            <a:ext cx="3401568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47D77"/>
                </a:solidFill>
                <a:latin typeface="Calibri"/>
              </a:rPr>
              <a:t>Relief Parallax &amp; Topography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3503" y="3410712"/>
            <a:ext cx="3401568" cy="694944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1A2B35"/>
                </a:solidFill>
                <a:latin typeface="Calibri"/>
              </a:rPr>
              <a:t>Directional residual coherence (S_relief &gt; 0.20) triggers Thin-Plate Splines (47.9% error drop).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0352" y="4187952"/>
            <a:ext cx="3547872" cy="950976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3503" y="4233672"/>
            <a:ext cx="3401568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47D77"/>
                </a:solidFill>
                <a:latin typeface="Calibri"/>
              </a:rPr>
              <a:t>Outliers &amp; Rim Clustering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3503" y="4416552"/>
            <a:ext cx="3401568" cy="694944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1A2B35"/>
                </a:solidFill>
                <a:latin typeface="Calibri"/>
              </a:rPr>
              <a:t>Soft spatial utility quotas across 8×8 grid eliminate rim clustering; MAGSAC++ prunes outliers.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30352" y="5193792"/>
            <a:ext cx="3547872" cy="950976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03503" y="5239512"/>
            <a:ext cx="3401568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47D77"/>
                </a:solidFill>
                <a:latin typeface="Calibri"/>
              </a:rPr>
              <a:t>Misalignment Risk Control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3503" y="5422392"/>
            <a:ext cx="3401568" cy="694944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1A2B35"/>
                </a:solidFill>
                <a:latin typeface="Calibri"/>
              </a:rPr>
              <a:t>QualityGate (N&gt;=20, ratio&gt;=15%, coverage&gt;=30%) rejects non-overlapping scenes (EXP-NEG-DISJOINT).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242816" y="1938528"/>
            <a:ext cx="3694176" cy="4297680"/>
          </a:xfrm>
          <a:prstGeom prst="rect">
            <a:avLst/>
          </a:prstGeom>
          <a:solidFill>
            <a:srgbClr val="F4F6F8"/>
          </a:solidFill>
          <a:ln w="508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242816" y="1938528"/>
            <a:ext cx="3694176" cy="201168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315968" y="1956816"/>
            <a:ext cx="3547872" cy="16459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FFFFFF"/>
                </a:solidFill>
                <a:latin typeface="Calibri"/>
              </a:rPr>
              <a:t>INNOVATION &amp; UNIQUENESS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315968" y="2176272"/>
            <a:ext cx="3547872" cy="950976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89120" y="2221991"/>
            <a:ext cx="3401568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47D77"/>
                </a:solidFill>
                <a:latin typeface="Calibri"/>
              </a:rPr>
              <a:t>Physics-Conditioned Appearance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89120" y="2404872"/>
            <a:ext cx="3401568" cy="694944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1A2B35"/>
                </a:solidFill>
                <a:latin typeface="Calibri"/>
              </a:rPr>
              <a:t>Macro-gradient suppression + optional Mode C physical DEM reflectance rendering for high sun disparities.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15968" y="3182112"/>
            <a:ext cx="3547872" cy="950976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89120" y="3227832"/>
            <a:ext cx="3401568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47D77"/>
                </a:solidFill>
                <a:latin typeface="Calibri"/>
              </a:rPr>
              <a:t>Adaptive Geometric Selection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89120" y="3410712"/>
            <a:ext cx="3401568" cy="694944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1A2B35"/>
                </a:solidFill>
                <a:latin typeface="Calibri"/>
              </a:rPr>
              <a:t>Dynamically switches between Rigid, Affine, Homography, and TPS based on residual spatial autocorrelation.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15968" y="4187952"/>
            <a:ext cx="3547872" cy="950976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0" y="4233672"/>
            <a:ext cx="3401568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47D77"/>
                </a:solidFill>
                <a:latin typeface="Calibri"/>
              </a:rPr>
              <a:t>Principled Gate Abstention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89120" y="4416552"/>
            <a:ext cx="3401568" cy="694944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1A2B35"/>
                </a:solidFill>
                <a:latin typeface="Calibri"/>
              </a:rPr>
              <a:t>First planetary engine with explicit reason-coded rejection rather than forcing inaccurate alignments.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15968" y="5193792"/>
            <a:ext cx="3547872" cy="950976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389120" y="5239512"/>
            <a:ext cx="3401568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47D77"/>
                </a:solidFill>
                <a:latin typeface="Calibri"/>
              </a:rPr>
              <a:t>Zero-Leakage Architecture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389120" y="5422392"/>
            <a:ext cx="3401568" cy="694944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1A2B35"/>
                </a:solidFill>
                <a:latin typeface="Calibri"/>
              </a:rPr>
              <a:t>Strict candidate pre-splitting guarantees untouched, unbiased out-of-sample evaluation.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028431" y="1938528"/>
            <a:ext cx="3694176" cy="4297680"/>
          </a:xfrm>
          <a:prstGeom prst="rect">
            <a:avLst/>
          </a:prstGeom>
          <a:solidFill>
            <a:srgbClr val="F4F6F8"/>
          </a:solidFill>
          <a:ln w="508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028431" y="1938528"/>
            <a:ext cx="3694176" cy="201168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101583" y="1956816"/>
            <a:ext cx="3547872" cy="16459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FFFFFF"/>
                </a:solidFill>
                <a:latin typeface="Calibri"/>
              </a:rPr>
              <a:t>DETAILED EXPLANATION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101583" y="2176272"/>
            <a:ext cx="3547872" cy="950976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174736" y="2221991"/>
            <a:ext cx="3401568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47D77"/>
                </a:solidFill>
                <a:latin typeface="Calibri"/>
              </a:rPr>
              <a:t>Planetary Line-Scan Physics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74736" y="2404872"/>
            <a:ext cx="3401568" cy="694944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1A2B35"/>
                </a:solidFill>
                <a:latin typeface="Calibri"/>
              </a:rPr>
              <a:t>Push-broom images exhibit extreme illumination flips and 3D relief distortion that violate planar homography.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101583" y="3182112"/>
            <a:ext cx="3547872" cy="950976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174736" y="3227832"/>
            <a:ext cx="3401568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47D77"/>
                </a:solidFill>
                <a:latin typeface="Calibri"/>
              </a:rPr>
              <a:t>8-Stage Sequential Execution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174736" y="3410712"/>
            <a:ext cx="3401568" cy="694944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1A2B35"/>
                </a:solidFill>
                <a:latin typeface="Calibri"/>
              </a:rPr>
              <a:t>Autonomous flow: Ingest → LCN → RootSIFT → MAGSAC++ → Spatial Quotas → Subpixel → TPS → Gate.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101583" y="4187952"/>
            <a:ext cx="3547872" cy="950976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174736" y="4233672"/>
            <a:ext cx="3401568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47D77"/>
                </a:solidFill>
                <a:latin typeface="Calibri"/>
              </a:rPr>
              <a:t>Extreme Sun Angle Recovery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174736" y="4416552"/>
            <a:ext cx="3401568" cy="694944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1A2B35"/>
                </a:solidFill>
                <a:latin typeface="Calibri"/>
              </a:rPr>
              <a:t>When solar disparity is severe (Δθ &gt;= 45°), Mode C renders reference DEM at target sun angle, recovering &gt;99% precision.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101583" y="5193792"/>
            <a:ext cx="3547872" cy="950976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174736" y="5239512"/>
            <a:ext cx="3401568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47D77"/>
                </a:solidFill>
                <a:latin typeface="Calibri"/>
              </a:rPr>
              <a:t>Standardized Data Deliverables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174736" y="5422392"/>
            <a:ext cx="3401568" cy="694944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1A2B35"/>
                </a:solidFill>
                <a:latin typeface="Calibri"/>
              </a:rPr>
              <a:t>Produces calibrated GeoTIFFs, sub-pixel tie-point CSVs, and machine-readable JSON metrics with typed reason codes.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57200" y="6291072"/>
            <a:ext cx="11274552" cy="347472"/>
          </a:xfrm>
          <a:prstGeom prst="rect">
            <a:avLst/>
          </a:prstGeom>
          <a:solidFill>
            <a:srgbClr val="EAF6F0"/>
          </a:solidFill>
          <a:ln w="7620">
            <a:solidFill>
              <a:srgbClr val="2E9E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48640" y="6345936"/>
            <a:ext cx="11064240" cy="219456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E9E6E"/>
                </a:solidFill>
                <a:latin typeface="Calibri"/>
              </a:rPr>
              <a:t>CORE ARCHITECTURAL PARADIGM: Physics conditioning + adaptive geometry + operational abstention replaces static, ungrounded single-model matchers.</a:t>
            </a:r>
          </a:p>
        </p:txBody>
      </p:sp>
      <p:sp>
        <p:nvSpPr>
          <p:cNvPr id="66" name="Rectangle 65"/>
          <p:cNvSpPr/>
          <p:nvPr/>
        </p:nvSpPr>
        <p:spPr>
          <a:xfrm>
            <a:off x="0" y="6729984"/>
            <a:ext cx="12188952" cy="18288"/>
          </a:xfrm>
          <a:prstGeom prst="rect">
            <a:avLst/>
          </a:prstGeom>
          <a:solidFill>
            <a:srgbClr val="D0D8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57200" y="6739128"/>
            <a:ext cx="11274552" cy="11887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B7E88"/>
                </a:solidFill>
                <a:latin typeface="Calibri"/>
              </a:rPr>
              <a:t>LUNA-CORR     •     SIH 2026 PS 26166     •     02 / 06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058400" cy="310896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A2B35"/>
                </a:solidFill>
                <a:latin typeface="Calibri"/>
              </a:rPr>
              <a:t>TECHNICAL APPROACH &amp; METHODOLOGY / 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02336"/>
            <a:ext cx="10972800" cy="16459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B7E88"/>
                </a:solidFill>
                <a:latin typeface="Calibri"/>
              </a:rPr>
              <a:t>SMART INDIA HACKATHON 2026     •     LUNA-CORR     •     03 / 06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585216"/>
            <a:ext cx="11274552" cy="18288"/>
          </a:xfrm>
          <a:prstGeom prst="rect">
            <a:avLst/>
          </a:prstGeom>
          <a:solidFill>
            <a:srgbClr val="D0D8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58368"/>
            <a:ext cx="11274552" cy="182880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64824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Calibri"/>
              </a:rPr>
              <a:t>TECHNOLOGIES TO BE USED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859536"/>
            <a:ext cx="2761488" cy="658368"/>
          </a:xfrm>
          <a:prstGeom prst="rect">
            <a:avLst/>
          </a:prstGeom>
          <a:solidFill>
            <a:srgbClr val="F4F6F8"/>
          </a:solidFill>
          <a:ln w="508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896112"/>
            <a:ext cx="2615184" cy="146304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147D77"/>
                </a:solidFill>
                <a:latin typeface="Calibri"/>
              </a:rPr>
              <a:t>LANGUAGES &amp; FRAMEWORKS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1060704"/>
            <a:ext cx="2615184" cy="420624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1A2B35"/>
                </a:solidFill>
                <a:latin typeface="Calibri"/>
              </a:rPr>
              <a:t>Python 3.10+, NumPy, SciPy, OpenCV, PyTorch (CNN correspondence prototype).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91840" y="859536"/>
            <a:ext cx="2761488" cy="658368"/>
          </a:xfrm>
          <a:prstGeom prst="rect">
            <a:avLst/>
          </a:prstGeom>
          <a:solidFill>
            <a:srgbClr val="F4F6F8"/>
          </a:solidFill>
          <a:ln w="508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64992" y="896112"/>
            <a:ext cx="2615184" cy="146304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147D77"/>
                </a:solidFill>
                <a:latin typeface="Calibri"/>
              </a:rPr>
              <a:t>PHOTOGRAMMETRY &amp; GEOMETRY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64992" y="1060704"/>
            <a:ext cx="2615184" cy="420624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1A2B35"/>
                </a:solidFill>
                <a:latin typeface="Calibri"/>
              </a:rPr>
              <a:t>PDS4 label parser, SPICE grid solver, MAGSAC++, Thin-Plate Spline (TPS), Phase correlation.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859536"/>
            <a:ext cx="2761488" cy="658368"/>
          </a:xfrm>
          <a:prstGeom prst="rect">
            <a:avLst/>
          </a:prstGeom>
          <a:solidFill>
            <a:srgbClr val="F4F6F8"/>
          </a:solidFill>
          <a:ln w="508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99632" y="896112"/>
            <a:ext cx="2615184" cy="146304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147D77"/>
                </a:solidFill>
                <a:latin typeface="Calibri"/>
              </a:rPr>
              <a:t>PUSH-BROOM LINE-SCAN I/O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99632" y="1060704"/>
            <a:ext cx="2615184" cy="420624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1A2B35"/>
                </a:solidFill>
                <a:latin typeface="Calibri"/>
              </a:rPr>
              <a:t>WindowedPyramidReader (39.15 ms latency on 1.05 GB unindexed rasters, &lt;10 MB RAM overhead).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61120" y="859536"/>
            <a:ext cx="2761488" cy="658368"/>
          </a:xfrm>
          <a:prstGeom prst="rect">
            <a:avLst/>
          </a:prstGeom>
          <a:solidFill>
            <a:srgbClr val="F4F6F8"/>
          </a:solidFill>
          <a:ln w="508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34272" y="896112"/>
            <a:ext cx="2615184" cy="146304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147D77"/>
                </a:solidFill>
                <a:latin typeface="Calibri"/>
              </a:rPr>
              <a:t>DEVOPS &amp; REPRODUCIBILITY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34272" y="1060704"/>
            <a:ext cx="2615184" cy="420624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1A2B35"/>
                </a:solidFill>
                <a:latin typeface="Calibri"/>
              </a:rPr>
              <a:t>Docker containerized environment, pytest suite (15/15 passed), dynamic cross-consistency validator.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591056"/>
            <a:ext cx="11274552" cy="182880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1609344"/>
            <a:ext cx="11164824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Calibri"/>
              </a:rPr>
              <a:t>METHODOLOGY / PROCESS (CORE 8-STAGE E2E PIPELINE FLOW)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1792224"/>
            <a:ext cx="1353312" cy="804672"/>
          </a:xfrm>
          <a:prstGeom prst="rect">
            <a:avLst/>
          </a:prstGeom>
          <a:solidFill>
            <a:srgbClr val="F4F6F8"/>
          </a:solidFill>
          <a:ln w="635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1792224"/>
            <a:ext cx="1353312" cy="201168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3776" y="1810512"/>
            <a:ext cx="1280160" cy="16459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Calibri"/>
              </a:rPr>
              <a:t>01 INGEST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2029968"/>
            <a:ext cx="1261872" cy="53035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1A2B35"/>
                </a:solidFill>
                <a:latin typeface="Calibri"/>
              </a:rPr>
              <a:t>PDS4 label, array &amp; SPICE grid parsing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874519" y="1792224"/>
            <a:ext cx="1353312" cy="804672"/>
          </a:xfrm>
          <a:prstGeom prst="rect">
            <a:avLst/>
          </a:prstGeom>
          <a:solidFill>
            <a:srgbClr val="F4F6F8"/>
          </a:solidFill>
          <a:ln w="10160">
            <a:solidFill>
              <a:srgbClr val="147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874519" y="1792224"/>
            <a:ext cx="1353312" cy="201168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911095" y="1810512"/>
            <a:ext cx="1280160" cy="16459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Calibri"/>
              </a:rPr>
              <a:t>02 APPEARANCE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911095" y="2011680"/>
            <a:ext cx="1280160" cy="54864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1A2B35"/>
                </a:solidFill>
                <a:latin typeface="Calibri"/>
              </a:rPr>
              <a:t>LCN Normalization (Core)
─────────────────
Branch: Mode C DEM
(Physics branch)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91839" y="1792224"/>
            <a:ext cx="1353312" cy="804672"/>
          </a:xfrm>
          <a:prstGeom prst="rect">
            <a:avLst/>
          </a:prstGeom>
          <a:solidFill>
            <a:srgbClr val="F4F6F8"/>
          </a:solidFill>
          <a:ln w="635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291839" y="1792224"/>
            <a:ext cx="1353312" cy="201168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28415" y="1810512"/>
            <a:ext cx="1280160" cy="16459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Calibri"/>
              </a:rPr>
              <a:t>03 MATCH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37559" y="2029968"/>
            <a:ext cx="1261872" cy="53035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1A2B35"/>
                </a:solidFill>
                <a:latin typeface="Calibri"/>
              </a:rPr>
              <a:t>Tiled coarse-to-fine RootSIFT matching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709159" y="1792224"/>
            <a:ext cx="1353312" cy="804672"/>
          </a:xfrm>
          <a:prstGeom prst="rect">
            <a:avLst/>
          </a:prstGeom>
          <a:solidFill>
            <a:srgbClr val="F4F6F8"/>
          </a:solidFill>
          <a:ln w="635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709159" y="1792224"/>
            <a:ext cx="1353312" cy="201168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745736" y="1810512"/>
            <a:ext cx="1280160" cy="16459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Calibri"/>
              </a:rPr>
              <a:t>04 GEOMETRY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54879" y="2029968"/>
            <a:ext cx="1261872" cy="53035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1A2B35"/>
                </a:solidFill>
                <a:latin typeface="Calibri"/>
              </a:rPr>
              <a:t>MAGSAC++ robust initial projective fit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26479" y="1792224"/>
            <a:ext cx="1353312" cy="804672"/>
          </a:xfrm>
          <a:prstGeom prst="rect">
            <a:avLst/>
          </a:prstGeom>
          <a:solidFill>
            <a:srgbClr val="F4F6F8"/>
          </a:solidFill>
          <a:ln w="635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26479" y="1792224"/>
            <a:ext cx="1353312" cy="201168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163055" y="1810512"/>
            <a:ext cx="1280160" cy="16459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Calibri"/>
              </a:rPr>
              <a:t>05 SPATIAL QC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172199" y="2029968"/>
            <a:ext cx="1261872" cy="53035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1A2B35"/>
                </a:solidFill>
                <a:latin typeface="Calibri"/>
              </a:rPr>
              <a:t>Soft-utility quotas promote uniform spread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543800" y="1792224"/>
            <a:ext cx="1353312" cy="804672"/>
          </a:xfrm>
          <a:prstGeom prst="rect">
            <a:avLst/>
          </a:prstGeom>
          <a:solidFill>
            <a:srgbClr val="F4F6F8"/>
          </a:solidFill>
          <a:ln w="635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543800" y="1792224"/>
            <a:ext cx="1353312" cy="201168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580375" y="1810512"/>
            <a:ext cx="1280160" cy="16459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Calibri"/>
              </a:rPr>
              <a:t>06 SUB-PIXEL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589520" y="2029968"/>
            <a:ext cx="1261872" cy="53035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1A2B35"/>
                </a:solidFill>
                <a:latin typeface="Calibri"/>
              </a:rPr>
              <a:t>Phase-correlation peak interpolation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961120" y="1792224"/>
            <a:ext cx="1353312" cy="804672"/>
          </a:xfrm>
          <a:prstGeom prst="rect">
            <a:avLst/>
          </a:prstGeom>
          <a:solidFill>
            <a:srgbClr val="F4F6F8"/>
          </a:solidFill>
          <a:ln w="635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961120" y="1792224"/>
            <a:ext cx="1353312" cy="201168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997696" y="1810512"/>
            <a:ext cx="1280160" cy="16459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Calibri"/>
              </a:rPr>
              <a:t>07 RELIEF GATE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006840" y="2029968"/>
            <a:ext cx="1261872" cy="53035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1A2B35"/>
                </a:solidFill>
                <a:latin typeface="Calibri"/>
              </a:rPr>
              <a:t>S_relief &gt; 0.20 AND P95 &gt;= 1.5 px → TPS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0378440" y="1792224"/>
            <a:ext cx="1353312" cy="804672"/>
          </a:xfrm>
          <a:prstGeom prst="rect">
            <a:avLst/>
          </a:prstGeom>
          <a:solidFill>
            <a:srgbClr val="F4F6F8"/>
          </a:solidFill>
          <a:ln w="635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0378440" y="1792224"/>
            <a:ext cx="1353312" cy="201168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415016" y="1810512"/>
            <a:ext cx="1280160" cy="16459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Calibri"/>
              </a:rPr>
              <a:t>08 DECISION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424160" y="2029968"/>
            <a:ext cx="1261872" cy="53035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1A2B35"/>
                </a:solidFill>
                <a:latin typeface="Calibri"/>
              </a:rPr>
              <a:t>Accept with metrics or reason-coded ABSTAIN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7200" y="2670048"/>
            <a:ext cx="6126480" cy="182880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30352" y="2688336"/>
            <a:ext cx="6016752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Calibri"/>
              </a:rPr>
              <a:t>WORKING PROTOTYPE DELIVERABLES  /  TMC-2 STEREO CHECKERBOARD VERIFICATION</a:t>
            </a:r>
          </a:p>
        </p:txBody>
      </p:sp>
      <p:pic>
        <p:nvPicPr>
          <p:cNvPr id="56" name="Picture 55" descr="fig3_checker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871216"/>
            <a:ext cx="6126480" cy="2670048"/>
          </a:xfrm>
          <a:prstGeom prst="rect">
            <a:avLst/>
          </a:prstGeom>
        </p:spPr>
      </p:pic>
      <p:sp>
        <p:nvSpPr>
          <p:cNvPr id="57" name="Rectangle 56"/>
          <p:cNvSpPr/>
          <p:nvPr/>
        </p:nvSpPr>
        <p:spPr>
          <a:xfrm>
            <a:off x="457200" y="5577840"/>
            <a:ext cx="6126480" cy="566928"/>
          </a:xfrm>
          <a:prstGeom prst="rect">
            <a:avLst/>
          </a:prstGeom>
          <a:solidFill>
            <a:srgbClr val="EAF6F0"/>
          </a:solidFill>
          <a:ln w="7620">
            <a:solidFill>
              <a:srgbClr val="2E9E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48640" y="5614416"/>
            <a:ext cx="5943600" cy="16459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E9E6E"/>
                </a:solidFill>
                <a:latin typeface="Calibri"/>
              </a:rPr>
              <a:t>TMC-2 STEREO — 660 INLIERS — ACCEPTED (EXP-TMC-E2E):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48640" y="5815584"/>
            <a:ext cx="5943600" cy="27432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1A2B35"/>
                </a:solidFill>
                <a:latin typeface="Calibri"/>
              </a:rPr>
              <a:t>Held-out RMSE: 1.073 px (fitting: 0.647 px, N=297)  |  EXP-TMC-FIXED (N=150): 1.606 → 0.836 px (47.9% gain)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766560" y="2670048"/>
            <a:ext cx="4965192" cy="182880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839712" y="2688336"/>
            <a:ext cx="4855464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Calibri"/>
              </a:rPr>
              <a:t>DELIVERABLE SPECIFICATION &amp; DATA PRODUCTS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766560" y="2871216"/>
            <a:ext cx="4965192" cy="347472"/>
          </a:xfrm>
          <a:prstGeom prst="rect">
            <a:avLst/>
          </a:prstGeom>
          <a:solidFill>
            <a:srgbClr val="F4F6F8"/>
          </a:solidFill>
          <a:ln w="381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858000" y="2916936"/>
            <a:ext cx="1645920" cy="237744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47D77"/>
                </a:solidFill>
                <a:latin typeface="Calibri"/>
              </a:rPr>
              <a:t>Registered Image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549640" y="2916936"/>
            <a:ext cx="3108960" cy="25603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A2B35"/>
                </a:solidFill>
                <a:latin typeface="Calibri"/>
              </a:rPr>
              <a:t>GeoTIFF aligned to reference CRS, 16-bit radiometric fidelity.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766560" y="3255264"/>
            <a:ext cx="4965192" cy="347472"/>
          </a:xfrm>
          <a:prstGeom prst="rect">
            <a:avLst/>
          </a:prstGeom>
          <a:solidFill>
            <a:srgbClr val="F4F6F8"/>
          </a:solidFill>
          <a:ln w="381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858000" y="3300984"/>
            <a:ext cx="1645920" cy="237744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47D77"/>
                </a:solidFill>
                <a:latin typeface="Calibri"/>
              </a:rPr>
              <a:t>Validation Points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549640" y="3300984"/>
            <a:ext cx="3108960" cy="25603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A2B35"/>
                </a:solidFill>
                <a:latin typeface="Calibri"/>
              </a:rPr>
              <a:t>CSV tie-point coordinates (src_x, src_y, ref_x, ref_y, residual).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766560" y="3639312"/>
            <a:ext cx="4965192" cy="347472"/>
          </a:xfrm>
          <a:prstGeom prst="rect">
            <a:avLst/>
          </a:prstGeom>
          <a:solidFill>
            <a:srgbClr val="F4F6F8"/>
          </a:solidFill>
          <a:ln w="381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858000" y="3685032"/>
            <a:ext cx="1645920" cy="237744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47D77"/>
                </a:solidFill>
                <a:latin typeface="Calibri"/>
              </a:rPr>
              <a:t>Quality Decision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549640" y="3685032"/>
            <a:ext cx="3108960" cy="25603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A2B35"/>
                </a:solidFill>
                <a:latin typeface="Calibri"/>
              </a:rPr>
              <a:t>Machine-readable JSON metrics, status (ACCEPTED/ABSTAINED), reasons.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766560" y="4023360"/>
            <a:ext cx="4965192" cy="347472"/>
          </a:xfrm>
          <a:prstGeom prst="rect">
            <a:avLst/>
          </a:prstGeom>
          <a:solidFill>
            <a:srgbClr val="F4F6F8"/>
          </a:solidFill>
          <a:ln w="381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858000" y="4069080"/>
            <a:ext cx="1645920" cy="237744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47D77"/>
                </a:solidFill>
                <a:latin typeface="Calibri"/>
              </a:rPr>
              <a:t>Diagnostic Map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549640" y="4069080"/>
            <a:ext cx="3108960" cy="25603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A2B35"/>
                </a:solidFill>
                <a:latin typeface="Calibri"/>
              </a:rPr>
              <a:t>Checkerboard seam verification image and residual vector field.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766560" y="4462272"/>
            <a:ext cx="4965192" cy="182880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839712" y="4480559"/>
            <a:ext cx="4855464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Calibri"/>
              </a:rPr>
              <a:t>ZERO-LEAKAGE PIPELINE EXECUTION VERIFIED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766560" y="4663440"/>
            <a:ext cx="4965192" cy="1481328"/>
          </a:xfrm>
          <a:prstGeom prst="rect">
            <a:avLst/>
          </a:prstGeom>
          <a:solidFill>
            <a:srgbClr val="EEF5FA"/>
          </a:solidFill>
          <a:ln w="6350">
            <a:solidFill>
              <a:srgbClr val="147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858000" y="4709160"/>
            <a:ext cx="4754880" cy="16459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47D77"/>
                </a:solidFill>
                <a:latin typeface="Calibri"/>
              </a:rPr>
              <a:t>STRICT OUT-OF-SAMPLE EVALUATION ISOLATION: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858000" y="4919472"/>
            <a:ext cx="4754880" cy="117043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A2B35"/>
                </a:solidFill>
                <a:latin typeface="Calibri"/>
              </a:rPr>
              <a:t>• Candidate Pre-Split: Raw matches partitioned 80% train / 20% test before initial H fit.
• Train-Only Fitting: Inliers, spatial selection, subpixel tuning, and TPS derived strictly on train.
• Single Test Evaluation: Frozen transform evaluated exactly once on untouched test set.
• QualityGate Isolation: Acceptance decisions strictly governed by training metrics (N&gt;=20).</a:t>
            </a:r>
          </a:p>
        </p:txBody>
      </p:sp>
      <p:sp>
        <p:nvSpPr>
          <p:cNvPr id="79" name="Rectangle 78"/>
          <p:cNvSpPr/>
          <p:nvPr/>
        </p:nvSpPr>
        <p:spPr>
          <a:xfrm>
            <a:off x="0" y="6729984"/>
            <a:ext cx="12188952" cy="18288"/>
          </a:xfrm>
          <a:prstGeom prst="rect">
            <a:avLst/>
          </a:prstGeom>
          <a:solidFill>
            <a:srgbClr val="D0D8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457200" y="6739128"/>
            <a:ext cx="11274552" cy="11887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B7E88"/>
                </a:solidFill>
                <a:latin typeface="Calibri"/>
              </a:rPr>
              <a:t>LUNA-CORR     •     SIH 2026 PS 26166     •     03 / 06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058400" cy="310896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A2B35"/>
                </a:solidFill>
                <a:latin typeface="Calibri"/>
              </a:rPr>
              <a:t>FEASIBILITY AND VIABILITY (ANALYSIS, RISKS &amp; MITIGATIONS)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02336"/>
            <a:ext cx="10972800" cy="16459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B7E88"/>
                </a:solidFill>
                <a:latin typeface="Calibri"/>
              </a:rPr>
              <a:t>SMART INDIA HACKATHON 2026     •     LUNA-CORR     •     04 / 06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585216"/>
            <a:ext cx="11274552" cy="18288"/>
          </a:xfrm>
          <a:prstGeom prst="rect">
            <a:avLst/>
          </a:prstGeom>
          <a:solidFill>
            <a:srgbClr val="D0D8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58368"/>
            <a:ext cx="11274552" cy="512064"/>
          </a:xfrm>
          <a:prstGeom prst="rect">
            <a:avLst/>
          </a:prstGeom>
          <a:solidFill>
            <a:srgbClr val="F4F6F8"/>
          </a:solidFill>
          <a:ln w="7620">
            <a:solidFill>
              <a:srgbClr val="147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94944"/>
            <a:ext cx="11064240" cy="16459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147D77"/>
                </a:solidFill>
                <a:latin typeface="Calibri"/>
              </a:rPr>
              <a:t>FEASIBILITY &amp; VIABILITY ASSESSMENT: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896112"/>
            <a:ext cx="11064240" cy="219456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A2B35"/>
                </a:solidFill>
                <a:latin typeface="Calibri"/>
              </a:rPr>
              <a:t>Demonstrated on 45 official PRADAN products (40.42 GB); scalable sub-50 ms push-broom seeks; zero evaluation leakage on real Chandrayaan-2 imagery.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225296"/>
            <a:ext cx="3694176" cy="4992624"/>
          </a:xfrm>
          <a:prstGeom prst="rect">
            <a:avLst/>
          </a:prstGeom>
          <a:solidFill>
            <a:srgbClr val="F4F6F8"/>
          </a:solidFill>
          <a:ln w="508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225296"/>
            <a:ext cx="3694176" cy="201168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1243584"/>
            <a:ext cx="3547872" cy="16459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FFFFFF"/>
                </a:solidFill>
                <a:latin typeface="Calibri"/>
              </a:rPr>
              <a:t>FEASIBILITY ANALYSIS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1481328"/>
            <a:ext cx="3547872" cy="1097280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3503" y="1527048"/>
            <a:ext cx="3401568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47D77"/>
                </a:solidFill>
                <a:latin typeface="Calibri"/>
              </a:rPr>
              <a:t>I/O &amp; Data Feasibility (EXP-IO)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3" y="1709928"/>
            <a:ext cx="3401568" cy="841247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1A2B35"/>
                </a:solidFill>
                <a:latin typeface="Calibri"/>
              </a:rPr>
              <a:t>45 official PRADAN products (40.42 GB) parsed; seeker achieves 39.15 ms median latency on 1.05 GB rasters (&lt;10 MB RAM).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0352" y="2651760"/>
            <a:ext cx="3547872" cy="1097280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3503" y="2697480"/>
            <a:ext cx="3401568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47D77"/>
                </a:solidFill>
                <a:latin typeface="Calibri"/>
              </a:rPr>
              <a:t>Algorithmic Feasibility (EXP-OHRC / EXP-TMC)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3" y="2880360"/>
            <a:ext cx="3401568" cy="841247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1A2B35"/>
                </a:solidFill>
                <a:latin typeface="Calibri"/>
              </a:rPr>
              <a:t>Zero-leakage out-of-sample accuracy verified (0.786 px on OHRC, 1.073 px on TMC-2, 0.836 px on fixed ablation).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0352" y="3822192"/>
            <a:ext cx="3547872" cy="1097280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3503" y="3867912"/>
            <a:ext cx="3401568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47D77"/>
                </a:solidFill>
                <a:latin typeface="Calibri"/>
              </a:rPr>
              <a:t>Photometric Feasibility (EXP-SYN-ILLUM)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503" y="4050792"/>
            <a:ext cx="3401568" cy="841247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1A2B35"/>
                </a:solidFill>
                <a:latin typeface="Calibri"/>
              </a:rPr>
              <a:t>Mode C recovers 737–1,187 inliers with &gt;99% precision across 0°–180° sweep under sensor noise.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4992624"/>
            <a:ext cx="3547872" cy="1097280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3503" y="5038344"/>
            <a:ext cx="3401568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47D77"/>
                </a:solidFill>
                <a:latin typeface="Calibri"/>
              </a:rPr>
              <a:t>Operational Feasibility (EXP-NEG-DISJOINT)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3" y="5221224"/>
            <a:ext cx="3401568" cy="841247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1A2B35"/>
                </a:solidFill>
                <a:latin typeface="Calibri"/>
              </a:rPr>
              <a:t>1/1 disjoint pairs tested, rejected safely by QualityGate with zero false alignments.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42816" y="1225296"/>
            <a:ext cx="3694176" cy="4992624"/>
          </a:xfrm>
          <a:prstGeom prst="rect">
            <a:avLst/>
          </a:prstGeom>
          <a:solidFill>
            <a:srgbClr val="F4F6F8"/>
          </a:solidFill>
          <a:ln w="508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242816" y="1225296"/>
            <a:ext cx="3694176" cy="201168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15968" y="1243584"/>
            <a:ext cx="3547872" cy="16459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FFFFFF"/>
                </a:solidFill>
                <a:latin typeface="Calibri"/>
              </a:rPr>
              <a:t>CHALLENGES / RISKS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15968" y="1481328"/>
            <a:ext cx="3547872" cy="877824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89120" y="1527048"/>
            <a:ext cx="3401568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47D77"/>
                </a:solidFill>
                <a:latin typeface="Calibri"/>
              </a:rPr>
              <a:t>Solar Disparity (Δθ &gt;= 45°)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9120" y="1709928"/>
            <a:ext cx="3401568" cy="62179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1A2B35"/>
                </a:solidFill>
                <a:latin typeface="Calibri"/>
              </a:rPr>
              <a:t>Moving shadows invert feature gradients and collapse direct feature descriptors.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15968" y="2414016"/>
            <a:ext cx="3547872" cy="877824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389120" y="2459736"/>
            <a:ext cx="3401568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47D77"/>
                </a:solidFill>
                <a:latin typeface="Calibri"/>
              </a:rPr>
              <a:t>3D Relief Parallax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89120" y="2642616"/>
            <a:ext cx="3401568" cy="62179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1A2B35"/>
                </a:solidFill>
                <a:latin typeface="Calibri"/>
              </a:rPr>
              <a:t>Crater walls violate planar homography, causing large residual errors in rigid models.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15968" y="3346704"/>
            <a:ext cx="3547872" cy="877824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89120" y="3392424"/>
            <a:ext cx="3401568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47D77"/>
                </a:solidFill>
                <a:latin typeface="Calibri"/>
              </a:rPr>
              <a:t>320× Cross-Sensor Scale Gap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120" y="3575304"/>
            <a:ext cx="3401568" cy="62179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1A2B35"/>
                </a:solidFill>
                <a:latin typeface="Calibri"/>
              </a:rPr>
              <a:t>OHRC (0.25 m) to IIRS (80 m) resolution gap prevents direct descriptor matching.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15968" y="4279392"/>
            <a:ext cx="3547872" cy="877824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89120" y="4325112"/>
            <a:ext cx="3401568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47D77"/>
                </a:solidFill>
                <a:latin typeface="Calibri"/>
              </a:rPr>
              <a:t>Basaltic Mare Plains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120" y="4507992"/>
            <a:ext cx="3401568" cy="62179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1A2B35"/>
                </a:solidFill>
                <a:latin typeface="Calibri"/>
              </a:rPr>
              <a:t>Texture-poor terrain produces low candidate keypoint counts (N &lt; 20).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315968" y="5212079"/>
            <a:ext cx="3547872" cy="877824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389120" y="5257799"/>
            <a:ext cx="3401568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47D77"/>
                </a:solidFill>
                <a:latin typeface="Calibri"/>
              </a:rPr>
              <a:t>External Ground Truth Datum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89120" y="5440679"/>
            <a:ext cx="3401568" cy="62179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1A2B35"/>
                </a:solidFill>
                <a:latin typeface="Calibri"/>
              </a:rPr>
              <a:t>Independent external geodetic ground truth (LOLA altimetry tracks) is pending.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028431" y="1225296"/>
            <a:ext cx="3694176" cy="4992624"/>
          </a:xfrm>
          <a:prstGeom prst="rect">
            <a:avLst/>
          </a:prstGeom>
          <a:solidFill>
            <a:srgbClr val="F4F6F8"/>
          </a:solidFill>
          <a:ln w="508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028431" y="1225296"/>
            <a:ext cx="3694176" cy="201168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101583" y="1243584"/>
            <a:ext cx="3547872" cy="16459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FFFFFF"/>
                </a:solidFill>
                <a:latin typeface="Calibri"/>
              </a:rPr>
              <a:t>MITIGATION STRATEGIES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101583" y="1481328"/>
            <a:ext cx="3547872" cy="877824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174736" y="1527048"/>
            <a:ext cx="3401568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47D77"/>
                </a:solidFill>
                <a:latin typeface="Calibri"/>
              </a:rPr>
              <a:t>LCN &amp; Mode C Re-illumination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74736" y="1709928"/>
            <a:ext cx="3401568" cy="62179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1A2B35"/>
                </a:solidFill>
                <a:latin typeface="Calibri"/>
              </a:rPr>
              <a:t>LCN normalizes dynamic range; experimental physics branch renders reference at target solar angle.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101583" y="2414016"/>
            <a:ext cx="3547872" cy="877824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174736" y="2459736"/>
            <a:ext cx="3401568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47D77"/>
                </a:solidFill>
                <a:latin typeface="Calibri"/>
              </a:rPr>
              <a:t>Adaptive TPS Non-Rigid Warping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174736" y="2642616"/>
            <a:ext cx="3401568" cy="62179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1A2B35"/>
                </a:solidFill>
                <a:latin typeface="Calibri"/>
              </a:rPr>
              <a:t>Autocorrelation gate triggers Thin-Plate Spline, reducing held-out RMSE by 47.9% on stereo terrain.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101583" y="3346704"/>
            <a:ext cx="3547872" cy="877824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174736" y="3392424"/>
            <a:ext cx="3401568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47D77"/>
                </a:solidFill>
                <a:latin typeface="Calibri"/>
              </a:rPr>
              <a:t>Transitive Scale Ladder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74736" y="3575304"/>
            <a:ext cx="3401568" cy="62179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1A2B35"/>
                </a:solidFill>
                <a:latin typeface="Calibri"/>
              </a:rPr>
              <a:t>Cascades registration OHRC → TMC-2 → IIRS via intermediate scale bridging.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101583" y="4279392"/>
            <a:ext cx="3547872" cy="877824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174736" y="4325112"/>
            <a:ext cx="3401568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47D77"/>
                </a:solidFill>
                <a:latin typeface="Calibri"/>
              </a:rPr>
              <a:t>Soft Utility &amp; QualityGate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174736" y="4507992"/>
            <a:ext cx="3401568" cy="62179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1A2B35"/>
                </a:solidFill>
                <a:latin typeface="Calibri"/>
              </a:rPr>
              <a:t>Quotas enforce spatial distribution; engine ABSTAINS safely on featureless/disjoint pairs.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101583" y="5212079"/>
            <a:ext cx="3547872" cy="877824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174736" y="5257799"/>
            <a:ext cx="3401568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47D77"/>
                </a:solidFill>
                <a:latin typeface="Calibri"/>
              </a:rPr>
              <a:t>Rigorous Zero-Leakage Protocol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174736" y="5440679"/>
            <a:ext cx="3401568" cy="62179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1A2B35"/>
                </a:solidFill>
                <a:latin typeface="Calibri"/>
              </a:rPr>
              <a:t>Candidates partitioned before model fitting; test data never influences acceptance.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57200" y="6291072"/>
            <a:ext cx="11274552" cy="347472"/>
          </a:xfrm>
          <a:prstGeom prst="rect">
            <a:avLst/>
          </a:prstGeom>
          <a:solidFill>
            <a:srgbClr val="EAF6F0"/>
          </a:solidFill>
          <a:ln w="7620">
            <a:solidFill>
              <a:srgbClr val="2E9E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48640" y="6345936"/>
            <a:ext cx="11064240" cy="219456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E9E6E"/>
                </a:solidFill>
                <a:latin typeface="Calibri"/>
              </a:rPr>
              <a:t>VIABILITY SUMMARY: The pipeline is mathematically sound, computationally lightweight (&lt;10 MB RAM), and operationally safe with automated abstention.</a:t>
            </a:r>
          </a:p>
        </p:txBody>
      </p:sp>
      <p:sp>
        <p:nvSpPr>
          <p:cNvPr id="62" name="Rectangle 61"/>
          <p:cNvSpPr/>
          <p:nvPr/>
        </p:nvSpPr>
        <p:spPr>
          <a:xfrm>
            <a:off x="0" y="6729984"/>
            <a:ext cx="12188952" cy="18288"/>
          </a:xfrm>
          <a:prstGeom prst="rect">
            <a:avLst/>
          </a:prstGeom>
          <a:solidFill>
            <a:srgbClr val="D0D8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6739128"/>
            <a:ext cx="11274552" cy="11887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B7E88"/>
                </a:solidFill>
                <a:latin typeface="Calibri"/>
              </a:rPr>
              <a:t>LUNA-CORR     •     SIH 2026 PS 26166     •     04 / 06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058400" cy="310896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A2B35"/>
                </a:solidFill>
                <a:latin typeface="Calibri"/>
              </a:rPr>
              <a:t>IMPACT AND BENEFITS (TARGET USERS, IMPACT &amp; VALUE)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02336"/>
            <a:ext cx="10972800" cy="16459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B7E88"/>
                </a:solidFill>
                <a:latin typeface="Calibri"/>
              </a:rPr>
              <a:t>SMART INDIA HACKATHON 2026     •     LUNA-CORR     •     05 / 06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585216"/>
            <a:ext cx="11274552" cy="18288"/>
          </a:xfrm>
          <a:prstGeom prst="rect">
            <a:avLst/>
          </a:prstGeom>
          <a:solidFill>
            <a:srgbClr val="D0D8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58368"/>
            <a:ext cx="5532120" cy="182880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5422392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Calibri"/>
              </a:rPr>
              <a:t>TARGET AUDIENCE / USERS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859536"/>
            <a:ext cx="5532120" cy="1719072"/>
          </a:xfrm>
          <a:prstGeom prst="rect">
            <a:avLst/>
          </a:prstGeom>
          <a:solidFill>
            <a:srgbClr val="F4F6F8"/>
          </a:solidFill>
          <a:ln w="508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30352" y="914400"/>
            <a:ext cx="5385816" cy="493776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3503" y="960120"/>
            <a:ext cx="5239512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47D77"/>
                </a:solidFill>
                <a:latin typeface="Calibri"/>
              </a:rPr>
              <a:t>Space Applications Centre (SAC) &amp; ISRO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3" y="1143000"/>
            <a:ext cx="5239512" cy="237744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1A2B35"/>
                </a:solidFill>
                <a:latin typeface="Calibri"/>
              </a:rPr>
              <a:t>Automated orbital line-scan data co-registration, orthorectification, and mosaic generation.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1444752"/>
            <a:ext cx="5385816" cy="493776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3503" y="1490472"/>
            <a:ext cx="5239512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47D77"/>
                </a:solidFill>
                <a:latin typeface="Calibri"/>
              </a:rPr>
              <a:t>Planetary Scientists &amp; Lunar Geologists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3" y="1673352"/>
            <a:ext cx="5239512" cy="237744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1A2B35"/>
                </a:solidFill>
                <a:latin typeface="Calibri"/>
              </a:rPr>
              <a:t>High-precision alignment for crater morphology, mineralogical mapping, and landing site hazard assessment.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0352" y="1975104"/>
            <a:ext cx="5385816" cy="493776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3503" y="2020824"/>
            <a:ext cx="5239512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47D77"/>
                </a:solidFill>
                <a:latin typeface="Calibri"/>
              </a:rPr>
              <a:t>Cartographers &amp; Remote Sensing Workflows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3" y="2203704"/>
            <a:ext cx="5239512" cy="237744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1A2B35"/>
                </a:solidFill>
                <a:latin typeface="Calibri"/>
              </a:rPr>
              <a:t>Multi-instrument basemap generation, seamless orthomosaics, and DEM extraction pipelines.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99632" y="658368"/>
            <a:ext cx="5532120" cy="182880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72784" y="676656"/>
            <a:ext cx="5422392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Calibri"/>
              </a:rPr>
              <a:t>POTENTIAL IMPACT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99632" y="859536"/>
            <a:ext cx="5532120" cy="1719072"/>
          </a:xfrm>
          <a:prstGeom prst="rect">
            <a:avLst/>
          </a:prstGeom>
          <a:solidFill>
            <a:srgbClr val="F4F6F8"/>
          </a:solidFill>
          <a:ln w="508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2784" y="914400"/>
            <a:ext cx="5385816" cy="493776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45936" y="960120"/>
            <a:ext cx="5239512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47D77"/>
                </a:solidFill>
                <a:latin typeface="Calibri"/>
              </a:rPr>
              <a:t>Automated Mission Processing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45936" y="1143000"/>
            <a:ext cx="5239512" cy="237744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1A2B35"/>
                </a:solidFill>
                <a:latin typeface="Calibri"/>
              </a:rPr>
              <a:t>Replaces tedious manual Ground Control Point (GCP) selection with autonomous sub-pixel registration.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72784" y="1444752"/>
            <a:ext cx="5385816" cy="493776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45936" y="1490472"/>
            <a:ext cx="5239512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47D77"/>
                </a:solidFill>
                <a:latin typeface="Calibri"/>
              </a:rPr>
              <a:t>Elimination of Misalignment Errors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45936" y="1673352"/>
            <a:ext cx="5239512" cy="237744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1A2B35"/>
                </a:solidFill>
                <a:latin typeface="Calibri"/>
              </a:rPr>
              <a:t>Operational QualityGate prevents false registrations from entering scientific basemaps.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72784" y="1975104"/>
            <a:ext cx="5385816" cy="493776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45936" y="2020824"/>
            <a:ext cx="5239512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47D77"/>
                </a:solidFill>
                <a:latin typeface="Calibri"/>
              </a:rPr>
              <a:t>Multi-Sensor Integration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45936" y="2203704"/>
            <a:ext cx="5239512" cy="237744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1A2B35"/>
                </a:solidFill>
                <a:latin typeface="Calibri"/>
              </a:rPr>
              <a:t>Enables unified analysis across high-resolution panchromatic (OHRC), stereo (TMC-2), and hyperspectral (IIRS) instruments.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2651760"/>
            <a:ext cx="11274552" cy="182880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0352" y="2670048"/>
            <a:ext cx="11164824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Calibri"/>
              </a:rPr>
              <a:t>CATEGORIZED BENEFITS (SCIENTIFIC, OPERATIONAL, TECHNICAL &amp; FUTURE VALUE)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2852928"/>
            <a:ext cx="2761488" cy="3785615"/>
          </a:xfrm>
          <a:prstGeom prst="rect">
            <a:avLst/>
          </a:prstGeom>
          <a:solidFill>
            <a:srgbClr val="F4F6F8"/>
          </a:solidFill>
          <a:ln w="508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2852928"/>
            <a:ext cx="2761488" cy="201168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30352" y="2871216"/>
            <a:ext cx="2615184" cy="16459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FFFFFF"/>
                </a:solidFill>
                <a:latin typeface="Calibri"/>
              </a:rPr>
              <a:t>SCIENTIFIC BENEFITS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30352" y="3108960"/>
            <a:ext cx="2615184" cy="1078992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03503" y="3154679"/>
            <a:ext cx="2468879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47D77"/>
                </a:solidFill>
                <a:latin typeface="Calibri"/>
              </a:rPr>
              <a:t>Sub-Pixel Accuracy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3503" y="3337560"/>
            <a:ext cx="2468879" cy="822959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1A2B35"/>
                </a:solidFill>
                <a:latin typeface="Calibri"/>
              </a:rPr>
              <a:t>Held-out accuracy: 0.786 px on OHRC (0.623 px median); 0.836 px on TMC-2 TPS gain.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30352" y="4242816"/>
            <a:ext cx="2615184" cy="1078992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3503" y="4288536"/>
            <a:ext cx="2468879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47D77"/>
                </a:solidFill>
                <a:latin typeface="Calibri"/>
              </a:rPr>
              <a:t>Change Detection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3503" y="4471416"/>
            <a:ext cx="2468879" cy="822959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1A2B35"/>
                </a:solidFill>
                <a:latin typeface="Calibri"/>
              </a:rPr>
              <a:t>Enables precise temporal crater impact, ray dynamics, and plume dispersal monitoring.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30352" y="5376672"/>
            <a:ext cx="2615184" cy="1078992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3503" y="5422392"/>
            <a:ext cx="2468879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47D77"/>
                </a:solidFill>
                <a:latin typeface="Calibri"/>
              </a:rPr>
              <a:t>Photometric Mapping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3503" y="5605272"/>
            <a:ext cx="2468879" cy="822959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1A2B35"/>
                </a:solidFill>
                <a:latin typeface="Calibri"/>
              </a:rPr>
              <a:t>Supports reliable multi-phase reflectance normalization and mineralogical mapping.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291840" y="2852928"/>
            <a:ext cx="2761488" cy="3785615"/>
          </a:xfrm>
          <a:prstGeom prst="rect">
            <a:avLst/>
          </a:prstGeom>
          <a:solidFill>
            <a:srgbClr val="F4F6F8"/>
          </a:solidFill>
          <a:ln w="508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291840" y="2852928"/>
            <a:ext cx="2761488" cy="201168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364992" y="2871216"/>
            <a:ext cx="2615184" cy="16459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FFFFFF"/>
                </a:solidFill>
                <a:latin typeface="Calibri"/>
              </a:rPr>
              <a:t>OPERATIONAL BENEFITS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364992" y="3108960"/>
            <a:ext cx="2615184" cy="1078992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438144" y="3154679"/>
            <a:ext cx="2468879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47D77"/>
                </a:solidFill>
                <a:latin typeface="Calibri"/>
              </a:rPr>
              <a:t>Zero Manual Labor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438144" y="3337560"/>
            <a:ext cx="2468879" cy="822959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1A2B35"/>
                </a:solidFill>
                <a:latin typeface="Calibri"/>
              </a:rPr>
              <a:t>Autonomous pipeline eliminates operator intervention for routine orbit-to-orbit registration.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364992" y="4242816"/>
            <a:ext cx="2615184" cy="1078992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438144" y="4288536"/>
            <a:ext cx="2468879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47D77"/>
                </a:solidFill>
                <a:latin typeface="Calibri"/>
              </a:rPr>
              <a:t>Fail-Safe Abstention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438144" y="4471416"/>
            <a:ext cx="2468879" cy="822959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1A2B35"/>
                </a:solidFill>
                <a:latin typeface="Calibri"/>
              </a:rPr>
              <a:t>QualityGate safely halts invalid pairs with typed reason codes (LOW_INLIERS, LOW_COVERAGE).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364992" y="5376672"/>
            <a:ext cx="2615184" cy="1078992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438144" y="5422392"/>
            <a:ext cx="2468879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47D77"/>
                </a:solidFill>
                <a:latin typeface="Calibri"/>
              </a:rPr>
              <a:t>Standard Interoperability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438144" y="5605272"/>
            <a:ext cx="2468879" cy="822959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1A2B35"/>
                </a:solidFill>
                <a:latin typeface="Calibri"/>
              </a:rPr>
              <a:t>Direct output to GeoTIFF, CSV tie-points, and JSON metrics for standard GIS workflows.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126480" y="2852928"/>
            <a:ext cx="2761488" cy="3785615"/>
          </a:xfrm>
          <a:prstGeom prst="rect">
            <a:avLst/>
          </a:prstGeom>
          <a:solidFill>
            <a:srgbClr val="F4F6F8"/>
          </a:solidFill>
          <a:ln w="508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126480" y="2852928"/>
            <a:ext cx="2761488" cy="201168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199632" y="2871216"/>
            <a:ext cx="2615184" cy="16459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FFFFFF"/>
                </a:solidFill>
                <a:latin typeface="Calibri"/>
              </a:rPr>
              <a:t>TECHNICAL &amp; ECONOMIC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199632" y="3108960"/>
            <a:ext cx="2615184" cy="1078992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272784" y="3154679"/>
            <a:ext cx="2468879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47D77"/>
                </a:solidFill>
                <a:latin typeface="Calibri"/>
              </a:rPr>
              <a:t>Open-Source Modular Core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272784" y="3337560"/>
            <a:ext cx="2468879" cy="822959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1A2B35"/>
                </a:solidFill>
                <a:latin typeface="Calibri"/>
              </a:rPr>
              <a:t>Modular Python package reduces custom tooling costs and allows rapid extension.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199632" y="4242816"/>
            <a:ext cx="2615184" cy="1078992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272784" y="4288536"/>
            <a:ext cx="2468879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47D77"/>
                </a:solidFill>
                <a:latin typeface="Calibri"/>
              </a:rPr>
              <a:t>Ultra-Low Memory Footprint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272784" y="4471416"/>
            <a:ext cx="2468879" cy="822959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1A2B35"/>
                </a:solidFill>
                <a:latin typeface="Calibri"/>
              </a:rPr>
              <a:t>WindowedPyramidReader uses &lt;10 MB RAM, running on standard consumer hardware.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199632" y="5376672"/>
            <a:ext cx="2615184" cy="1078992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272784" y="5422392"/>
            <a:ext cx="2468879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47D77"/>
                </a:solidFill>
                <a:latin typeface="Calibri"/>
              </a:rPr>
              <a:t>Rapid Push-Broom Seeker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272784" y="5605272"/>
            <a:ext cx="2468879" cy="822959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1A2B35"/>
                </a:solidFill>
                <a:latin typeface="Calibri"/>
              </a:rPr>
              <a:t>Sub-50 ms tile retrieval (39.15 ms median) accelerates interactive analysis.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961120" y="2852928"/>
            <a:ext cx="2761488" cy="3785615"/>
          </a:xfrm>
          <a:prstGeom prst="rect">
            <a:avLst/>
          </a:prstGeom>
          <a:solidFill>
            <a:srgbClr val="F4F6F8"/>
          </a:solidFill>
          <a:ln w="508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8961120" y="2852928"/>
            <a:ext cx="2761488" cy="201168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034272" y="2871216"/>
            <a:ext cx="2615184" cy="16459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FFFFFF"/>
                </a:solidFill>
                <a:latin typeface="Calibri"/>
              </a:rPr>
              <a:t>FUTURE MISSION VALUE</a:t>
            </a:r>
          </a:p>
        </p:txBody>
      </p:sp>
      <p:sp>
        <p:nvSpPr>
          <p:cNvPr id="71" name="Rectangle 70"/>
          <p:cNvSpPr/>
          <p:nvPr/>
        </p:nvSpPr>
        <p:spPr>
          <a:xfrm>
            <a:off x="9034272" y="3108960"/>
            <a:ext cx="2615184" cy="1078992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107424" y="3154679"/>
            <a:ext cx="2468879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47D77"/>
                </a:solidFill>
                <a:latin typeface="Calibri"/>
              </a:rPr>
              <a:t>Chandrayaan-3/4 Ready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107424" y="3337560"/>
            <a:ext cx="2468879" cy="822959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1A2B35"/>
                </a:solidFill>
                <a:latin typeface="Calibri"/>
              </a:rPr>
              <a:t>Directly extensible to Chandrayaan-3 lander imagery and sample return missions.</a:t>
            </a:r>
          </a:p>
        </p:txBody>
      </p:sp>
      <p:sp>
        <p:nvSpPr>
          <p:cNvPr id="74" name="Rectangle 73"/>
          <p:cNvSpPr/>
          <p:nvPr/>
        </p:nvSpPr>
        <p:spPr>
          <a:xfrm>
            <a:off x="9034272" y="4242816"/>
            <a:ext cx="2615184" cy="1078992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9107424" y="4288536"/>
            <a:ext cx="2468879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47D77"/>
                </a:solidFill>
                <a:latin typeface="Calibri"/>
              </a:rPr>
              <a:t>Deep Space Exploration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107424" y="4471416"/>
            <a:ext cx="2468879" cy="822959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1A2B35"/>
                </a:solidFill>
                <a:latin typeface="Calibri"/>
              </a:rPr>
              <a:t>Core formulation generalizes to Martian (CTX/HiRISE) and Venusian orbiter data.</a:t>
            </a:r>
          </a:p>
        </p:txBody>
      </p:sp>
      <p:sp>
        <p:nvSpPr>
          <p:cNvPr id="77" name="Rectangle 76"/>
          <p:cNvSpPr/>
          <p:nvPr/>
        </p:nvSpPr>
        <p:spPr>
          <a:xfrm>
            <a:off x="9034272" y="5376672"/>
            <a:ext cx="2615184" cy="1078992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107424" y="5422392"/>
            <a:ext cx="2468879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47D77"/>
                </a:solidFill>
                <a:latin typeface="Calibri"/>
              </a:rPr>
              <a:t>Earth Observation Transfer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107424" y="5605272"/>
            <a:ext cx="2468879" cy="822959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1A2B35"/>
                </a:solidFill>
                <a:latin typeface="Calibri"/>
              </a:rPr>
              <a:t>Applicable to Earth push-broom line-scan satellites with relief parallax.</a:t>
            </a:r>
          </a:p>
        </p:txBody>
      </p:sp>
      <p:sp>
        <p:nvSpPr>
          <p:cNvPr id="80" name="Rectangle 79"/>
          <p:cNvSpPr/>
          <p:nvPr/>
        </p:nvSpPr>
        <p:spPr>
          <a:xfrm>
            <a:off x="0" y="6729984"/>
            <a:ext cx="12188952" cy="18288"/>
          </a:xfrm>
          <a:prstGeom prst="rect">
            <a:avLst/>
          </a:prstGeom>
          <a:solidFill>
            <a:srgbClr val="D0D8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7200" y="6739128"/>
            <a:ext cx="11274552" cy="11887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B7E88"/>
                </a:solidFill>
                <a:latin typeface="Calibri"/>
              </a:rPr>
              <a:t>LUNA-CORR     •     SIH 2026 PS 26166     •     05 / 06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058400" cy="310896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A2B35"/>
                </a:solidFill>
                <a:latin typeface="Calibri"/>
              </a:rPr>
              <a:t>RESEARCH AND REFERENCES (FOUNDATIONS, LINKS &amp; LIMITATIONS)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02336"/>
            <a:ext cx="10972800" cy="16459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B7E88"/>
                </a:solidFill>
                <a:latin typeface="Calibri"/>
              </a:rPr>
              <a:t>SMART INDIA HACKATHON 2026     •     LUNA-CORR     •     06 / 06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585216"/>
            <a:ext cx="11274552" cy="18288"/>
          </a:xfrm>
          <a:prstGeom prst="rect">
            <a:avLst/>
          </a:prstGeom>
          <a:solidFill>
            <a:srgbClr val="D0D8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58368"/>
            <a:ext cx="5532120" cy="182880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5422392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Calibri"/>
              </a:rPr>
              <a:t>RESEARCH BASIS &amp; FOUNDATIONS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859536"/>
            <a:ext cx="5532120" cy="2487168"/>
          </a:xfrm>
          <a:prstGeom prst="rect">
            <a:avLst/>
          </a:prstGeom>
          <a:solidFill>
            <a:srgbClr val="F4F6F8"/>
          </a:solidFill>
          <a:ln w="508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30352" y="914400"/>
            <a:ext cx="5385816" cy="530352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3503" y="960120"/>
            <a:ext cx="5239512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47D77"/>
                </a:solidFill>
                <a:latin typeface="Calibri"/>
              </a:rPr>
              <a:t>Photometric Reflectance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3" y="1143000"/>
            <a:ext cx="5239512" cy="274319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1A2B35"/>
                </a:solidFill>
                <a:latin typeface="Calibri"/>
              </a:rPr>
              <a:t>Lommel-Seeliger and Hapke physical reflectance models for airless lunar regolith under varying phase angles.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1499616"/>
            <a:ext cx="5385816" cy="530352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3503" y="1545336"/>
            <a:ext cx="5239512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47D77"/>
                </a:solidFill>
                <a:latin typeface="Calibri"/>
              </a:rPr>
              <a:t>Photogrammetry Standards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3" y="1728216"/>
            <a:ext cx="5239512" cy="274319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1A2B35"/>
                </a:solidFill>
                <a:latin typeface="Calibri"/>
              </a:rPr>
              <a:t>NASA Ames Stereo Pipeline (ASP) and ISRO Chandrayaan-2 calibration documentation.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0352" y="2084832"/>
            <a:ext cx="5385816" cy="530352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3503" y="2130552"/>
            <a:ext cx="5239512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47D77"/>
                </a:solidFill>
                <a:latin typeface="Calibri"/>
              </a:rPr>
              <a:t>Robust Feature Estimation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3" y="2313432"/>
            <a:ext cx="5239512" cy="274319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1A2B35"/>
                </a:solidFill>
                <a:latin typeface="Calibri"/>
              </a:rPr>
              <a:t>MAGSAC++ (Barath et al., CVPR 2020) and RootSIFT Hellinger kernel (Arandjelović &amp; Zisserman, 2012).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0352" y="2670048"/>
            <a:ext cx="5385816" cy="530352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3503" y="2715768"/>
            <a:ext cx="5239512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47D77"/>
                </a:solidFill>
                <a:latin typeface="Calibri"/>
              </a:rPr>
              <a:t>Elastic Deformation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503" y="2898648"/>
            <a:ext cx="5239512" cy="274319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1A2B35"/>
                </a:solidFill>
                <a:latin typeface="Calibri"/>
              </a:rPr>
              <a:t>Thin-Plate Splines (Bookstein, 1989) and phase correlation sub-pixel peak interpolation.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99632" y="658368"/>
            <a:ext cx="5532120" cy="182880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2784" y="676656"/>
            <a:ext cx="5422392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Calibri"/>
              </a:rPr>
              <a:t>REFERENCES &amp; PROJECT LINKS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99632" y="859536"/>
            <a:ext cx="5532120" cy="2487168"/>
          </a:xfrm>
          <a:prstGeom prst="rect">
            <a:avLst/>
          </a:prstGeom>
          <a:solidFill>
            <a:srgbClr val="F4F6F8"/>
          </a:solidFill>
          <a:ln w="508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72784" y="914400"/>
            <a:ext cx="5385816" cy="530352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45936" y="950976"/>
            <a:ext cx="5239512" cy="16459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47D77"/>
                </a:solidFill>
                <a:latin typeface="Calibri"/>
              </a:rPr>
              <a:t>1. Public GitHub Repository (Full Source Code &amp; Benchmarks)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45936" y="1115568"/>
            <a:ext cx="5239512" cy="146304"/>
          </a:xfrm>
          <a:prstGeom prst="rect">
            <a:avLst/>
          </a:prstGeom>
          <a:noFill/>
        </p:spPr>
        <p:txBody>
          <a:bodyPr wrap="square" tIns="18288" bIns="18288" lIns="36576" rIns="36576">
            <a:spAutoFit/>
          </a:bodyPr>
          <a:lstStyle/>
          <a:p>
            <a:pPr algn="l"/>
            <a:r>
              <a:rPr sz="760" b="1">
                <a:solidFill>
                  <a:srgbClr val="147D77"/>
                </a:solidFill>
                <a:latin typeface="Calibri"/>
                <a:hlinkClick r:id="rId2"/>
              </a:rPr>
              <a:t>https://github.com/TanukuSai/luna-corr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45936" y="1261872"/>
            <a:ext cx="5239512" cy="146304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1A2B35"/>
                </a:solidFill>
                <a:latin typeface="Calibri"/>
              </a:rPr>
              <a:t>Full implementation, Docker setup, 15 pytest suite, benchmark runners.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72784" y="1499616"/>
            <a:ext cx="5385816" cy="530352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45936" y="1536192"/>
            <a:ext cx="5239512" cy="16459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47D77"/>
                </a:solidFill>
                <a:latin typeface="Calibri"/>
              </a:rPr>
              <a:t>2. ISRO PRADAN Science Data Archive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45936" y="1700784"/>
            <a:ext cx="5239512" cy="146304"/>
          </a:xfrm>
          <a:prstGeom prst="rect">
            <a:avLst/>
          </a:prstGeom>
          <a:noFill/>
        </p:spPr>
        <p:txBody>
          <a:bodyPr wrap="square" tIns="18288" bIns="18288" lIns="36576" rIns="36576">
            <a:spAutoFit/>
          </a:bodyPr>
          <a:lstStyle/>
          <a:p>
            <a:pPr algn="l"/>
            <a:r>
              <a:rPr sz="760" b="1">
                <a:solidFill>
                  <a:srgbClr val="147D77"/>
                </a:solidFill>
                <a:latin typeface="Calibri"/>
                <a:hlinkClick r:id="rId3"/>
              </a:rPr>
              <a:t>https://pradan.issdc.gov.in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45936" y="1847088"/>
            <a:ext cx="5239512" cy="146304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1A2B35"/>
                </a:solidFill>
                <a:latin typeface="Calibri"/>
              </a:rPr>
              <a:t>Official Level-1 &amp; Level-2 Chandrayaan-2 OHRC, TMC-2, and IIRS products.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72784" y="2084832"/>
            <a:ext cx="5385816" cy="530352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45936" y="2121408"/>
            <a:ext cx="5239512" cy="16459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47D77"/>
                </a:solidFill>
                <a:latin typeface="Calibri"/>
              </a:rPr>
              <a:t>3. NASA PDS / USGS Astrogeology Repository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45936" y="2286000"/>
            <a:ext cx="5239512" cy="146304"/>
          </a:xfrm>
          <a:prstGeom prst="rect">
            <a:avLst/>
          </a:prstGeom>
          <a:noFill/>
        </p:spPr>
        <p:txBody>
          <a:bodyPr wrap="square" tIns="18288" bIns="18288" lIns="36576" rIns="36576">
            <a:spAutoFit/>
          </a:bodyPr>
          <a:lstStyle/>
          <a:p>
            <a:pPr algn="l"/>
            <a:r>
              <a:rPr sz="760" b="1">
                <a:solidFill>
                  <a:srgbClr val="147D77"/>
                </a:solidFill>
                <a:latin typeface="Calibri"/>
                <a:hlinkClick r:id="rId4"/>
              </a:rPr>
              <a:t>https://astrogeology.usgs.gov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45936" y="2432304"/>
            <a:ext cx="5239512" cy="146304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1A2B35"/>
                </a:solidFill>
                <a:latin typeface="Calibri"/>
              </a:rPr>
              <a:t>LRO LOLA South Pole reference DEMs and geodetic basemaps.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72784" y="2670048"/>
            <a:ext cx="5385816" cy="530352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45936" y="2706624"/>
            <a:ext cx="5239512" cy="16459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47D77"/>
                </a:solidFill>
                <a:latin typeface="Calibri"/>
              </a:rPr>
              <a:t>4. Canonical Manifest &amp; Scientific Report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45936" y="2889504"/>
            <a:ext cx="5239512" cy="25603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1A2B35"/>
                </a:solidFill>
                <a:latin typeface="Calibri"/>
              </a:rPr>
              <a:t>BENCHMARK_MANIFEST.md  •  Canonical single source of truth for all experimental metrics and validation data.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3419856"/>
            <a:ext cx="11274552" cy="182880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30352" y="3438144"/>
            <a:ext cx="11164824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Calibri"/>
              </a:rPr>
              <a:t>SCIENTIFIC EVIDENCE BOUNDARY (WHAT WE DO NOT CLAIM)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3621024"/>
            <a:ext cx="3694176" cy="3017520"/>
          </a:xfrm>
          <a:prstGeom prst="rect">
            <a:avLst/>
          </a:prstGeom>
          <a:solidFill>
            <a:srgbClr val="F4F6F8"/>
          </a:solidFill>
          <a:ln w="7620">
            <a:solidFill>
              <a:srgbClr val="BB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7200" y="3621024"/>
            <a:ext cx="3694176" cy="201168"/>
          </a:xfrm>
          <a:prstGeom prst="rect">
            <a:avLst/>
          </a:prstGeom>
          <a:solidFill>
            <a:srgbClr val="BB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30352" y="3639312"/>
            <a:ext cx="3547872" cy="16459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FFFFFF"/>
                </a:solidFill>
                <a:latin typeface="Calibri"/>
              </a:rPr>
              <a:t>INDEPENDENT GEODETIC GROUND CONTROL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30352" y="3877056"/>
            <a:ext cx="3547872" cy="841248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03503" y="3922776"/>
            <a:ext cx="3401568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BB3333"/>
                </a:solidFill>
                <a:latin typeface="Calibri"/>
              </a:rPr>
              <a:t>Held-Out Scope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3503" y="4105656"/>
            <a:ext cx="3401568" cy="585216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1A2B35"/>
                </a:solidFill>
                <a:latin typeface="Calibri"/>
              </a:rPr>
              <a:t>Current held-out evaluation uses strictly withheld tie-point sets within the image pair.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30352" y="4773168"/>
            <a:ext cx="3547872" cy="841248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03503" y="4818888"/>
            <a:ext cx="3401568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BB3333"/>
                </a:solidFill>
                <a:latin typeface="Calibri"/>
              </a:rPr>
              <a:t>Geodetic Datum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03503" y="5001768"/>
            <a:ext cx="3401568" cy="585216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1A2B35"/>
                </a:solidFill>
                <a:latin typeface="Calibri"/>
              </a:rPr>
              <a:t>Absolute geodetic ties to external LOLA altimetry tracks remain ongoing future work.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30352" y="5669280"/>
            <a:ext cx="3547872" cy="841248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3503" y="5715000"/>
            <a:ext cx="3401568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BB3333"/>
                </a:solidFill>
                <a:latin typeface="Calibri"/>
              </a:rPr>
              <a:t>Precision vs Datum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03503" y="5897880"/>
            <a:ext cx="3401568" cy="585216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1A2B35"/>
                </a:solidFill>
                <a:latin typeface="Calibri"/>
              </a:rPr>
              <a:t>Relative sub-pixel registration precision is proven; absolute lunar coordinate accuracy is not claimed.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242816" y="3621024"/>
            <a:ext cx="3694176" cy="3017520"/>
          </a:xfrm>
          <a:prstGeom prst="rect">
            <a:avLst/>
          </a:prstGeom>
          <a:solidFill>
            <a:srgbClr val="F4F6F8"/>
          </a:solidFill>
          <a:ln w="7620">
            <a:solidFill>
              <a:srgbClr val="E07C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242816" y="3621024"/>
            <a:ext cx="3694176" cy="201168"/>
          </a:xfrm>
          <a:prstGeom prst="rect">
            <a:avLst/>
          </a:prstGeom>
          <a:solidFill>
            <a:srgbClr val="E07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315968" y="3639312"/>
            <a:ext cx="3547872" cy="16459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FFFFFF"/>
                </a:solidFill>
                <a:latin typeface="Calibri"/>
              </a:rPr>
              <a:t>REAL FLIGHT CROSS-SENSOR OVERLAP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315968" y="3877056"/>
            <a:ext cx="3547872" cy="841248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389120" y="3922776"/>
            <a:ext cx="3401568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E07C1A"/>
                </a:solidFill>
                <a:latin typeface="Calibri"/>
              </a:rPr>
              <a:t>Scale Ladder Flow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389120" y="4105656"/>
            <a:ext cx="3401568" cy="585216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1A2B35"/>
                </a:solidFill>
                <a:latin typeface="Calibri"/>
              </a:rPr>
              <a:t>Transitive graph scale ladder (OHRC → TMC-2 → IIRS) is fully implemented in code.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315968" y="4773168"/>
            <a:ext cx="3547872" cy="841248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389120" y="4818888"/>
            <a:ext cx="3401568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E07C1A"/>
                </a:solidFill>
                <a:latin typeface="Calibri"/>
              </a:rPr>
              <a:t>Public Sample Footprints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389120" y="5001768"/>
            <a:ext cx="3401568" cy="585216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1A2B35"/>
                </a:solidFill>
                <a:latin typeface="Calibri"/>
              </a:rPr>
              <a:t>Available public PRADAN sample footprints do not overlap geographically (OHRC at South Pole, TMC-2 at mid-latitudes).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315968" y="5669280"/>
            <a:ext cx="3547872" cy="841248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389120" y="5715000"/>
            <a:ext cx="3401568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E07C1A"/>
                </a:solidFill>
                <a:latin typeface="Calibri"/>
              </a:rPr>
              <a:t>Honest Reporting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389120" y="5897880"/>
            <a:ext cx="3401568" cy="585216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1A2B35"/>
                </a:solidFill>
                <a:latin typeface="Calibri"/>
              </a:rPr>
              <a:t>Multi-modal cross-sensor claims are validated via architecture and synthetic ladders, not fabricated overlaps.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028431" y="3621024"/>
            <a:ext cx="3694176" cy="3017520"/>
          </a:xfrm>
          <a:prstGeom prst="rect">
            <a:avLst/>
          </a:prstGeom>
          <a:solidFill>
            <a:srgbClr val="F4F6F8"/>
          </a:solidFill>
          <a:ln w="7620">
            <a:solidFill>
              <a:srgbClr val="C489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028431" y="3621024"/>
            <a:ext cx="3694176" cy="201168"/>
          </a:xfrm>
          <a:prstGeom prst="rect">
            <a:avLst/>
          </a:prstGeom>
          <a:solidFill>
            <a:srgbClr val="C48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101583" y="3639312"/>
            <a:ext cx="3547872" cy="16459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FFFFFF"/>
                </a:solidFill>
                <a:latin typeface="Calibri"/>
              </a:rPr>
              <a:t>CONTROLLED SIMULATION SCOPE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101583" y="3877056"/>
            <a:ext cx="3547872" cy="841248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174736" y="3922776"/>
            <a:ext cx="3401568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C4891E"/>
                </a:solidFill>
                <a:latin typeface="Calibri"/>
              </a:rPr>
              <a:t>Renderer Fidelity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174736" y="4105656"/>
            <a:ext cx="3401568" cy="585216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1A2B35"/>
                </a:solidFill>
                <a:latin typeface="Calibri"/>
              </a:rPr>
              <a:t>Mode C re-illumination benchmark validates physical reflectance renderer consistency under known solar geometry.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101583" y="4773168"/>
            <a:ext cx="3547872" cy="841248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174736" y="4818888"/>
            <a:ext cx="3401568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C4891E"/>
                </a:solidFill>
                <a:latin typeface="Calibri"/>
              </a:rPr>
              <a:t>Flight Boundary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174736" y="5001768"/>
            <a:ext cx="3401568" cy="585216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1A2B35"/>
                </a:solidFill>
                <a:latin typeface="Calibri"/>
              </a:rPr>
              <a:t>Synthetic illumination sweeps demonstrate theoretical robustness, not flight mission sign-off.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101583" y="5669280"/>
            <a:ext cx="3547872" cy="841248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174736" y="5715000"/>
            <a:ext cx="3401568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C4891E"/>
                </a:solidFill>
                <a:latin typeface="Calibri"/>
              </a:rPr>
              <a:t>Operational Core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174736" y="5897880"/>
            <a:ext cx="3401568" cy="585216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1A2B35"/>
                </a:solidFill>
                <a:latin typeface="Calibri"/>
              </a:rPr>
              <a:t>Default real flight pipeline relies on robust LCN + RootSIFT + Adaptive TPS.</a:t>
            </a:r>
          </a:p>
        </p:txBody>
      </p:sp>
      <p:sp>
        <p:nvSpPr>
          <p:cNvPr id="77" name="Rectangle 76"/>
          <p:cNvSpPr/>
          <p:nvPr/>
        </p:nvSpPr>
        <p:spPr>
          <a:xfrm>
            <a:off x="0" y="6729984"/>
            <a:ext cx="12188952" cy="18288"/>
          </a:xfrm>
          <a:prstGeom prst="rect">
            <a:avLst/>
          </a:prstGeom>
          <a:solidFill>
            <a:srgbClr val="D0D8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7200" y="6739128"/>
            <a:ext cx="11274552" cy="11887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B7E88"/>
                </a:solidFill>
                <a:latin typeface="Calibri"/>
              </a:rPr>
              <a:t>LUNA-CORR     •     SIH 2026 PS 26166     •     06 / 06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